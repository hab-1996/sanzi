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73" r:id="rId3"/>
    <p:sldId id="258" r:id="rId4"/>
    <p:sldId id="259" r:id="rId5"/>
    <p:sldId id="260" r:id="rId6"/>
    <p:sldId id="261" r:id="rId7"/>
    <p:sldId id="262" r:id="rId8"/>
    <p:sldId id="263" r:id="rId9"/>
    <p:sldId id="271" r:id="rId10"/>
    <p:sldId id="265" r:id="rId11"/>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DA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22"/>
    <p:restoredTop sz="78400"/>
  </p:normalViewPr>
  <p:slideViewPr>
    <p:cSldViewPr>
      <p:cViewPr>
        <p:scale>
          <a:sx n="110" d="100"/>
          <a:sy n="110" d="100"/>
        </p:scale>
        <p:origin x="528" y="-256"/>
      </p:cViewPr>
      <p:guideLst/>
    </p:cSldViewPr>
  </p:slideViewPr>
  <p:notesTextViewPr>
    <p:cViewPr>
      <p:scale>
        <a:sx n="1" d="1"/>
        <a:sy n="1" d="1"/>
      </p:scale>
      <p:origin x="0" y="0"/>
    </p:cViewPr>
  </p:notesTextViewPr>
  <p:sorterViewPr>
    <p:cViewPr>
      <p:scale>
        <a:sx n="80" d="100"/>
        <a:sy n="80" d="100"/>
      </p:scale>
      <p:origin x="0" y="0"/>
    </p:cViewPr>
  </p:sorterViewPr>
  <p:gridSpacing cx="360000" cy="360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77A234-C5EA-9249-AE86-C6BDC76BF5ED}" type="doc">
      <dgm:prSet loTypeId="urn:microsoft.com/office/officeart/2026/layout/TextCardSideLineNumbered" loCatId="" qsTypeId="urn:microsoft.com/office/officeart/2005/8/quickstyle/3d1" qsCatId="3D" csTypeId="urn:microsoft.com/office/officeart/2005/8/colors/colorful1" csCatId="colorful" phldr="1"/>
      <dgm:spPr/>
      <dgm:t>
        <a:bodyPr/>
        <a:lstStyle/>
        <a:p>
          <a:endParaRPr lang="en-GB"/>
        </a:p>
      </dgm:t>
    </dgm:pt>
    <dgm:pt modelId="{27374340-C05F-D041-962D-0AB36A0A26D6}">
      <dgm:prSet phldrT="Name" custT="1"/>
      <dgm:spPr/>
      <dgm:t>
        <a:bodyPr/>
        <a:lstStyle/>
        <a:p>
          <a:pPr>
            <a:defRPr b="1"/>
          </a:pPr>
          <a:r>
            <a:rPr lang="en-DE" sz="1200" b="0" i="0" dirty="0">
              <a:latin typeface="Times New Roman" panose="02020603050405020304" pitchFamily="18" charset="0"/>
              <a:cs typeface="Times New Roman" panose="02020603050405020304" pitchFamily="18" charset="0"/>
            </a:rPr>
            <a:t>Move LLM inference from the cloud to the user’s own device for more privacy, control and independence from external services.</a:t>
          </a:r>
          <a:endParaRPr lang="en-GB" sz="1200" b="0" i="0" dirty="0">
            <a:latin typeface="Times New Roman" panose="02020603050405020304" pitchFamily="18" charset="0"/>
            <a:cs typeface="Times New Roman" panose="02020603050405020304" pitchFamily="18" charset="0"/>
          </a:endParaRPr>
        </a:p>
      </dgm:t>
    </dgm:pt>
    <dgm:pt modelId="{841D4823-AF71-8647-9439-B0D769C4AEA0}" type="parTrans" cxnId="{DF08D477-7EFD-0A43-8490-8E21240AAABE}">
      <dgm:prSet/>
      <dgm:spPr/>
      <dgm:t>
        <a:bodyPr/>
        <a:lstStyle/>
        <a:p>
          <a:endParaRPr lang="en-GB"/>
        </a:p>
      </dgm:t>
    </dgm:pt>
    <dgm:pt modelId="{14C42364-2129-6547-A162-17A87AE6B602}" type="sibTrans" cxnId="{DF08D477-7EFD-0A43-8490-8E21240AAABE}">
      <dgm:prSet phldrT="1" phldr="0" custT="1"/>
      <dgm:spPr/>
      <dgm:t>
        <a:bodyPr/>
        <a:lstStyle/>
        <a:p>
          <a:pPr>
            <a:defRPr b="1"/>
          </a:pPr>
          <a:r>
            <a:rPr lang="en-DE" sz="2400" dirty="0">
              <a:latin typeface="Times New Roman" panose="02020603050405020304" pitchFamily="18" charset="0"/>
              <a:cs typeface="Times New Roman" panose="02020603050405020304" pitchFamily="18" charset="0"/>
            </a:rPr>
            <a:t>Motivation </a:t>
          </a:r>
          <a:endParaRPr lang="en-GB" sz="2400" dirty="0">
            <a:latin typeface="Times New Roman" panose="02020603050405020304" pitchFamily="18" charset="0"/>
            <a:cs typeface="Times New Roman" panose="02020603050405020304" pitchFamily="18" charset="0"/>
          </a:endParaRPr>
        </a:p>
      </dgm:t>
    </dgm:pt>
    <dgm:pt modelId="{4BB8F572-8A2C-5B4C-AA29-7F7C5FD7E6F6}">
      <dgm:prSet phldrT="Name" custT="1"/>
      <dgm:spPr/>
      <dgm:t>
        <a:bodyPr/>
        <a:lstStyle/>
        <a:p>
          <a:pPr algn="l">
            <a:defRPr b="1"/>
          </a:pPr>
          <a:r>
            <a:rPr lang="en-GB" sz="1200" b="0" i="0" dirty="0">
              <a:latin typeface="Times New Roman" panose="02020603050405020304" pitchFamily="18" charset="0"/>
              <a:cs typeface="Times New Roman" panose="02020603050405020304" pitchFamily="18" charset="0"/>
            </a:rPr>
            <a:t>Build SANZI, a chatbot using Llama-3.2-1B Instruct and Qwen1.5-0.5B Chat, with a configurable CLI and GUI.</a:t>
          </a:r>
        </a:p>
      </dgm:t>
    </dgm:pt>
    <dgm:pt modelId="{9EAFEF0C-32D3-1547-9BF0-DCCF3D732B7D}" type="parTrans" cxnId="{30D4ED82-0657-854A-9699-11548C5AA458}">
      <dgm:prSet/>
      <dgm:spPr/>
      <dgm:t>
        <a:bodyPr/>
        <a:lstStyle/>
        <a:p>
          <a:endParaRPr lang="en-GB"/>
        </a:p>
      </dgm:t>
    </dgm:pt>
    <dgm:pt modelId="{807E7FA2-20B5-3F43-A817-A54CAB49023F}" type="sibTrans" cxnId="{30D4ED82-0657-854A-9699-11548C5AA458}">
      <dgm:prSet phldrT="2" phldr="0" custT="1"/>
      <dgm:spPr/>
      <dgm:t>
        <a:bodyPr/>
        <a:lstStyle/>
        <a:p>
          <a:pPr>
            <a:defRPr b="1"/>
          </a:pPr>
          <a:r>
            <a:rPr lang="en-DE" sz="2400" dirty="0">
              <a:latin typeface="Times New Roman" panose="02020603050405020304" pitchFamily="18" charset="0"/>
              <a:cs typeface="Times New Roman" panose="02020603050405020304" pitchFamily="18" charset="0"/>
            </a:rPr>
            <a:t>Task</a:t>
          </a:r>
          <a:endParaRPr lang="en-GB" sz="2400" dirty="0">
            <a:latin typeface="Times New Roman" panose="02020603050405020304" pitchFamily="18" charset="0"/>
            <a:cs typeface="Times New Roman" panose="02020603050405020304" pitchFamily="18" charset="0"/>
          </a:endParaRPr>
        </a:p>
      </dgm:t>
    </dgm:pt>
    <dgm:pt modelId="{B59A6C8F-B184-604E-A012-6455444484CD}">
      <dgm:prSet phldrT="Name" custT="1"/>
      <dgm:spPr/>
      <dgm:t>
        <a:bodyPr/>
        <a:lstStyle/>
        <a:p>
          <a:pPr>
            <a:defRPr b="1"/>
          </a:pPr>
          <a:r>
            <a:rPr lang="en-DE" sz="1200" b="0" i="0" dirty="0">
              <a:latin typeface="Times New Roman" panose="02020603050405020304" pitchFamily="18" charset="0"/>
              <a:cs typeface="Times New Roman" panose="02020603050405020304" pitchFamily="18" charset="0"/>
            </a:rPr>
            <a:t>Make SANZI practical on an 8 GB Apple M1 using quantization, memory safeguards, OOM recovery and prompt engineering.</a:t>
          </a:r>
          <a:endParaRPr lang="en-GB" sz="1200" b="0" i="0" dirty="0">
            <a:latin typeface="Times New Roman" panose="02020603050405020304" pitchFamily="18" charset="0"/>
            <a:cs typeface="Times New Roman" panose="02020603050405020304" pitchFamily="18" charset="0"/>
          </a:endParaRPr>
        </a:p>
      </dgm:t>
    </dgm:pt>
    <dgm:pt modelId="{DAFFB721-8A15-AD47-896D-BA21BC2C04BD}" type="parTrans" cxnId="{C7CD20E3-D5EF-D049-B034-B889A96C385B}">
      <dgm:prSet/>
      <dgm:spPr/>
      <dgm:t>
        <a:bodyPr/>
        <a:lstStyle/>
        <a:p>
          <a:endParaRPr lang="en-GB"/>
        </a:p>
      </dgm:t>
    </dgm:pt>
    <dgm:pt modelId="{5897ABE6-5B24-334F-B96C-C854409B68BA}" type="sibTrans" cxnId="{C7CD20E3-D5EF-D049-B034-B889A96C385B}">
      <dgm:prSet phldrT="3" phldr="0" custT="1"/>
      <dgm:spPr/>
      <dgm:t>
        <a:bodyPr/>
        <a:lstStyle/>
        <a:p>
          <a:pPr>
            <a:defRPr b="1"/>
          </a:pPr>
          <a:r>
            <a:rPr lang="en-DE" sz="2400" dirty="0">
              <a:latin typeface="Times New Roman" panose="02020603050405020304" pitchFamily="18" charset="0"/>
              <a:cs typeface="Times New Roman" panose="02020603050405020304" pitchFamily="18" charset="0"/>
            </a:rPr>
            <a:t>Challenge</a:t>
          </a:r>
          <a:endParaRPr lang="en-GB" sz="2400" dirty="0">
            <a:latin typeface="Times New Roman" panose="02020603050405020304" pitchFamily="18" charset="0"/>
            <a:cs typeface="Times New Roman" panose="02020603050405020304" pitchFamily="18" charset="0"/>
          </a:endParaRPr>
        </a:p>
      </dgm:t>
    </dgm:pt>
    <dgm:pt modelId="{B7203A36-A052-C747-9143-77556801F31D}" type="pres">
      <dgm:prSet presAssocID="{6F77A234-C5EA-9249-AE86-C6BDC76BF5ED}" presName="root" presStyleCnt="0">
        <dgm:presLayoutVars>
          <dgm:dir/>
          <dgm:resizeHandles val="exact"/>
        </dgm:presLayoutVars>
      </dgm:prSet>
      <dgm:spPr/>
    </dgm:pt>
    <dgm:pt modelId="{1AE8DC44-2E83-4249-88E4-33F3675EED7A}" type="pres">
      <dgm:prSet presAssocID="{27374340-C05F-D041-962D-0AB36A0A26D6}" presName="compNode" presStyleCnt="0"/>
      <dgm:spPr/>
    </dgm:pt>
    <dgm:pt modelId="{2C5CDA9A-E51A-B243-9FE7-EFDEC9A8DDBF}" type="pres">
      <dgm:prSet presAssocID="{27374340-C05F-D041-962D-0AB36A0A26D6}" presName="accentLine" presStyleLbl="dkBgShp" presStyleIdx="0" presStyleCnt="3"/>
      <dgm:spPr>
        <a:solidFill>
          <a:schemeClr val="accent2">
            <a:shade val="90000"/>
            <a:hueOff val="0"/>
            <a:satOff val="0"/>
            <a:lumOff val="0"/>
            <a:alphaOff val="0"/>
          </a:schemeClr>
        </a:solidFill>
        <a:ln>
          <a:noFill/>
        </a:ln>
        <a:effectLst/>
      </dgm:spPr>
    </dgm:pt>
    <dgm:pt modelId="{57219EAE-587E-3547-847E-1AB5A1153F15}" type="pres">
      <dgm:prSet presAssocID="{14C42364-2129-6547-A162-17A87AE6B602}" presName="numberText" presStyleLbl="revTx" presStyleIdx="0" presStyleCnt="9">
        <dgm:presLayoutVars>
          <dgm:chMax val="0"/>
          <dgm:chPref val="0"/>
          <dgm:bulletEnabled/>
        </dgm:presLayoutVars>
      </dgm:prSet>
      <dgm:spPr/>
    </dgm:pt>
    <dgm:pt modelId="{D87C4CD7-668E-E34D-AF48-FACDF5CE6ED2}" type="pres">
      <dgm:prSet presAssocID="{27374340-C05F-D041-962D-0AB36A0A26D6}" presName="titleText" presStyleLbl="revTx" presStyleIdx="1" presStyleCnt="9" custScaleX="102062" custScaleY="224555" custLinFactY="334" custLinFactNeighborX="-1020" custLinFactNeighborY="100000">
        <dgm:presLayoutVars>
          <dgm:chMax val="0"/>
          <dgm:chPref val="0"/>
        </dgm:presLayoutVars>
      </dgm:prSet>
      <dgm:spPr/>
    </dgm:pt>
    <dgm:pt modelId="{CD82D78A-F49D-7744-9635-BC540511DAE8}" type="pres">
      <dgm:prSet presAssocID="{27374340-C05F-D041-962D-0AB36A0A26D6}" presName="bodyText" presStyleLbl="revTx" presStyleIdx="2" presStyleCnt="9">
        <dgm:presLayoutVars>
          <dgm:chMax val="0"/>
          <dgm:chPref val="0"/>
        </dgm:presLayoutVars>
      </dgm:prSet>
      <dgm:spPr/>
    </dgm:pt>
    <dgm:pt modelId="{DCD8B540-0FE3-F74B-B0A6-BF893768E2B5}" type="pres">
      <dgm:prSet presAssocID="{14C42364-2129-6547-A162-17A87AE6B602}" presName="sibTrans" presStyleCnt="0"/>
      <dgm:spPr/>
    </dgm:pt>
    <dgm:pt modelId="{5CD910B3-B234-D245-B404-9FE5E116C0A9}" type="pres">
      <dgm:prSet presAssocID="{4BB8F572-8A2C-5B4C-AA29-7F7C5FD7E6F6}" presName="compNode" presStyleCnt="0"/>
      <dgm:spPr/>
    </dgm:pt>
    <dgm:pt modelId="{89516A49-38DF-9640-8EE4-677175E27858}" type="pres">
      <dgm:prSet presAssocID="{4BB8F572-8A2C-5B4C-AA29-7F7C5FD7E6F6}" presName="accentLine" presStyleLbl="dkBgShp" presStyleIdx="1" presStyleCnt="3"/>
      <dgm:spPr>
        <a:solidFill>
          <a:schemeClr val="accent2">
            <a:shade val="90000"/>
            <a:hueOff val="0"/>
            <a:satOff val="0"/>
            <a:lumOff val="0"/>
            <a:alphaOff val="0"/>
          </a:schemeClr>
        </a:solidFill>
        <a:ln>
          <a:noFill/>
        </a:ln>
        <a:effectLst/>
      </dgm:spPr>
    </dgm:pt>
    <dgm:pt modelId="{4BE398D9-7727-9F44-93F0-7E67A7682455}" type="pres">
      <dgm:prSet presAssocID="{807E7FA2-20B5-3F43-A817-A54CAB49023F}" presName="numberText" presStyleLbl="revTx" presStyleIdx="3" presStyleCnt="9" custLinFactNeighborX="9538" custLinFactNeighborY="-613">
        <dgm:presLayoutVars>
          <dgm:chMax val="0"/>
          <dgm:chPref val="0"/>
          <dgm:bulletEnabled/>
        </dgm:presLayoutVars>
      </dgm:prSet>
      <dgm:spPr/>
    </dgm:pt>
    <dgm:pt modelId="{A6693A95-1EEC-BA40-8E6A-CB5C4DA6A729}" type="pres">
      <dgm:prSet presAssocID="{4BB8F572-8A2C-5B4C-AA29-7F7C5FD7E6F6}" presName="titleText" presStyleLbl="revTx" presStyleIdx="4" presStyleCnt="9" custScaleY="238889" custLinFactY="5877" custLinFactNeighborX="-1026" custLinFactNeighborY="100000">
        <dgm:presLayoutVars>
          <dgm:chMax val="0"/>
          <dgm:chPref val="0"/>
        </dgm:presLayoutVars>
      </dgm:prSet>
      <dgm:spPr/>
    </dgm:pt>
    <dgm:pt modelId="{C98A9BE1-87F8-DB4E-921F-0A023BCA67B3}" type="pres">
      <dgm:prSet presAssocID="{4BB8F572-8A2C-5B4C-AA29-7F7C5FD7E6F6}" presName="bodyText" presStyleLbl="revTx" presStyleIdx="5" presStyleCnt="9">
        <dgm:presLayoutVars>
          <dgm:chMax val="0"/>
          <dgm:chPref val="0"/>
        </dgm:presLayoutVars>
      </dgm:prSet>
      <dgm:spPr/>
    </dgm:pt>
    <dgm:pt modelId="{9B44F9F3-60F5-604F-A5C4-B0DE7EEC4285}" type="pres">
      <dgm:prSet presAssocID="{807E7FA2-20B5-3F43-A817-A54CAB49023F}" presName="sibTrans" presStyleCnt="0"/>
      <dgm:spPr/>
    </dgm:pt>
    <dgm:pt modelId="{A762EFC7-E270-284E-B18B-162BC12FF36E}" type="pres">
      <dgm:prSet presAssocID="{B59A6C8F-B184-604E-A012-6455444484CD}" presName="compNode" presStyleCnt="0"/>
      <dgm:spPr/>
    </dgm:pt>
    <dgm:pt modelId="{190EC8CA-37A6-444F-911B-D282561487A2}" type="pres">
      <dgm:prSet presAssocID="{B59A6C8F-B184-604E-A012-6455444484CD}" presName="accentLine" presStyleLbl="dkBgShp" presStyleIdx="2" presStyleCnt="3" custLinFactX="-100000" custLinFactNeighborX="-146009" custLinFactNeighborY="1953"/>
      <dgm:spPr>
        <a:solidFill>
          <a:schemeClr val="accent2">
            <a:shade val="90000"/>
            <a:hueOff val="0"/>
            <a:satOff val="0"/>
            <a:lumOff val="0"/>
            <a:alphaOff val="0"/>
          </a:schemeClr>
        </a:solidFill>
        <a:ln>
          <a:noFill/>
        </a:ln>
        <a:effectLst/>
      </dgm:spPr>
    </dgm:pt>
    <dgm:pt modelId="{691DA144-4405-EC40-86D3-17D9BA2713B1}" type="pres">
      <dgm:prSet presAssocID="{5897ABE6-5B24-334F-B96C-C854409B68BA}" presName="numberText" presStyleLbl="revTx" presStyleIdx="6" presStyleCnt="9" custLinFactNeighborX="2290" custLinFactNeighborY="-6766">
        <dgm:presLayoutVars>
          <dgm:chMax val="0"/>
          <dgm:chPref val="0"/>
          <dgm:bulletEnabled/>
        </dgm:presLayoutVars>
      </dgm:prSet>
      <dgm:spPr/>
    </dgm:pt>
    <dgm:pt modelId="{6C28F26B-83F7-2D48-806A-3A1AC966D5E5}" type="pres">
      <dgm:prSet presAssocID="{B59A6C8F-B184-604E-A012-6455444484CD}" presName="titleText" presStyleLbl="revTx" presStyleIdx="7" presStyleCnt="9" custScaleX="113141" custScaleY="265525" custLinFactNeighborX="639" custLinFactNeighborY="85415">
        <dgm:presLayoutVars>
          <dgm:chMax val="0"/>
          <dgm:chPref val="0"/>
        </dgm:presLayoutVars>
      </dgm:prSet>
      <dgm:spPr/>
    </dgm:pt>
    <dgm:pt modelId="{89CB3C87-3857-5E47-AF51-0635E3FABDB3}" type="pres">
      <dgm:prSet presAssocID="{B59A6C8F-B184-604E-A012-6455444484CD}" presName="bodyText" presStyleLbl="revTx" presStyleIdx="8" presStyleCnt="9">
        <dgm:presLayoutVars>
          <dgm:chMax val="0"/>
          <dgm:chPref val="0"/>
        </dgm:presLayoutVars>
      </dgm:prSet>
      <dgm:spPr/>
    </dgm:pt>
  </dgm:ptLst>
  <dgm:cxnLst>
    <dgm:cxn modelId="{4A73C420-B67B-FE43-8442-237FDB84ACCF}" type="presOf" srcId="{14C42364-2129-6547-A162-17A87AE6B602}" destId="{57219EAE-587E-3547-847E-1AB5A1153F15}" srcOrd="0" destOrd="0" presId="urn:microsoft.com/office/officeart/2026/layout/TextCardSideLineNumbered"/>
    <dgm:cxn modelId="{DF08D477-7EFD-0A43-8490-8E21240AAABE}" srcId="{6F77A234-C5EA-9249-AE86-C6BDC76BF5ED}" destId="{27374340-C05F-D041-962D-0AB36A0A26D6}" srcOrd="0" destOrd="0" parTransId="{841D4823-AF71-8647-9439-B0D769C4AEA0}" sibTransId="{14C42364-2129-6547-A162-17A87AE6B602}"/>
    <dgm:cxn modelId="{30D4ED82-0657-854A-9699-11548C5AA458}" srcId="{6F77A234-C5EA-9249-AE86-C6BDC76BF5ED}" destId="{4BB8F572-8A2C-5B4C-AA29-7F7C5FD7E6F6}" srcOrd="1" destOrd="0" parTransId="{9EAFEF0C-32D3-1547-9BF0-DCCF3D732B7D}" sibTransId="{807E7FA2-20B5-3F43-A817-A54CAB49023F}"/>
    <dgm:cxn modelId="{8D8DBF87-5F96-6844-A6A2-11792DF6DFBE}" type="presOf" srcId="{27374340-C05F-D041-962D-0AB36A0A26D6}" destId="{D87C4CD7-668E-E34D-AF48-FACDF5CE6ED2}" srcOrd="0" destOrd="0" presId="urn:microsoft.com/office/officeart/2026/layout/TextCardSideLineNumbered"/>
    <dgm:cxn modelId="{416C5496-4ADF-054B-BEC9-976AA09248CC}" type="presOf" srcId="{5897ABE6-5B24-334F-B96C-C854409B68BA}" destId="{691DA144-4405-EC40-86D3-17D9BA2713B1}" srcOrd="0" destOrd="0" presId="urn:microsoft.com/office/officeart/2026/layout/TextCardSideLineNumbered"/>
    <dgm:cxn modelId="{890A6099-F060-5749-A68F-F956A511C815}" type="presOf" srcId="{B59A6C8F-B184-604E-A012-6455444484CD}" destId="{6C28F26B-83F7-2D48-806A-3A1AC966D5E5}" srcOrd="0" destOrd="0" presId="urn:microsoft.com/office/officeart/2026/layout/TextCardSideLineNumbered"/>
    <dgm:cxn modelId="{C933DBC4-6CA0-A144-B754-CB39487BCF3C}" type="presOf" srcId="{807E7FA2-20B5-3F43-A817-A54CAB49023F}" destId="{4BE398D9-7727-9F44-93F0-7E67A7682455}" srcOrd="0" destOrd="0" presId="urn:microsoft.com/office/officeart/2026/layout/TextCardSideLineNumbered"/>
    <dgm:cxn modelId="{030A52D3-9B47-C942-8D60-4018410936EA}" type="presOf" srcId="{6F77A234-C5EA-9249-AE86-C6BDC76BF5ED}" destId="{B7203A36-A052-C747-9143-77556801F31D}" srcOrd="0" destOrd="0" presId="urn:microsoft.com/office/officeart/2026/layout/TextCardSideLineNumbered"/>
    <dgm:cxn modelId="{C7CD20E3-D5EF-D049-B034-B889A96C385B}" srcId="{6F77A234-C5EA-9249-AE86-C6BDC76BF5ED}" destId="{B59A6C8F-B184-604E-A012-6455444484CD}" srcOrd="2" destOrd="0" parTransId="{DAFFB721-8A15-AD47-896D-BA21BC2C04BD}" sibTransId="{5897ABE6-5B24-334F-B96C-C854409B68BA}"/>
    <dgm:cxn modelId="{368C16FE-944C-B949-BEBD-B7E261AC1AAF}" type="presOf" srcId="{4BB8F572-8A2C-5B4C-AA29-7F7C5FD7E6F6}" destId="{A6693A95-1EEC-BA40-8E6A-CB5C4DA6A729}" srcOrd="0" destOrd="0" presId="urn:microsoft.com/office/officeart/2026/layout/TextCardSideLineNumbered"/>
    <dgm:cxn modelId="{3E7E1005-B4BE-2D4B-B93E-3F7FD337974A}" type="presParOf" srcId="{B7203A36-A052-C747-9143-77556801F31D}" destId="{1AE8DC44-2E83-4249-88E4-33F3675EED7A}" srcOrd="0" destOrd="0" presId="urn:microsoft.com/office/officeart/2026/layout/TextCardSideLineNumbered"/>
    <dgm:cxn modelId="{D5E2913E-6FC3-F048-A699-11B637CA35FD}" type="presParOf" srcId="{1AE8DC44-2E83-4249-88E4-33F3675EED7A}" destId="{2C5CDA9A-E51A-B243-9FE7-EFDEC9A8DDBF}" srcOrd="0" destOrd="0" presId="urn:microsoft.com/office/officeart/2026/layout/TextCardSideLineNumbered"/>
    <dgm:cxn modelId="{4945917B-C3D1-A343-91C4-1DAB8B045314}" type="presParOf" srcId="{1AE8DC44-2E83-4249-88E4-33F3675EED7A}" destId="{57219EAE-587E-3547-847E-1AB5A1153F15}" srcOrd="1" destOrd="0" presId="urn:microsoft.com/office/officeart/2026/layout/TextCardSideLineNumbered"/>
    <dgm:cxn modelId="{4B926A49-A1C2-394A-9EFF-1BAF17A640DA}" type="presParOf" srcId="{1AE8DC44-2E83-4249-88E4-33F3675EED7A}" destId="{D87C4CD7-668E-E34D-AF48-FACDF5CE6ED2}" srcOrd="2" destOrd="0" presId="urn:microsoft.com/office/officeart/2026/layout/TextCardSideLineNumbered"/>
    <dgm:cxn modelId="{42BB288D-D4D9-ED4F-838E-1FD5F90C3FB1}" type="presParOf" srcId="{1AE8DC44-2E83-4249-88E4-33F3675EED7A}" destId="{CD82D78A-F49D-7744-9635-BC540511DAE8}" srcOrd="3" destOrd="0" presId="urn:microsoft.com/office/officeart/2026/layout/TextCardSideLineNumbered"/>
    <dgm:cxn modelId="{77780157-D1C1-7D4C-8817-3EB3B0307B04}" type="presParOf" srcId="{B7203A36-A052-C747-9143-77556801F31D}" destId="{DCD8B540-0FE3-F74B-B0A6-BF893768E2B5}" srcOrd="1" destOrd="0" presId="urn:microsoft.com/office/officeart/2026/layout/TextCardSideLineNumbered"/>
    <dgm:cxn modelId="{8A26F256-ED98-8D40-BD31-12893CABC357}" type="presParOf" srcId="{B7203A36-A052-C747-9143-77556801F31D}" destId="{5CD910B3-B234-D245-B404-9FE5E116C0A9}" srcOrd="2" destOrd="0" presId="urn:microsoft.com/office/officeart/2026/layout/TextCardSideLineNumbered"/>
    <dgm:cxn modelId="{0740B12F-37F1-7448-A8C6-AC21A62FDDB6}" type="presParOf" srcId="{5CD910B3-B234-D245-B404-9FE5E116C0A9}" destId="{89516A49-38DF-9640-8EE4-677175E27858}" srcOrd="0" destOrd="0" presId="urn:microsoft.com/office/officeart/2026/layout/TextCardSideLineNumbered"/>
    <dgm:cxn modelId="{FB6E6F02-3B8B-2D41-B320-CEF8484256BF}" type="presParOf" srcId="{5CD910B3-B234-D245-B404-9FE5E116C0A9}" destId="{4BE398D9-7727-9F44-93F0-7E67A7682455}" srcOrd="1" destOrd="0" presId="urn:microsoft.com/office/officeart/2026/layout/TextCardSideLineNumbered"/>
    <dgm:cxn modelId="{D61BBB44-3F9A-BB42-B35D-99744F6F3E0D}" type="presParOf" srcId="{5CD910B3-B234-D245-B404-9FE5E116C0A9}" destId="{A6693A95-1EEC-BA40-8E6A-CB5C4DA6A729}" srcOrd="2" destOrd="0" presId="urn:microsoft.com/office/officeart/2026/layout/TextCardSideLineNumbered"/>
    <dgm:cxn modelId="{9F09BA65-8895-564B-8C29-706A9A566B3A}" type="presParOf" srcId="{5CD910B3-B234-D245-B404-9FE5E116C0A9}" destId="{C98A9BE1-87F8-DB4E-921F-0A023BCA67B3}" srcOrd="3" destOrd="0" presId="urn:microsoft.com/office/officeart/2026/layout/TextCardSideLineNumbered"/>
    <dgm:cxn modelId="{C190C13B-42E6-1C44-AC6C-23C49647D264}" type="presParOf" srcId="{B7203A36-A052-C747-9143-77556801F31D}" destId="{9B44F9F3-60F5-604F-A5C4-B0DE7EEC4285}" srcOrd="3" destOrd="0" presId="urn:microsoft.com/office/officeart/2026/layout/TextCardSideLineNumbered"/>
    <dgm:cxn modelId="{0E3B527A-FB3C-B54A-8183-48703185E123}" type="presParOf" srcId="{B7203A36-A052-C747-9143-77556801F31D}" destId="{A762EFC7-E270-284E-B18B-162BC12FF36E}" srcOrd="4" destOrd="0" presId="urn:microsoft.com/office/officeart/2026/layout/TextCardSideLineNumbered"/>
    <dgm:cxn modelId="{85371322-2BCA-2E40-B8FB-0A1B05C35FFF}" type="presParOf" srcId="{A762EFC7-E270-284E-B18B-162BC12FF36E}" destId="{190EC8CA-37A6-444F-911B-D282561487A2}" srcOrd="0" destOrd="0" presId="urn:microsoft.com/office/officeart/2026/layout/TextCardSideLineNumbered"/>
    <dgm:cxn modelId="{1B49BA2A-ABD5-9A45-B6DD-4E237B846C9A}" type="presParOf" srcId="{A762EFC7-E270-284E-B18B-162BC12FF36E}" destId="{691DA144-4405-EC40-86D3-17D9BA2713B1}" srcOrd="1" destOrd="0" presId="urn:microsoft.com/office/officeart/2026/layout/TextCardSideLineNumbered"/>
    <dgm:cxn modelId="{D9FC8F36-7CA4-0741-964A-EA670E2008FB}" type="presParOf" srcId="{A762EFC7-E270-284E-B18B-162BC12FF36E}" destId="{6C28F26B-83F7-2D48-806A-3A1AC966D5E5}" srcOrd="2" destOrd="0" presId="urn:microsoft.com/office/officeart/2026/layout/TextCardSideLineNumbered"/>
    <dgm:cxn modelId="{D7CCB6FF-BB97-FB4A-BC81-19CEC63CE9FB}" type="presParOf" srcId="{A762EFC7-E270-284E-B18B-162BC12FF36E}" destId="{89CB3C87-3857-5E47-AF51-0635E3FABDB3}" srcOrd="3" destOrd="0" presId="urn:microsoft.com/office/officeart/2026/layout/TextCardSideLineNumbered"/>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CDA9A-E51A-B243-9FE7-EFDEC9A8DDBF}">
      <dsp:nvSpPr>
        <dsp:cNvPr id="0" name=""/>
        <dsp:cNvSpPr/>
      </dsp:nvSpPr>
      <dsp:spPr>
        <a:xfrm>
          <a:off x="100412" y="607887"/>
          <a:ext cx="14521" cy="1893836"/>
        </a:xfrm>
        <a:prstGeom prst="rect">
          <a:avLst/>
        </a:prstGeom>
        <a:solidFill>
          <a:schemeClr val="accent2">
            <a:shade val="9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2">
          <a:scrgbClr r="0" g="0" b="0"/>
        </a:fillRef>
        <a:effectRef idx="0">
          <a:scrgbClr r="0" g="0" b="0"/>
        </a:effectRef>
        <a:fontRef idx="minor"/>
      </dsp:style>
    </dsp:sp>
    <dsp:sp modelId="{57219EAE-587E-3547-847E-1AB5A1153F15}">
      <dsp:nvSpPr>
        <dsp:cNvPr id="0" name=""/>
        <dsp:cNvSpPr/>
      </dsp:nvSpPr>
      <dsp:spPr>
        <a:xfrm>
          <a:off x="227471" y="645764"/>
          <a:ext cx="1688067" cy="568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1066800">
            <a:lnSpc>
              <a:spcPct val="90000"/>
            </a:lnSpc>
            <a:spcBef>
              <a:spcPct val="0"/>
            </a:spcBef>
            <a:spcAft>
              <a:spcPct val="35000"/>
            </a:spcAft>
            <a:buNone/>
            <a:defRPr b="1"/>
          </a:pPr>
          <a:r>
            <a:rPr lang="en-DE" sz="2400" kern="1200" dirty="0">
              <a:latin typeface="Times New Roman" panose="02020603050405020304" pitchFamily="18" charset="0"/>
              <a:cs typeface="Times New Roman" panose="02020603050405020304" pitchFamily="18" charset="0"/>
            </a:rPr>
            <a:t>Motivation </a:t>
          </a:r>
          <a:endParaRPr lang="en-GB" sz="2400" kern="1200" dirty="0">
            <a:latin typeface="Times New Roman" panose="02020603050405020304" pitchFamily="18" charset="0"/>
            <a:cs typeface="Times New Roman" panose="02020603050405020304" pitchFamily="18" charset="0"/>
          </a:endParaRPr>
        </a:p>
      </dsp:txBody>
      <dsp:txXfrm>
        <a:off x="227471" y="645764"/>
        <a:ext cx="1688067" cy="568150"/>
      </dsp:txXfrm>
    </dsp:sp>
    <dsp:sp modelId="{D87C4CD7-668E-E34D-AF48-FACDF5CE6ED2}">
      <dsp:nvSpPr>
        <dsp:cNvPr id="0" name=""/>
        <dsp:cNvSpPr/>
      </dsp:nvSpPr>
      <dsp:spPr>
        <a:xfrm>
          <a:off x="192848" y="1410352"/>
          <a:ext cx="1722875" cy="935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DE" sz="1200" b="0" i="0" kern="1200" dirty="0">
              <a:latin typeface="Times New Roman" panose="02020603050405020304" pitchFamily="18" charset="0"/>
              <a:cs typeface="Times New Roman" panose="02020603050405020304" pitchFamily="18" charset="0"/>
            </a:rPr>
            <a:t>Move LLM inference from the cloud to the user’s own device for more privacy, control and independence from external services.</a:t>
          </a:r>
          <a:endParaRPr lang="en-GB" sz="1200" b="0" i="0" kern="1200" dirty="0">
            <a:latin typeface="Times New Roman" panose="02020603050405020304" pitchFamily="18" charset="0"/>
            <a:cs typeface="Times New Roman" panose="02020603050405020304" pitchFamily="18" charset="0"/>
          </a:endParaRPr>
        </a:p>
      </dsp:txBody>
      <dsp:txXfrm>
        <a:off x="192848" y="1410352"/>
        <a:ext cx="1722875" cy="935594"/>
      </dsp:txXfrm>
    </dsp:sp>
    <dsp:sp modelId="{CD82D78A-F49D-7744-9635-BC540511DAE8}">
      <dsp:nvSpPr>
        <dsp:cNvPr id="0" name=""/>
        <dsp:cNvSpPr/>
      </dsp:nvSpPr>
      <dsp:spPr>
        <a:xfrm>
          <a:off x="227471" y="1706312"/>
          <a:ext cx="1688067" cy="795411"/>
        </a:xfrm>
        <a:prstGeom prst="rect">
          <a:avLst/>
        </a:prstGeom>
        <a:noFill/>
        <a:ln>
          <a:noFill/>
        </a:ln>
        <a:effectLst/>
      </dsp:spPr>
      <dsp:style>
        <a:lnRef idx="0">
          <a:scrgbClr r="0" g="0" b="0"/>
        </a:lnRef>
        <a:fillRef idx="0">
          <a:scrgbClr r="0" g="0" b="0"/>
        </a:fillRef>
        <a:effectRef idx="0">
          <a:scrgbClr r="0" g="0" b="0"/>
        </a:effectRef>
        <a:fontRef idx="minor"/>
      </dsp:style>
    </dsp:sp>
    <dsp:sp modelId="{89516A49-38DF-9640-8EE4-677175E27858}">
      <dsp:nvSpPr>
        <dsp:cNvPr id="0" name=""/>
        <dsp:cNvSpPr/>
      </dsp:nvSpPr>
      <dsp:spPr>
        <a:xfrm>
          <a:off x="2070891" y="607887"/>
          <a:ext cx="14521" cy="1893836"/>
        </a:xfrm>
        <a:prstGeom prst="rect">
          <a:avLst/>
        </a:prstGeom>
        <a:solidFill>
          <a:schemeClr val="accent2">
            <a:shade val="9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2">
          <a:scrgbClr r="0" g="0" b="0"/>
        </a:fillRef>
        <a:effectRef idx="0">
          <a:scrgbClr r="0" g="0" b="0"/>
        </a:effectRef>
        <a:fontRef idx="minor"/>
      </dsp:style>
    </dsp:sp>
    <dsp:sp modelId="{4BE398D9-7727-9F44-93F0-7E67A7682455}">
      <dsp:nvSpPr>
        <dsp:cNvPr id="0" name=""/>
        <dsp:cNvSpPr/>
      </dsp:nvSpPr>
      <dsp:spPr>
        <a:xfrm>
          <a:off x="2358958" y="642281"/>
          <a:ext cx="1688067" cy="568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1066800">
            <a:lnSpc>
              <a:spcPct val="90000"/>
            </a:lnSpc>
            <a:spcBef>
              <a:spcPct val="0"/>
            </a:spcBef>
            <a:spcAft>
              <a:spcPct val="35000"/>
            </a:spcAft>
            <a:buNone/>
            <a:defRPr b="1"/>
          </a:pPr>
          <a:r>
            <a:rPr lang="en-DE" sz="2400" kern="1200" dirty="0">
              <a:latin typeface="Times New Roman" panose="02020603050405020304" pitchFamily="18" charset="0"/>
              <a:cs typeface="Times New Roman" panose="02020603050405020304" pitchFamily="18" charset="0"/>
            </a:rPr>
            <a:t>Task</a:t>
          </a:r>
          <a:endParaRPr lang="en-GB" sz="2400" kern="1200" dirty="0">
            <a:latin typeface="Times New Roman" panose="02020603050405020304" pitchFamily="18" charset="0"/>
            <a:cs typeface="Times New Roman" panose="02020603050405020304" pitchFamily="18" charset="0"/>
          </a:endParaRPr>
        </a:p>
      </dsp:txBody>
      <dsp:txXfrm>
        <a:off x="2358958" y="642281"/>
        <a:ext cx="1688067" cy="568150"/>
      </dsp:txXfrm>
    </dsp:sp>
    <dsp:sp modelId="{A6693A95-1EEC-BA40-8E6A-CB5C4DA6A729}">
      <dsp:nvSpPr>
        <dsp:cNvPr id="0" name=""/>
        <dsp:cNvSpPr/>
      </dsp:nvSpPr>
      <dsp:spPr>
        <a:xfrm>
          <a:off x="2180631" y="1403586"/>
          <a:ext cx="1688067" cy="995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GB" sz="1200" b="0" i="0" kern="1200" dirty="0">
              <a:latin typeface="Times New Roman" panose="02020603050405020304" pitchFamily="18" charset="0"/>
              <a:cs typeface="Times New Roman" panose="02020603050405020304" pitchFamily="18" charset="0"/>
            </a:rPr>
            <a:t>Build SANZI, a chatbot using Llama-3.2-1B Instruct and Qwen1.5-0.5B Chat, with a configurable CLI and GUI.</a:t>
          </a:r>
        </a:p>
      </dsp:txBody>
      <dsp:txXfrm>
        <a:off x="2180631" y="1403586"/>
        <a:ext cx="1688067" cy="995316"/>
      </dsp:txXfrm>
    </dsp:sp>
    <dsp:sp modelId="{C98A9BE1-87F8-DB4E-921F-0A023BCA67B3}">
      <dsp:nvSpPr>
        <dsp:cNvPr id="0" name=""/>
        <dsp:cNvSpPr/>
      </dsp:nvSpPr>
      <dsp:spPr>
        <a:xfrm>
          <a:off x="2197950" y="1706312"/>
          <a:ext cx="1688067" cy="795411"/>
        </a:xfrm>
        <a:prstGeom prst="rect">
          <a:avLst/>
        </a:prstGeom>
        <a:noFill/>
        <a:ln>
          <a:noFill/>
        </a:ln>
        <a:effectLst/>
      </dsp:spPr>
      <dsp:style>
        <a:lnRef idx="0">
          <a:scrgbClr r="0" g="0" b="0"/>
        </a:lnRef>
        <a:fillRef idx="0">
          <a:scrgbClr r="0" g="0" b="0"/>
        </a:fillRef>
        <a:effectRef idx="0">
          <a:scrgbClr r="0" g="0" b="0"/>
        </a:effectRef>
        <a:fontRef idx="minor"/>
      </dsp:style>
    </dsp:sp>
    <dsp:sp modelId="{190EC8CA-37A6-444F-911B-D282561487A2}">
      <dsp:nvSpPr>
        <dsp:cNvPr id="0" name=""/>
        <dsp:cNvSpPr/>
      </dsp:nvSpPr>
      <dsp:spPr>
        <a:xfrm>
          <a:off x="3988244" y="644874"/>
          <a:ext cx="14521" cy="1893836"/>
        </a:xfrm>
        <a:prstGeom prst="rect">
          <a:avLst/>
        </a:prstGeom>
        <a:solidFill>
          <a:schemeClr val="accent2">
            <a:shade val="9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2">
          <a:scrgbClr r="0" g="0" b="0"/>
        </a:fillRef>
        <a:effectRef idx="0">
          <a:scrgbClr r="0" g="0" b="0"/>
        </a:effectRef>
        <a:fontRef idx="minor"/>
      </dsp:style>
    </dsp:sp>
    <dsp:sp modelId="{691DA144-4405-EC40-86D3-17D9BA2713B1}">
      <dsp:nvSpPr>
        <dsp:cNvPr id="0" name=""/>
        <dsp:cNvSpPr/>
      </dsp:nvSpPr>
      <dsp:spPr>
        <a:xfrm>
          <a:off x="4189682" y="607323"/>
          <a:ext cx="1688067" cy="568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1066800">
            <a:lnSpc>
              <a:spcPct val="90000"/>
            </a:lnSpc>
            <a:spcBef>
              <a:spcPct val="0"/>
            </a:spcBef>
            <a:spcAft>
              <a:spcPct val="35000"/>
            </a:spcAft>
            <a:buNone/>
            <a:defRPr b="1"/>
          </a:pPr>
          <a:r>
            <a:rPr lang="en-DE" sz="2400" kern="1200" dirty="0">
              <a:latin typeface="Times New Roman" panose="02020603050405020304" pitchFamily="18" charset="0"/>
              <a:cs typeface="Times New Roman" panose="02020603050405020304" pitchFamily="18" charset="0"/>
            </a:rPr>
            <a:t>Challenge</a:t>
          </a:r>
          <a:endParaRPr lang="en-GB" sz="2400" kern="1200" dirty="0">
            <a:latin typeface="Times New Roman" panose="02020603050405020304" pitchFamily="18" charset="0"/>
            <a:cs typeface="Times New Roman" panose="02020603050405020304" pitchFamily="18" charset="0"/>
          </a:endParaRPr>
        </a:p>
      </dsp:txBody>
      <dsp:txXfrm>
        <a:off x="4189682" y="607323"/>
        <a:ext cx="1688067" cy="568150"/>
      </dsp:txXfrm>
    </dsp:sp>
    <dsp:sp modelId="{6C28F26B-83F7-2D48-806A-3A1AC966D5E5}">
      <dsp:nvSpPr>
        <dsp:cNvPr id="0" name=""/>
        <dsp:cNvSpPr/>
      </dsp:nvSpPr>
      <dsp:spPr>
        <a:xfrm>
          <a:off x="4050898" y="1262843"/>
          <a:ext cx="1909896" cy="1106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DE" sz="1200" b="0" i="0" kern="1200" dirty="0">
              <a:latin typeface="Times New Roman" panose="02020603050405020304" pitchFamily="18" charset="0"/>
              <a:cs typeface="Times New Roman" panose="02020603050405020304" pitchFamily="18" charset="0"/>
            </a:rPr>
            <a:t>Make SANZI practical on an 8 GB Apple M1 using quantization, memory safeguards, OOM recovery and prompt engineering.</a:t>
          </a:r>
          <a:endParaRPr lang="en-GB" sz="1200" b="0" i="0" kern="1200" dirty="0">
            <a:latin typeface="Times New Roman" panose="02020603050405020304" pitchFamily="18" charset="0"/>
            <a:cs typeface="Times New Roman" panose="02020603050405020304" pitchFamily="18" charset="0"/>
          </a:endParaRPr>
        </a:p>
      </dsp:txBody>
      <dsp:txXfrm>
        <a:off x="4050898" y="1262843"/>
        <a:ext cx="1909896" cy="1106293"/>
      </dsp:txXfrm>
    </dsp:sp>
    <dsp:sp modelId="{89CB3C87-3857-5E47-AF51-0635E3FABDB3}">
      <dsp:nvSpPr>
        <dsp:cNvPr id="0" name=""/>
        <dsp:cNvSpPr/>
      </dsp:nvSpPr>
      <dsp:spPr>
        <a:xfrm>
          <a:off x="4151026" y="1706312"/>
          <a:ext cx="1688067" cy="79541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26/layout/TextCardSideLineNumbered">
  <dgm:title val=""/>
  <dgm:desc val=""/>
  <dgm:catLst>
    <dgm:cat type="textcard" pri="100"/>
  </dgm:catLst>
  <dgm:sampData>
    <dgm:dataModel>
      <dgm:ptLst>
        <dgm:pt modelId="0" type="doc"/>
        <dgm:pt modelId="10">
          <dgm:prSet phldrT="Title" phldr="1"/>
        </dgm:pt>
        <dgm:pt modelId="11">
          <dgm:prSet phldrT="Description" phldr="1"/>
        </dgm:pt>
        <dgm:pt modelId="20">
          <dgm:prSet phldrT="Title" phldr="1"/>
        </dgm:pt>
        <dgm:pt modelId="21">
          <dgm:prSet phldrT="Description" phldr="1"/>
        </dgm:pt>
        <dgm:pt modelId="30">
          <dgm:prSet phldrT="Title" phldr="1"/>
        </dgm:pt>
        <dgm:pt modelId="31">
          <dgm:prSet phldrT="Description" phldr="1"/>
        </dgm:pt>
        <dgm:pt modelId="101" type="sibTrans" cxnId="{8FF3DA75-9BAC-44B5-BB13-07D9031ED9A1}">
          <dgm:prSet phldrT="1"/>
          <dgm:t>
            <a:bodyPr/>
            <a:lstStyle/>
            <a:p>
              <a:r>
                <a:t>1</a:t>
              </a:r>
            </a:p>
          </dgm:t>
        </dgm:pt>
        <dgm:pt modelId="201" type="sibTrans" cxnId="{98CE6904-8883-471B-91A0-CA92EF175183}">
          <dgm:prSet phldrT="2"/>
          <dgm:t>
            <a:bodyPr/>
            <a:lstStyle/>
            <a:p>
              <a:r>
                <a:t>2</a:t>
              </a:r>
            </a:p>
          </dgm:t>
        </dgm:pt>
        <dgm:pt modelId="301" type="sibTrans" cxnId="{91406F63-012E-42FC-8422-B92366F09A39}">
          <dgm:prSet phldrT="3"/>
          <dgm:t>
            <a:bodyPr/>
            <a:lstStyle/>
            <a:p>
              <a:r>
                <a:t>3</a:t>
              </a:r>
            </a:p>
          </dgm:t>
        </dgm:pt>
      </dgm:ptLst>
      <dgm:cxnLst>
        <dgm:cxn modelId="100" srcId="0" destId="10" srcOrd="0" destOrd="0" sibTransId="101"/>
        <dgm:cxn modelId="101" srcId="10" destId="11" srcOrd="0" destOrd="0"/>
        <dgm:cxn modelId="102" srcId="0" destId="20" srcOrd="1" destOrd="0" sibTransId="201"/>
        <dgm:cxn modelId="103" srcId="20" destId="21" srcOrd="0" destOrd="0"/>
        <dgm:cxn modelId="104" srcId="0" destId="30" srcOrd="2" destOrd="0" sibTransId="301"/>
        <dgm:cxn modelId="105" srcId="30" destId="3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choose name="RowBalLTR">
          <dgm:if name="RB1" axis="ch" ptType="node" func="cnt" op="lte" val="4">
            <dgm:alg type="snake">
              <dgm:param type="grDir" val="tL"/>
              <dgm:param type="flowDir" val="row"/>
              <dgm:param type="contDir" val="sameDir"/>
              <dgm:param type="off" val="off"/>
              <dgm:param type="vertAlign" val="mid"/>
              <dgm:param type="horzAlign" val="ctr"/>
            </dgm:alg>
          </dgm:if>
          <dgm:else name="RB2">
            <dgm:alg type="snake">
              <dgm:param type="grDir" val="tL"/>
              <dgm:param type="flowDir" val="row"/>
              <dgm:param type="contDir" val="sameDir"/>
              <dgm:param type="off" val="off"/>
              <dgm:param type="vertAlign" val="mid"/>
              <dgm:param type="horzAlign" val="ctr"/>
              <dgm:param type="bkpt" val="bal"/>
            </dgm:alg>
          </dgm:else>
        </dgm:choose>
      </dgm:if>
      <dgm:else name="Name2">
        <dgm:choose name="RowBalRTL">
          <dgm:if name="RB3" axis="ch" ptType="node" func="cnt" op="lte" val="4">
            <dgm:alg type="snake">
              <dgm:param type="grDir" val="tR"/>
              <dgm:param type="flowDir" val="row"/>
              <dgm:param type="contDir" val="sameDir"/>
              <dgm:param type="off" val="off"/>
              <dgm:param type="vertAlign" val="mid"/>
              <dgm:param type="horzAlign" val="ctr"/>
            </dgm:alg>
          </dgm:if>
          <dgm:else name="RB4">
            <dgm:alg type="snake">
              <dgm:param type="grDir" val="tR"/>
              <dgm:param type="flowDir" val="row"/>
              <dgm:param type="contDir" val="sameDir"/>
              <dgm:param type="off" val="off"/>
              <dgm:param type="vertAlign" val="mid"/>
              <dgm:param type="horzAlign" val="ctr"/>
              <dgm:param type="bkpt" val="bal"/>
            </dgm:alg>
          </dgm:else>
        </dgm:choose>
      </dgm:else>
    </dgm:choose>
    <dgm:shape xmlns:r="http://schemas.openxmlformats.org/officeDocument/2006/relationships" r:blip="">
      <dgm:adjLst/>
    </dgm:shape>
    <dgm:presOf/>
    <dgm:choose name="Name3">
      <dgm:if name="Name4" axis="ch" ptType="node" func="cnt" op="lte" val="2">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5" axis="ch" ptType="node" func="cnt" op="lte" val="3">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5b" axis="ch" ptType="node" func="cnt" op="lte" val="4">
        <dgm:constrLst>
          <dgm:constr type="w" for="ch" forName="compNode" refType="w" fact="0.22"/>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if name="Name6" axis="ch" ptType="node" func="cnt" op="lte" val="6">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if>
      <dgm:else name="Name7">
        <dgm:constrLst>
          <dgm:constr type="w" for="ch" forName="compNode" refType="w" fact="0.3"/>
          <dgm:constr type="h" for="ch" forName="compNode" refType="h" fact="0.61"/>
          <dgm:constr type="w" for="ch" forName="sibTrans" refType="w" refFor="ch" refForName="compNode" fact="0.076"/>
          <dgm:constr type="sp" refType="w" refFor="ch" refForName="compNode" op="equ" fact="0.06"/>
          <dgm:constr type="primFontSz" for="des" forName="numberText" op="equ" val="48"/>
          <dgm:constr type="primFontSz" for="des" forName="titleText" op="equ" val="18"/>
          <dgm:constr type="primFontSz" for="des" forName="bodyText" op="equ" val="14"/>
          <dgm:constr type="h" for="des" forName="compNode" op="equ"/>
          <dgm:constr type="w" for="des" forName="compNode" op="equ"/>
        </dgm:constrLst>
      </dgm:else>
    </dgm:choose>
    <dgm:ruleLst>
      <dgm:rule type="h"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l" for="ch" forName="accentLine"/>
          <dgm:constr type="t" for="ch" forName="accentLine"/>
          <dgm:constr type="w" for="ch" forName="accentLine" refType="w" fact="0.008"/>
          <dgm:constr type="h" for="ch" forName="accentLine" refType="h"/>
          <dgm:constr type="l" for="ch" forName="numberText" refType="w" fact="0.07"/>
          <dgm:constr type="t" for="ch" forName="numberText" refType="h" fact="0.02"/>
          <dgm:constr type="w" for="ch" forName="numberText" refType="w" fact="0.93"/>
          <dgm:constr type="h" for="ch" forName="numberText" refType="h" fact="0.3"/>
          <dgm:constr type="l" for="ch" forName="titleText" refType="w" fact="0.07"/>
          <dgm:constr type="t" for="ch" forName="titleText" refType="h" fact="0.34"/>
          <dgm:constr type="w" for="ch" forName="titleText" refType="w" fact="0.93"/>
          <dgm:constr type="h" for="ch" forName="titleText" refType="h" fact="0.22"/>
          <dgm:constr type="l" for="ch" forName="bodyText" refType="w" fact="0.07"/>
          <dgm:constr type="t" for="ch" forName="bodyText" refType="h" fact="0.58"/>
          <dgm:constr type="w" for="ch" forName="bodyText" refType="w" fact="0.93"/>
          <dgm:constr type="h" for="ch" forName="bodyText" refType="h" fact="0.42"/>
        </dgm:constrLst>
        <dgm:ruleLst/>
        <dgm:layoutNode name="accentLine" styleLbl="dkBgShp">
          <dgm:alg type="sp"/>
          <dgm:shape xmlns:r="http://schemas.openxmlformats.org/officeDocument/2006/relationships" type="rect" r:blip="">
            <dgm:adjLst/>
            <dgm:extLst>
              <a:ext uri="{B698B0E9-8C71-41B9-8309-B3DCBF30829C}">
                <dgm1612:spPr xmlns:dgm1612="http://schemas.microsoft.com/office/drawing/2016/12/diagram">
                  <a:solidFill>
                    <a:schemeClr val="accent1"/>
                  </a:solidFill>
                </dgm1612:spPr>
              </a:ext>
            </dgm:extLst>
          </dgm:shape>
          <dgm:presOf/>
          <dgm:constrLst/>
          <dgm:ruleLst/>
        </dgm:layoutNode>
        <dgm:forEach name="numForEach" axis="followSib" ptType="sibTrans" hideLastTrans="0" cnt="1">
          <dgm:layoutNode name="numberText" styleLbl="revTx">
            <dgm:varLst>
              <dgm:chMax val="0"/>
              <dgm:chPref val="0"/>
              <dgm:bulletEnabled/>
            </dgm:varLst>
            <dgm:alg type="tx">
              <dgm:param type="txAnchorVert" val="b"/>
              <dgm:param type="parTxLTRAlign" val="l"/>
            </dgm:alg>
            <dgm:shape xmlns:r="http://schemas.openxmlformats.org/officeDocument/2006/relationships" type="rect" r:blip="">
              <dgm:adjLst/>
            </dgm:shape>
            <dgm:presOf axis="self" ptType="sibTrans"/>
            <dgm:constrLst>
              <dgm:constr type="lMarg"/>
              <dgm:constr type="rMarg"/>
              <dgm:constr type="tMarg"/>
              <dgm:constr type="bMarg"/>
            </dgm:constrLst>
            <dgm:ruleLst>
              <dgm:rule type="primFontSz" val="24" fact="NaN" max="NaN"/>
            </dgm:ruleLst>
          </dgm:layoutNode>
        </dgm:forEach>
        <dgm:layoutNode name="titleText" styleLbl="revTx">
          <dgm:varLst>
            <dgm:chMax val="0"/>
            <dgm:chPref val="0"/>
          </dgm:varLst>
          <dgm:alg type="tx">
            <dgm:param type="txAnchorVert" val="mid"/>
            <dgm:param type="parTxLTRAlign" val="l"/>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8" fact="NaN" max="NaN"/>
          </dgm:ruleLst>
        </dgm:layoutNode>
        <dgm:layoutNode name="bodyText" styleLbl="revTx">
          <dgm:varLst>
            <dgm:chMax val="0"/>
            <dgm:chPref val="0"/>
          </dgm:varLst>
          <dgm:alg type="tx">
            <dgm:param type="txAnchorVert" val="t"/>
            <dgm:param type="parTxLTRAlign" val="l"/>
          </dgm:alg>
          <dgm:shape xmlns:r="http://schemas.openxmlformats.org/officeDocument/2006/relationships" type="rect" r:blip="">
            <dgm:adjLst/>
          </dgm:shape>
          <dgm:presOf axis="des" ptType="node"/>
          <dgm:constrLst>
            <dgm:constr type="lMarg"/>
            <dgm:constr type="rMarg"/>
            <dgm:constr type="tMarg"/>
            <dgm:constr type="bMarg"/>
          </dgm:constrLst>
          <dgm:ruleLst>
            <dgm:rule type="primFontSz" val="7"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lain"/>
          </dgm1611:buPr>
        </dgm1611:autoBuNodeInfo>
      </dgm1611:autoBuNodeInfoLst>
    </a:ex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2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GB" dirty="0"/>
              <a:t>Good afternoon everyone. I worked on a  project ‘Local Deployment of Tiny Language Models on a Personal PC.’</a:t>
            </a:r>
          </a:p>
          <a:p>
            <a:endParaRPr lang="en-GB" dirty="0"/>
          </a:p>
          <a:p>
            <a:r>
              <a:rPr lang="en-GB" dirty="0"/>
              <a:t>The idea was to build a local AI system </a:t>
            </a:r>
            <a:r>
              <a:rPr lang="en-GB" b="1" dirty="0"/>
              <a:t>using small LLMs that run directly on user’s own device instead of relying on cloud services</a:t>
            </a:r>
            <a:r>
              <a:rPr lang="en-GB" dirty="0"/>
              <a:t>. This can give the user </a:t>
            </a:r>
            <a:r>
              <a:rPr lang="en-GB" b="1" dirty="0"/>
              <a:t>more privacy</a:t>
            </a:r>
            <a:r>
              <a:rPr lang="en-GB" dirty="0"/>
              <a:t>, </a:t>
            </a:r>
            <a:r>
              <a:rPr lang="en-GB" b="1" dirty="0"/>
              <a:t>more control </a:t>
            </a:r>
            <a:r>
              <a:rPr lang="en-GB" dirty="0"/>
              <a:t>and </a:t>
            </a:r>
            <a:r>
              <a:rPr lang="en-GB" b="1" dirty="0"/>
              <a:t>less dependence on external services.</a:t>
            </a:r>
          </a:p>
          <a:p>
            <a:endParaRPr lang="en-GB" dirty="0"/>
          </a:p>
          <a:p>
            <a:r>
              <a:rPr lang="en-GB" dirty="0"/>
              <a:t>For my project, I built a chatbot called SANZI using two tiny language models: </a:t>
            </a:r>
            <a:r>
              <a:rPr lang="en-GB" b="1" dirty="0"/>
              <a:t>Llama-3.2-Instruct with 1Billion parameter </a:t>
            </a:r>
            <a:r>
              <a:rPr lang="en-GB" dirty="0"/>
              <a:t>and </a:t>
            </a:r>
            <a:r>
              <a:rPr lang="en-GB" b="1" dirty="0"/>
              <a:t>Qwen1.5-Chat with half a billion parameter</a:t>
            </a:r>
            <a:r>
              <a:rPr lang="en-GB" dirty="0"/>
              <a:t>.</a:t>
            </a:r>
          </a:p>
          <a:p>
            <a:r>
              <a:rPr lang="en-GB" dirty="0"/>
              <a:t>The main </a:t>
            </a:r>
            <a:r>
              <a:rPr lang="en-GB" b="1" dirty="0"/>
              <a:t>challenge</a:t>
            </a:r>
            <a:r>
              <a:rPr lang="en-GB" dirty="0"/>
              <a:t> was to make it work properly on my MacBook Air M1 with only </a:t>
            </a:r>
            <a:r>
              <a:rPr lang="en-GB" b="1" dirty="0"/>
              <a:t>8 GB unified memory.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62257-D486-2785-0EDE-2A1362CEB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9D985-603B-EA36-5973-81BF0ABA4371}"/>
              </a:ext>
            </a:extLst>
          </p:cNvPr>
          <p:cNvSpPr>
            <a:spLocks noGrp="1" noRot="1" noChangeAspect="1"/>
          </p:cNvSpPr>
          <p:nvPr>
            <p:ph type="sldImg"/>
          </p:nvPr>
        </p:nvSpPr>
        <p:spPr/>
        <p:txBody>
          <a:bodyPr/>
          <a:lstStyle/>
          <a:p>
            <a:endParaRPr lang="en-DE"/>
          </a:p>
        </p:txBody>
      </p:sp>
      <p:sp>
        <p:nvSpPr>
          <p:cNvPr id="3" name="Notes Placeholder 2">
            <a:extLst>
              <a:ext uri="{FF2B5EF4-FFF2-40B4-BE49-F238E27FC236}">
                <a16:creationId xmlns:a16="http://schemas.microsoft.com/office/drawing/2014/main" id="{BEC43316-63F5-19C8-0CFF-19DE5BA35D9C}"/>
              </a:ext>
            </a:extLst>
          </p:cNvPr>
          <p:cNvSpPr>
            <a:spLocks noGrp="1"/>
          </p:cNvSpPr>
          <p:nvPr>
            <p:ph type="body" idx="1"/>
          </p:nvPr>
        </p:nvSpPr>
        <p:spPr/>
        <p:txBody>
          <a:bodyPr/>
          <a:lstStyle/>
          <a:p>
            <a:r>
              <a:rPr lang="en-GB" dirty="0"/>
              <a:t>This is the roadmap of my presentation.</a:t>
            </a:r>
          </a:p>
          <a:p>
            <a:r>
              <a:rPr lang="en-GB" dirty="0"/>
              <a:t>First, I will explain the problem and objective. Then I will show what SANZI delivers and how the system is designed.</a:t>
            </a:r>
          </a:p>
          <a:p>
            <a:r>
              <a:rPr lang="en-GB" dirty="0"/>
              <a:t>After that, I will show the live GUI(</a:t>
            </a:r>
            <a:r>
              <a:rPr lang="en-GB" dirty="0" err="1"/>
              <a:t>GuuEE</a:t>
            </a:r>
            <a:r>
              <a:rPr lang="en-GB" dirty="0"/>
              <a:t>) demo.</a:t>
            </a:r>
          </a:p>
          <a:p>
            <a:r>
              <a:rPr lang="en-GB" dirty="0"/>
              <a:t>Finally, I will present the results, key takeaways and future work.</a:t>
            </a:r>
          </a:p>
        </p:txBody>
      </p:sp>
      <p:sp>
        <p:nvSpPr>
          <p:cNvPr id="4" name="Slide Number Placeholder 3">
            <a:extLst>
              <a:ext uri="{FF2B5EF4-FFF2-40B4-BE49-F238E27FC236}">
                <a16:creationId xmlns:a16="http://schemas.microsoft.com/office/drawing/2014/main" id="{8610633F-282D-1F27-5CE7-8DD4E420FFC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8658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effectLst/>
              </a:rPr>
              <a:t>So...why running model locally?</a:t>
            </a:r>
          </a:p>
          <a:p>
            <a:endParaRPr lang="en-DE" sz="1200" kern="1200" dirty="0">
              <a:effectLst/>
            </a:endParaRPr>
          </a:p>
          <a:p>
            <a:r>
              <a:rPr lang="en-DE" sz="1200" kern="1200" dirty="0">
                <a:effectLst/>
              </a:rPr>
              <a:t>In typical </a:t>
            </a:r>
            <a:r>
              <a:rPr lang="en-DE" sz="1200" b="1" kern="1200" dirty="0">
                <a:effectLst/>
              </a:rPr>
              <a:t>cloud-based operation</a:t>
            </a:r>
            <a:r>
              <a:rPr lang="en-DE" sz="1200" kern="1200" dirty="0">
                <a:effectLst/>
              </a:rPr>
              <a:t>, the </a:t>
            </a:r>
            <a:r>
              <a:rPr lang="en-DE" sz="1200" b="1" kern="1200" dirty="0">
                <a:effectLst/>
              </a:rPr>
              <a:t>user sends a prompt through the internet </a:t>
            </a:r>
            <a:r>
              <a:rPr lang="en-DE" sz="1200" kern="1200" dirty="0">
                <a:effectLst/>
              </a:rPr>
              <a:t>to </a:t>
            </a:r>
            <a:r>
              <a:rPr lang="en-DE" sz="1200" b="1" kern="1200" dirty="0">
                <a:effectLst/>
              </a:rPr>
              <a:t>an external provider</a:t>
            </a:r>
            <a:r>
              <a:rPr lang="en-DE" sz="1200" kern="1200" dirty="0">
                <a:effectLst/>
              </a:rPr>
              <a:t>. So the prompt (maybe include important personal information or sofisticated data)  leaves the user’s device, here is the conceren!!!! On top of that, </a:t>
            </a:r>
            <a:r>
              <a:rPr lang="en-GB" sz="1200" kern="1200" dirty="0">
                <a:effectLst/>
              </a:rPr>
              <a:t>U</a:t>
            </a:r>
            <a:r>
              <a:rPr lang="en-DE" sz="1200" kern="1200" dirty="0">
                <a:effectLst/>
              </a:rPr>
              <a:t>nintrurupt internet connection is required and the whole processing depends on third party service.</a:t>
            </a:r>
          </a:p>
          <a:p>
            <a:r>
              <a:rPr lang="en-DE" sz="1200" kern="1200" dirty="0">
                <a:effectLst/>
              </a:rPr>
              <a:t>This can also add network delay, API cost and the user has less direct control over the runtime.</a:t>
            </a:r>
          </a:p>
          <a:p>
            <a:endParaRPr lang="en-DE" sz="1200" kern="1200" dirty="0">
              <a:effectLst/>
            </a:endParaRPr>
          </a:p>
          <a:p>
            <a:r>
              <a:rPr lang="en-DE" sz="1200" kern="1200" dirty="0">
                <a:effectLst/>
              </a:rPr>
              <a:t>But if we use local models, the prompts and conversation stay on the user’s own device. No internet, no external API is needed for normal task. And the user has more direct control over the model, precision and runtime.</a:t>
            </a:r>
          </a:p>
          <a:p>
            <a:r>
              <a:rPr lang="en-DE" sz="1200" kern="1200" dirty="0">
                <a:effectLst/>
              </a:rPr>
              <a:t>This is the main idea behind our local approach.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effectLst/>
              </a:rPr>
              <a:t>Here I will summarize what SANZI provides.</a:t>
            </a:r>
          </a:p>
          <a:p>
            <a:endParaRPr lang="en-DE" sz="1200" kern="1200" dirty="0">
              <a:effectLst/>
            </a:endParaRPr>
          </a:p>
          <a:p>
            <a:r>
              <a:rPr lang="en-DE" sz="1200" kern="1200" dirty="0">
                <a:effectLst/>
              </a:rPr>
              <a:t>It supports two tiny language models: only one model active at a time.</a:t>
            </a:r>
          </a:p>
          <a:p>
            <a:endParaRPr lang="en-DE" sz="1200" kern="1200" dirty="0">
              <a:effectLst/>
            </a:endParaRPr>
          </a:p>
          <a:p>
            <a:r>
              <a:rPr lang="en-DE" sz="1200" kern="1200" dirty="0">
                <a:effectLst/>
              </a:rPr>
              <a:t>I first implemented the CLI chatbot and then a Graphical user interface (GUI)usinng Vue 3 (view3)and Vite.</a:t>
            </a:r>
          </a:p>
          <a:p>
            <a:r>
              <a:rPr lang="en-DE" sz="1200" kern="1200" dirty="0">
                <a:effectLst/>
              </a:rPr>
              <a:t>The user can control settings like maximum output tokens, temperature, top-p and seed and can also manage the conversation history.</a:t>
            </a:r>
          </a:p>
          <a:p>
            <a:endParaRPr lang="en-DE" sz="1200" kern="1200" dirty="0">
              <a:effectLst/>
            </a:endParaRPr>
          </a:p>
          <a:p>
            <a:r>
              <a:rPr lang="en-DE" sz="1200" kern="1200" dirty="0">
                <a:effectLst/>
              </a:rPr>
              <a:t>For stable local operation, SANZI supports standard FP16 (16-bit Floating Point), as well as 8-bit and 4-bit quantization on Apple Silicon. It also includes a safe 2.5K-token input limit, memory cleanup, and Out of Memory (OOM) detection and recovery.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effectLst/>
              </a:rPr>
              <a:t>Here is the main architecture of SANZI.</a:t>
            </a:r>
          </a:p>
          <a:p>
            <a:endParaRPr lang="en-DE" sz="1200" kern="1200" dirty="0">
              <a:effectLst/>
            </a:endParaRPr>
          </a:p>
          <a:p>
            <a:r>
              <a:rPr lang="en-DE" sz="1200" kern="1200" dirty="0">
                <a:effectLst/>
              </a:rPr>
              <a:t>There are two different application paths. </a:t>
            </a:r>
            <a:r>
              <a:rPr lang="en-DE" sz="1200" b="1" kern="1200" dirty="0">
                <a:effectLst/>
              </a:rPr>
              <a:t>The first on</a:t>
            </a:r>
            <a:r>
              <a:rPr lang="en-DE" sz="1200" kern="1200" dirty="0">
                <a:effectLst/>
              </a:rPr>
              <a:t>e is the CLI path. The user interacts with the command-line interface using the terminal of the device, then the CLI python handles prompt preparation and  tokenization , </a:t>
            </a:r>
            <a:r>
              <a:rPr lang="en-DE" sz="1200" b="1" kern="1200" dirty="0">
                <a:effectLst/>
              </a:rPr>
              <a:t>then sends the request to the selected local model.</a:t>
            </a:r>
          </a:p>
          <a:p>
            <a:endParaRPr lang="en-DE" sz="1200" b="1" kern="1200" dirty="0">
              <a:effectLst/>
            </a:endParaRPr>
          </a:p>
          <a:p>
            <a:r>
              <a:rPr lang="en-DE" sz="1200" b="1" kern="1200" dirty="0">
                <a:effectLst/>
              </a:rPr>
              <a:t>The second path </a:t>
            </a:r>
            <a:r>
              <a:rPr lang="en-DE" sz="1200" kern="1200" dirty="0">
                <a:effectLst/>
              </a:rPr>
              <a:t>is the GUI path. Here, the user interect via the Frontend interface. The Vue 3 frontend communicates with the local Python backend using HTTP and JSON. The request then goes through ChatService and LocalLLMEngine. ChatService also manages the conversation history and generation settings, while LocalLLMEngine directly Control Local Models.</a:t>
            </a:r>
          </a:p>
          <a:p>
            <a:r>
              <a:rPr lang="en-DE" b="1" dirty="0"/>
              <a:t>Both paths finally use the same supported local models. </a:t>
            </a:r>
          </a:p>
          <a:p>
            <a:r>
              <a:rPr lang="en-DE" dirty="0"/>
              <a:t>The models run through PyTorch and Hugging Face Transformers. Hugging Face Transformers is used to load the tokenizer and the model and to handle the generation process. PyTorch performs the actual neural-network calculations. On the Apple M1, PyTorch uses MPS, or Metal Performance Shaders, to run those calculations on the Apple GPU. Then the generated response is returned to the user.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effectLst/>
              </a:rPr>
              <a:t>Now I want to talk briefly about the quantization part.</a:t>
            </a:r>
          </a:p>
          <a:p>
            <a:r>
              <a:rPr lang="en-DE" sz="1200" kern="1200" dirty="0">
                <a:effectLst/>
              </a:rPr>
              <a:t>If I remember correctly, during the mid-term presentation the professor asked me ‘</a:t>
            </a:r>
            <a:r>
              <a:rPr lang="en-DE" sz="1200" b="1" kern="1200" dirty="0">
                <a:effectLst/>
              </a:rPr>
              <a:t>how we can reduce memory usage while keeping the same number of model parameters.’</a:t>
            </a:r>
          </a:p>
          <a:p>
            <a:r>
              <a:rPr lang="en-DE" sz="1200" kern="1200" dirty="0">
                <a:effectLst/>
              </a:rPr>
              <a:t>The answer is </a:t>
            </a:r>
            <a:r>
              <a:rPr lang="en-DE" sz="1200" b="1" kern="1200" dirty="0">
                <a:effectLst/>
              </a:rPr>
              <a:t>quantization</a:t>
            </a:r>
            <a:r>
              <a:rPr lang="en-DE" sz="1200" kern="1200" dirty="0">
                <a:effectLst/>
              </a:rPr>
              <a:t>.</a:t>
            </a:r>
          </a:p>
          <a:p>
            <a:endParaRPr lang="en-DE" sz="1200" kern="1200" dirty="0">
              <a:effectLst/>
            </a:endParaRPr>
          </a:p>
          <a:p>
            <a:r>
              <a:rPr lang="en-DE" sz="1200" kern="1200" dirty="0">
                <a:effectLst/>
              </a:rPr>
              <a:t>We keep the same model structure and the same number of parameters, but we store each weight using fewer bits.</a:t>
            </a:r>
          </a:p>
          <a:p>
            <a:r>
              <a:rPr lang="en-DE" sz="1200" kern="1200" dirty="0">
                <a:effectLst/>
              </a:rPr>
              <a:t>For example, instead of 16-bit precision, we can use 8-bit or 4-bit. The theoretical weight memory for Llama 1B is about </a:t>
            </a:r>
            <a:r>
              <a:rPr lang="en-DE" sz="1200" b="1" kern="1200" dirty="0">
                <a:effectLst/>
              </a:rPr>
              <a:t>2 GB in FP16</a:t>
            </a:r>
            <a:r>
              <a:rPr lang="en-DE" sz="1200" kern="1200" dirty="0">
                <a:effectLst/>
              </a:rPr>
              <a:t>, around </a:t>
            </a:r>
            <a:r>
              <a:rPr lang="en-DE" sz="1200" b="1" kern="1200" dirty="0">
                <a:effectLst/>
              </a:rPr>
              <a:t>1 GB in 8-bit</a:t>
            </a:r>
            <a:r>
              <a:rPr lang="en-DE" sz="1200" kern="1200" dirty="0">
                <a:effectLst/>
              </a:rPr>
              <a:t> and around </a:t>
            </a:r>
            <a:r>
              <a:rPr lang="en-DE" sz="1200" b="1" kern="1200" dirty="0">
                <a:effectLst/>
              </a:rPr>
              <a:t>0.5 GB in 4-bit</a:t>
            </a:r>
            <a:r>
              <a:rPr lang="en-DE" sz="1200" kern="1200" dirty="0">
                <a:effectLst/>
              </a:rPr>
              <a:t>. For Qwen 0.5B, it is roughly half of these values.</a:t>
            </a:r>
          </a:p>
          <a:p>
            <a:r>
              <a:rPr lang="en-DE" sz="1200" kern="1200" dirty="0">
                <a:effectLst/>
              </a:rPr>
              <a:t>That is why quantization is very useful for a limited-memory device like my MacBook Air M1 with 8 GB unified memory.</a:t>
            </a:r>
          </a:p>
          <a:p>
            <a:endParaRPr lang="en-DE" sz="1200" kern="1200" dirty="0">
              <a:effectLst/>
            </a:endParaRPr>
          </a:p>
          <a:p>
            <a:r>
              <a:rPr lang="en-DE" sz="1200" kern="1200" dirty="0">
                <a:effectLst/>
              </a:rPr>
              <a:t>But lower precision does not always mean faster inference, which I will show in the results.</a:t>
            </a:r>
          </a:p>
          <a:p>
            <a:r>
              <a:rPr lang="en-DE" sz="1200" kern="1200" dirty="0">
                <a:effectLst/>
              </a:rPr>
              <a:t>ewer bits.</a:t>
            </a:r>
            <a:r>
              <a:rPr lang="en-DE" dirty="0">
                <a:effectLst/>
              </a:rPr>
              <a: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kern="1200" dirty="0">
                <a:effectLst/>
              </a:rPr>
              <a:t>Now I want to explain how I made the models run on my local device with limited resources.</a:t>
            </a:r>
          </a:p>
          <a:p>
            <a:endParaRPr lang="en-DE" sz="1200" kern="1200" dirty="0">
              <a:effectLst/>
            </a:endParaRPr>
          </a:p>
          <a:p>
            <a:r>
              <a:rPr lang="en-DE" sz="1200" kern="1200" dirty="0">
                <a:effectLst/>
              </a:rPr>
              <a:t>Here, the 8 GB memory is shared by the model, conversation context, runtime tensors and macOS.</a:t>
            </a:r>
          </a:p>
          <a:p>
            <a:r>
              <a:rPr lang="en-DE" sz="1200" kern="1200" dirty="0">
                <a:effectLst/>
              </a:rPr>
              <a:t>As I explained before, quantization helps reduce the memory needed for the model weights.</a:t>
            </a:r>
          </a:p>
          <a:p>
            <a:r>
              <a:rPr lang="en-DE" sz="1200" kern="1200" dirty="0">
                <a:effectLst/>
              </a:rPr>
              <a:t>I also keep only one model active at a time and use clean model switching so the previous model does not stay in memory.</a:t>
            </a:r>
          </a:p>
          <a:p>
            <a:endParaRPr lang="en-DE" sz="1200" kern="1200" dirty="0">
              <a:effectLst/>
            </a:endParaRPr>
          </a:p>
          <a:p>
            <a:r>
              <a:rPr lang="en-DE" sz="1200" kern="1200" dirty="0">
                <a:effectLst/>
              </a:rPr>
              <a:t>I also added safeguards for the conversation. The user can control the maximum output length.</a:t>
            </a:r>
          </a:p>
          <a:p>
            <a:r>
              <a:rPr lang="en-DE" sz="1200" kern="1200" dirty="0">
                <a:effectLst/>
              </a:rPr>
              <a:t>When the conversation gets close to the 2500-token safe limit, SANZI gives a warning. If the limit is reached, new input is blocked until old conversation rounds are removed or the history is cleared.</a:t>
            </a:r>
          </a:p>
          <a:p>
            <a:endParaRPr lang="en-DE" sz="1200" kern="1200" dirty="0">
              <a:effectLst/>
            </a:endParaRPr>
          </a:p>
          <a:p>
            <a:r>
              <a:rPr lang="en-DE" sz="1200" kern="1200" dirty="0">
                <a:effectLst/>
              </a:rPr>
              <a:t>And if an OOM error still happens during model loading or generation, SANZI cleans the memory and keeps the application alive.</a:t>
            </a:r>
          </a:p>
          <a:p>
            <a:r>
              <a:rPr lang="en-DE" sz="1200" kern="1200" dirty="0">
                <a:effectLst/>
              </a:rPr>
              <a:t>So this is how I combined different techniques to make local inference practical on an 8 GB device.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dirty="0"/>
              <a:t>[Sources]</a:t>
            </a:r>
          </a:p>
          <a:p>
            <a:r>
              <a:rPr dirty="0"/>
              <a:t>- No external assets used on this slide.</a:t>
            </a:r>
          </a:p>
          <a:p>
            <a:r>
              <a:rPr dirty="0"/>
              <a:t>- The right-side screenshot area is intentionally blank for the presenter to fill manually.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kern="1200" dirty="0">
                <a:effectLst/>
              </a:rPr>
              <a:t>Here are the experimental results.</a:t>
            </a:r>
          </a:p>
          <a:p>
            <a:r>
              <a:rPr lang="en-DE" sz="1200" kern="1200" dirty="0">
                <a:effectLst/>
              </a:rPr>
              <a:t>I tested all six model and precision combinations five times and report the average values.</a:t>
            </a:r>
          </a:p>
          <a:p>
            <a:endParaRPr lang="en-DE" sz="1200" kern="1200" dirty="0">
              <a:effectLst/>
            </a:endParaRPr>
          </a:p>
          <a:p>
            <a:r>
              <a:rPr lang="en-DE" sz="1200" kern="1200" dirty="0">
                <a:effectLst/>
              </a:rPr>
              <a:t>Based on results, I can summarise Qwen was faster than Llama in all three precision modes. This is not surprising because Qwen is the smaller model, with about 0.5 billion parameters, while Llama has about 1 billion parameters.</a:t>
            </a:r>
          </a:p>
          <a:p>
            <a:r>
              <a:rPr lang="en-DE" sz="1200" kern="1200" dirty="0">
                <a:effectLst/>
              </a:rPr>
              <a:t>For Qwen, the throughput increased slightly from </a:t>
            </a:r>
            <a:r>
              <a:rPr lang="en-DE" sz="1200" b="1" kern="1200" dirty="0">
                <a:effectLst/>
              </a:rPr>
              <a:t>23.03 tokens per second in FP16 to 24.22 tokens per second in 4-bit Metal</a:t>
            </a:r>
            <a:r>
              <a:rPr lang="en-DE" sz="1200" kern="1200" dirty="0">
                <a:effectLst/>
              </a:rPr>
              <a:t>, which was the fastest average configuration.</a:t>
            </a:r>
          </a:p>
          <a:p>
            <a:r>
              <a:rPr lang="en-DE" sz="1200" kern="1200" dirty="0">
                <a:effectLst/>
              </a:rPr>
              <a:t>Llama behaved differently. Its throughput stayed almost the same across the three modes: </a:t>
            </a:r>
            <a:r>
              <a:rPr lang="en-DE" sz="1200" b="1" kern="1200" dirty="0">
                <a:effectLst/>
              </a:rPr>
              <a:t>8.87, 8.52 and 8.87 tokens per second</a:t>
            </a:r>
            <a:r>
              <a:rPr lang="en-DE" sz="1200" kern="1200" dirty="0">
                <a:effectLst/>
              </a:rPr>
              <a:t>.</a:t>
            </a:r>
          </a:p>
          <a:p>
            <a:endParaRPr lang="en-DE" sz="1200" kern="1200" dirty="0">
              <a:effectLst/>
            </a:endParaRPr>
          </a:p>
          <a:p>
            <a:r>
              <a:rPr lang="en-DE" sz="1200" kern="1200" dirty="0">
                <a:effectLst/>
              </a:rPr>
              <a:t>The load-time results also show that Qwen loaded faster than Llama in these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DE"/>
          </a:p>
        </p:txBody>
      </p:sp>
      <p:sp>
        <p:nvSpPr>
          <p:cNvPr id="3" name="Notes Placeholder 2"/>
          <p:cNvSpPr>
            <a:spLocks noGrp="1"/>
          </p:cNvSpPr>
          <p:nvPr>
            <p:ph type="body" idx="1"/>
          </p:nvPr>
        </p:nvSpPr>
        <p:spPr/>
        <p:txBody>
          <a:bodyPr/>
          <a:lstStyle/>
          <a:p>
            <a:r>
              <a:rPr lang="en-DE" sz="1200" b="1" kern="1200" dirty="0">
                <a:effectLst/>
              </a:rPr>
              <a:t>Finally, I want to summarize what I achieved and where this project can go next.</a:t>
            </a:r>
            <a:endParaRPr lang="en-DE" sz="1200" kern="1200" dirty="0">
              <a:effectLst/>
            </a:endParaRPr>
          </a:p>
          <a:p>
            <a:r>
              <a:rPr lang="en-DE" sz="1200" kern="1200" dirty="0">
                <a:effectLst/>
              </a:rPr>
              <a:t>SANZI successfully runs two tiny language models locally through both a CLI and a GUI. I also implemented different precision modes, memory safeguards and OOM recovery to make local inference practical on limited hardware.</a:t>
            </a:r>
          </a:p>
          <a:p>
            <a:r>
              <a:rPr lang="en-DE" sz="1200" kern="1200" dirty="0">
                <a:effectLst/>
              </a:rPr>
              <a:t>The main thing I learned is that local LLM deployment is not only about choosing a small model. Precision, memory management and hardware also play an important role.</a:t>
            </a:r>
          </a:p>
          <a:p>
            <a:r>
              <a:rPr lang="en-DE" sz="1200" kern="1200" dirty="0">
                <a:effectLst/>
              </a:rPr>
              <a:t>For future work, I would like to support other hardware such as NVIDIA GPUs, add more tiny models and build smarter local personalization and memory.</a:t>
            </a:r>
          </a:p>
          <a:p>
            <a:r>
              <a:rPr lang="en-DE" sz="1200" b="1" kern="1200" dirty="0">
                <a:effectLst/>
              </a:rPr>
              <a:t>I am optimistic that one day having a personal AI could become as normal as having a personal computer. It could understand our preferences and personal context while keeping more of that information under our own control with minimum privecy risk.</a:t>
            </a:r>
            <a:endParaRPr lang="en-DE" sz="1200" kern="1200" dirty="0">
              <a:effectLst/>
            </a:endParaRPr>
          </a:p>
          <a:p>
            <a:r>
              <a:rPr lang="en-DE" sz="1200" b="1" kern="1200" dirty="0">
                <a:effectLst/>
              </a:rPr>
              <a:t>For me, SANZI is a small step in that direction.</a:t>
            </a:r>
            <a:endParaRPr lang="en-DE"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ormAutofit/>
          </a:bodyPr>
          <a:lstStyle>
            <a:lvl1pPr algn="ctr">
              <a:buNone/>
              <a:defRPr sz="4200"/>
            </a:lvl1pPr>
          </a:lstStyle>
          <a:p>
            <a:r>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idx="10"/>
          </p:nvPr>
        </p:nvSpPr>
        <p:spPr/>
        <p:txBody>
          <a:bodyPr/>
          <a:lstStyle/>
          <a:p>
            <a:fld id="{CB918041-7462-4497-839E-501727F94670}" type="datetime1">
              <a:t>30.08.26</a:t>
            </a:fld>
            <a:endParaRPr/>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idx="12"/>
          </p:nvPr>
        </p:nvSpPr>
        <p:spPr/>
        <p:txBody>
          <a:bodyPr/>
          <a:lstStyle/>
          <a:p>
            <a:fld id="{DD2F4C09-65E4-4AD7-8D55-83CBD210ED85}"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 Image 1">
    <p:bg>
      <p:bgPr>
        <a:blipFill rotWithShape="1">
          <a:blip>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ormAutofit/>
          </a:bodyPr>
          <a:lstStyle>
            <a:lvl1pPr algn="ctr">
              <a:buNone/>
              <a:defRPr sz="4200"/>
            </a:lvl1pPr>
          </a:lstStyle>
          <a:p>
            <a:r>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idx="10"/>
          </p:nvPr>
        </p:nvSpPr>
        <p:spPr/>
        <p:txBody>
          <a:bodyPr/>
          <a:lstStyle/>
          <a:p>
            <a:fld id="{CD7E5B92-C0A4-4291-B7E8-22FD2BA427BE}" type="datetime1">
              <a:t>30.08.26</a:t>
            </a:fld>
            <a:endParaRPr/>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idx="12"/>
          </p:nvPr>
        </p:nvSpPr>
        <p:spPr/>
        <p:txBody>
          <a:bodyPr/>
          <a:lstStyle/>
          <a:p>
            <a:fld id="{DD2F4C09-65E4-4AD7-8D55-83CBD210ED85}" type="slidenum">
              <a:t>‹#›</a:t>
            </a:fld>
            <a:endParaRPr/>
          </a:p>
        </p:txBody>
      </p:sp>
      <p:sp>
        <p:nvSpPr>
          <p:cNvPr id="4" name="Textfeld 3">
            <a:extLst>
              <a:ext uri="{FF2B5EF4-FFF2-40B4-BE49-F238E27FC236}">
                <a16:creationId xmlns:a16="http://schemas.microsoft.com/office/drawing/2014/main" id="{33246F40-EFC5-4839-7377-B4D31824C810}"/>
              </a:ext>
            </a:extLst>
          </p:cNvPr>
          <p:cNvSpPr>
            <a:spLocks noGrp="1"/>
          </p:cNvSpPr>
          <p:nvPr/>
        </p:nvSpPr>
        <p:spPr>
          <a:xfrm rot="-5400000">
            <a:off x="10738800" y="5196244"/>
            <a:ext cx="2160000" cy="123111"/>
          </a:xfrm>
          <a:prstGeom prst="rect">
            <a:avLst/>
          </a:prstGeom>
          <a:noFill/>
        </p:spPr>
        <p:txBody>
          <a:bodyPr wrap="square" lIns="0" tIns="0" rIns="0" bIns="0" anchor="b">
            <a:noAutofit/>
          </a:bodyPr>
          <a:lstStyle/>
          <a:p>
            <a:r>
              <a:rPr sz="800">
                <a:solidFill>
                  <a:srgbClr val="898989"/>
                </a:solidFill>
              </a:rPr>
              <a:t>© Axel Becker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 Image 2">
    <p:bg>
      <p:bgPr>
        <a:blipFill rotWithShape="1">
          <a:blip>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ormAutofit/>
          </a:bodyPr>
          <a:lstStyle>
            <a:lvl1pPr algn="ctr">
              <a:buNone/>
              <a:defRPr sz="4200"/>
            </a:lvl1pPr>
          </a:lstStyle>
          <a:p>
            <a:r>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idx="10"/>
          </p:nvPr>
        </p:nvSpPr>
        <p:spPr/>
        <p:txBody>
          <a:bodyPr/>
          <a:lstStyle/>
          <a:p>
            <a:fld id="{C2847A1A-2F89-433D-A732-D122FBEF72B4}" type="datetime1">
              <a:t>30.08.26</a:t>
            </a:fld>
            <a:endParaRPr/>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idx="12"/>
          </p:nvPr>
        </p:nvSpPr>
        <p:spPr/>
        <p:txBody>
          <a:bodyPr/>
          <a:lstStyle/>
          <a:p>
            <a:fld id="{DD2F4C09-65E4-4AD7-8D55-83CBD210ED85}" type="slidenum">
              <a:t>‹#›</a:t>
            </a:fld>
            <a:endParaRPr/>
          </a:p>
        </p:txBody>
      </p:sp>
      <p:sp>
        <p:nvSpPr>
          <p:cNvPr id="4" name="Textfeld 3">
            <a:extLst>
              <a:ext uri="{FF2B5EF4-FFF2-40B4-BE49-F238E27FC236}">
                <a16:creationId xmlns:a16="http://schemas.microsoft.com/office/drawing/2014/main" id="{33246F40-EFC5-4839-7377-B4D31824C810}"/>
              </a:ext>
            </a:extLst>
          </p:cNvPr>
          <p:cNvSpPr>
            <a:spLocks noGrp="1"/>
          </p:cNvSpPr>
          <p:nvPr/>
        </p:nvSpPr>
        <p:spPr>
          <a:xfrm rot="-5400000">
            <a:off x="10738800" y="5196244"/>
            <a:ext cx="2160000" cy="123111"/>
          </a:xfrm>
          <a:prstGeom prst="rect">
            <a:avLst/>
          </a:prstGeom>
          <a:noFill/>
        </p:spPr>
        <p:txBody>
          <a:bodyPr wrap="square" lIns="0" tIns="0" rIns="0" bIns="0" anchor="b">
            <a:noAutofit/>
          </a:bodyPr>
          <a:lstStyle/>
          <a:p>
            <a:r>
              <a:rPr sz="800">
                <a:solidFill>
                  <a:srgbClr val="898989"/>
                </a:solidFill>
              </a:rPr>
              <a:t>© Thomas Ott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 Image 3">
    <p:bg>
      <p:bgPr>
        <a:blipFill rotWithShape="1">
          <a:blip>
            <a:lum/>
          </a:blip>
          <a:srcRect/>
          <a:stretch>
            <a:fillRect/>
          </a:stretch>
        </a:blip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703780-5D85-D274-7391-0F765996CFCA}"/>
              </a:ext>
            </a:extLst>
          </p:cNvPr>
          <p:cNvSpPr>
            <a:spLocks noGrp="1"/>
          </p:cNvSpPr>
          <p:nvPr>
            <p:ph type="ctrTitle"/>
          </p:nvPr>
        </p:nvSpPr>
        <p:spPr>
          <a:xfrm>
            <a:off x="1416000" y="2520000"/>
            <a:ext cx="9360000" cy="1080000"/>
          </a:xfrm>
        </p:spPr>
        <p:txBody>
          <a:bodyPr anchor="b">
            <a:normAutofit/>
          </a:bodyPr>
          <a:lstStyle>
            <a:lvl1pPr algn="ctr">
              <a:buNone/>
              <a:defRPr sz="4200"/>
            </a:lvl1pPr>
          </a:lstStyle>
          <a:p>
            <a:r>
              <a:t>Mastertitelformat bearbeiten</a:t>
            </a:r>
          </a:p>
        </p:txBody>
      </p:sp>
      <p:sp>
        <p:nvSpPr>
          <p:cNvPr id="3" name="Untertitel 2">
            <a:extLst>
              <a:ext uri="{FF2B5EF4-FFF2-40B4-BE49-F238E27FC236}">
                <a16:creationId xmlns:a16="http://schemas.microsoft.com/office/drawing/2014/main" id="{E4FBF234-5426-5554-0876-C0CB41FEB798}"/>
              </a:ext>
            </a:extLst>
          </p:cNvPr>
          <p:cNvSpPr>
            <a:spLocks noGrp="1"/>
          </p:cNvSpPr>
          <p:nvPr>
            <p:ph type="subTitle" idx="1"/>
          </p:nvPr>
        </p:nvSpPr>
        <p:spPr>
          <a:xfrm>
            <a:off x="1416000" y="3789000"/>
            <a:ext cx="9360000" cy="1468800"/>
          </a:xfrm>
        </p:spPr>
        <p:txBody>
          <a:bodyPr>
            <a:normAutofit/>
          </a:bodyPr>
          <a:lstStyle>
            <a:lvl1pPr marL="0" indent="0" algn="ctr">
              <a:buNone/>
              <a:defRPr sz="1800" spc="4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Master-Untertitelformat bearbeiten</a:t>
            </a:r>
          </a:p>
        </p:txBody>
      </p:sp>
      <p:sp>
        <p:nvSpPr>
          <p:cNvPr id="7" name="Datumsplatzhalter 6">
            <a:extLst>
              <a:ext uri="{FF2B5EF4-FFF2-40B4-BE49-F238E27FC236}">
                <a16:creationId xmlns:a16="http://schemas.microsoft.com/office/drawing/2014/main" id="{EB30F3C0-3A75-8681-9853-8AC245B5DA25}"/>
              </a:ext>
            </a:extLst>
          </p:cNvPr>
          <p:cNvSpPr>
            <a:spLocks noGrp="1"/>
          </p:cNvSpPr>
          <p:nvPr>
            <p:ph type="dt" idx="10"/>
          </p:nvPr>
        </p:nvSpPr>
        <p:spPr/>
        <p:txBody>
          <a:bodyPr/>
          <a:lstStyle/>
          <a:p>
            <a:fld id="{6C702A89-D4DA-4387-AB83-5D0BE5409970}" type="datetime1">
              <a:t>30.08.26</a:t>
            </a:fld>
            <a:endParaRPr/>
          </a:p>
        </p:txBody>
      </p:sp>
      <p:sp>
        <p:nvSpPr>
          <p:cNvPr id="9" name="Foliennummernplatzhalter 8">
            <a:extLst>
              <a:ext uri="{FF2B5EF4-FFF2-40B4-BE49-F238E27FC236}">
                <a16:creationId xmlns:a16="http://schemas.microsoft.com/office/drawing/2014/main" id="{36E4576B-5E3F-FDCE-C398-AB2D5908EF66}"/>
              </a:ext>
            </a:extLst>
          </p:cNvPr>
          <p:cNvSpPr>
            <a:spLocks noGrp="1"/>
          </p:cNvSpPr>
          <p:nvPr>
            <p:ph type="sldNum" idx="12"/>
          </p:nvPr>
        </p:nvSpPr>
        <p:spPr/>
        <p:txBody>
          <a:bodyPr/>
          <a:lstStyle/>
          <a:p>
            <a:fld id="{DD2F4C09-65E4-4AD7-8D55-83CBD210ED85}" type="slidenum">
              <a:t>‹#›</a:t>
            </a:fld>
            <a:endParaRPr/>
          </a:p>
        </p:txBody>
      </p:sp>
      <p:sp>
        <p:nvSpPr>
          <p:cNvPr id="4" name="Textfeld 3">
            <a:extLst>
              <a:ext uri="{FF2B5EF4-FFF2-40B4-BE49-F238E27FC236}">
                <a16:creationId xmlns:a16="http://schemas.microsoft.com/office/drawing/2014/main" id="{33246F40-EFC5-4839-7377-B4D31824C810}"/>
              </a:ext>
            </a:extLst>
          </p:cNvPr>
          <p:cNvSpPr>
            <a:spLocks noGrp="1"/>
          </p:cNvSpPr>
          <p:nvPr/>
        </p:nvSpPr>
        <p:spPr>
          <a:xfrm rot="-5400000">
            <a:off x="10738800" y="5196244"/>
            <a:ext cx="2160000" cy="123111"/>
          </a:xfrm>
          <a:prstGeom prst="rect">
            <a:avLst/>
          </a:prstGeom>
          <a:noFill/>
        </p:spPr>
        <p:txBody>
          <a:bodyPr wrap="square" lIns="0" tIns="0" rIns="0" bIns="0" anchor="b">
            <a:noAutofit/>
          </a:bodyPr>
          <a:lstStyle/>
          <a:p>
            <a:r>
              <a:rPr sz="800">
                <a:solidFill>
                  <a:srgbClr val="898989"/>
                </a:solidFill>
              </a:rPr>
              <a:t>© Thomas Ott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5CDA01-DDC9-2253-72DE-96209CE4EF06}"/>
              </a:ext>
            </a:extLst>
          </p:cNvPr>
          <p:cNvSpPr>
            <a:spLocks noGrp="1"/>
          </p:cNvSpPr>
          <p:nvPr>
            <p:ph type="title"/>
          </p:nvPr>
        </p:nvSpPr>
        <p:spPr/>
        <p:txBody>
          <a:bodyPr/>
          <a:lstStyle/>
          <a:p>
            <a:r>
              <a:t>Mastertitelformat bearbeiten</a:t>
            </a:r>
          </a:p>
        </p:txBody>
      </p:sp>
      <p:sp>
        <p:nvSpPr>
          <p:cNvPr id="3" name="Inhaltsplatzhalter 2">
            <a:extLst>
              <a:ext uri="{FF2B5EF4-FFF2-40B4-BE49-F238E27FC236}">
                <a16:creationId xmlns:a16="http://schemas.microsoft.com/office/drawing/2014/main" id="{227C98BC-77ED-57FD-F633-2BC8142A2DA4}"/>
              </a:ext>
            </a:extLst>
          </p:cNvPr>
          <p:cNvSpPr>
            <a:spLocks noGrp="1"/>
          </p:cNvSpPr>
          <p:nvPr>
            <p:ph idx="1"/>
          </p:nvPr>
        </p:nvSpPr>
        <p:spPr>
          <a:xfrm>
            <a:off x="360000" y="1980000"/>
            <a:ext cx="11519987" cy="4500000"/>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7" name="Datumsplatzhalter 6">
            <a:extLst>
              <a:ext uri="{FF2B5EF4-FFF2-40B4-BE49-F238E27FC236}">
                <a16:creationId xmlns:a16="http://schemas.microsoft.com/office/drawing/2014/main" id="{9FCB9AE0-FB31-AD7B-F074-94F25823D69B}"/>
              </a:ext>
            </a:extLst>
          </p:cNvPr>
          <p:cNvSpPr>
            <a:spLocks noGrp="1"/>
          </p:cNvSpPr>
          <p:nvPr>
            <p:ph type="dt" idx="14"/>
          </p:nvPr>
        </p:nvSpPr>
        <p:spPr/>
        <p:txBody>
          <a:bodyPr/>
          <a:lstStyle/>
          <a:p>
            <a:fld id="{B3FD5DD2-BC1A-4C9C-81FC-0D336EF99937}" type="datetime1">
              <a:t>30.08.26</a:t>
            </a:fld>
            <a:endParaRPr/>
          </a:p>
        </p:txBody>
      </p:sp>
      <p:sp>
        <p:nvSpPr>
          <p:cNvPr id="9" name="Fußzeilenplatzhalter 8">
            <a:extLst>
              <a:ext uri="{FF2B5EF4-FFF2-40B4-BE49-F238E27FC236}">
                <a16:creationId xmlns:a16="http://schemas.microsoft.com/office/drawing/2014/main" id="{DBDDB1D6-39C5-381A-1C8E-0B3A2109CC7C}"/>
              </a:ext>
            </a:extLst>
          </p:cNvPr>
          <p:cNvSpPr>
            <a:spLocks noGrp="1"/>
          </p:cNvSpPr>
          <p:nvPr>
            <p:ph type="ftr" idx="15"/>
          </p:nvPr>
        </p:nvSpPr>
        <p:spPr/>
        <p:txBody>
          <a:bodyPr/>
          <a:lstStyle/>
          <a:p>
            <a:r>
              <a:t>TITEL / AUTOR</a:t>
            </a:r>
          </a:p>
        </p:txBody>
      </p:sp>
      <p:sp>
        <p:nvSpPr>
          <p:cNvPr id="10" name="Foliennummernplatzhalter 9">
            <a:extLst>
              <a:ext uri="{FF2B5EF4-FFF2-40B4-BE49-F238E27FC236}">
                <a16:creationId xmlns:a16="http://schemas.microsoft.com/office/drawing/2014/main" id="{D1513966-0604-55AE-E780-E1382633BFC8}"/>
              </a:ext>
            </a:extLst>
          </p:cNvPr>
          <p:cNvSpPr>
            <a:spLocks noGrp="1"/>
          </p:cNvSpPr>
          <p:nvPr>
            <p:ph type="sldNum" idx="16"/>
          </p:nvPr>
        </p:nvSpPr>
        <p:spPr/>
        <p:txBody>
          <a:bodyPr/>
          <a:lstStyle/>
          <a:p>
            <a:fld id="{DD2F4C09-65E4-4AD7-8D55-83CBD210ED85}"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A8DEF2-3EB0-7C61-65FD-4CF2BF6AA0B5}"/>
              </a:ext>
            </a:extLst>
          </p:cNvPr>
          <p:cNvSpPr>
            <a:spLocks noGrp="1"/>
          </p:cNvSpPr>
          <p:nvPr>
            <p:ph type="title" hasCustomPrompt="1"/>
          </p:nvPr>
        </p:nvSpPr>
        <p:spPr>
          <a:xfrm>
            <a:off x="360000" y="3924000"/>
            <a:ext cx="11558700" cy="1080000"/>
          </a:xfrm>
        </p:spPr>
        <p:txBody>
          <a:bodyPr anchor="b">
            <a:normAutofit/>
          </a:bodyPr>
          <a:lstStyle>
            <a:lvl1pPr>
              <a:buNone/>
              <a:defRPr sz="4200"/>
            </a:lvl1pPr>
          </a:lstStyle>
          <a:p>
            <a:r>
              <a:t>Mastertitelformat </a:t>
            </a:r>
            <a:br/>
            <a:r>
              <a:t>bearbeiten</a:t>
            </a:r>
          </a:p>
        </p:txBody>
      </p:sp>
      <p:sp>
        <p:nvSpPr>
          <p:cNvPr id="3" name="Textplatzhalter 2">
            <a:extLst>
              <a:ext uri="{FF2B5EF4-FFF2-40B4-BE49-F238E27FC236}">
                <a16:creationId xmlns:a16="http://schemas.microsoft.com/office/drawing/2014/main" id="{8BB02D4D-81F0-49AF-1CF0-1A75D0BC75E1}"/>
              </a:ext>
            </a:extLst>
          </p:cNvPr>
          <p:cNvSpPr>
            <a:spLocks noGrp="1"/>
          </p:cNvSpPr>
          <p:nvPr>
            <p:ph type="body" idx="1"/>
          </p:nvPr>
        </p:nvSpPr>
        <p:spPr>
          <a:xfrm>
            <a:off x="360000" y="5040000"/>
            <a:ext cx="7919993" cy="1080000"/>
          </a:xfrm>
        </p:spPr>
        <p:txBody>
          <a:bodyPr>
            <a:normAutofit/>
          </a:bodyPr>
          <a:lstStyle>
            <a:lvl1pPr marL="0" indent="0">
              <a:buNone/>
              <a:defRPr sz="18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Mastertextformat bearbeiten</a:t>
            </a:r>
          </a:p>
        </p:txBody>
      </p:sp>
      <p:sp>
        <p:nvSpPr>
          <p:cNvPr id="7" name="Datumsplatzhalter 6">
            <a:extLst>
              <a:ext uri="{FF2B5EF4-FFF2-40B4-BE49-F238E27FC236}">
                <a16:creationId xmlns:a16="http://schemas.microsoft.com/office/drawing/2014/main" id="{7A0B6FE2-4691-8E94-5E86-36CF5EFB70A9}"/>
              </a:ext>
            </a:extLst>
          </p:cNvPr>
          <p:cNvSpPr>
            <a:spLocks noGrp="1"/>
          </p:cNvSpPr>
          <p:nvPr>
            <p:ph type="dt" idx="10"/>
          </p:nvPr>
        </p:nvSpPr>
        <p:spPr/>
        <p:txBody>
          <a:bodyPr/>
          <a:lstStyle/>
          <a:p>
            <a:fld id="{70CBB7E7-F067-457C-BA04-DEDD669A8898}" type="datetime1">
              <a:t>30.08.26</a:t>
            </a:fld>
            <a:endParaRPr/>
          </a:p>
        </p:txBody>
      </p:sp>
      <p:sp>
        <p:nvSpPr>
          <p:cNvPr id="8" name="Fußzeilenplatzhalter 7">
            <a:extLst>
              <a:ext uri="{FF2B5EF4-FFF2-40B4-BE49-F238E27FC236}">
                <a16:creationId xmlns:a16="http://schemas.microsoft.com/office/drawing/2014/main" id="{9A590409-784D-7817-ED5F-00C6036B20C9}"/>
              </a:ext>
            </a:extLst>
          </p:cNvPr>
          <p:cNvSpPr>
            <a:spLocks noGrp="1"/>
          </p:cNvSpPr>
          <p:nvPr>
            <p:ph type="ftr" idx="11"/>
          </p:nvPr>
        </p:nvSpPr>
        <p:spPr>
          <a:xfrm>
            <a:off x="360000" y="360000"/>
            <a:ext cx="8976000" cy="189000"/>
          </a:xfrm>
        </p:spPr>
        <p:txBody>
          <a:bodyPr/>
          <a:lstStyle/>
          <a:p>
            <a:r>
              <a:t>TITEL / AUTOR</a:t>
            </a:r>
          </a:p>
        </p:txBody>
      </p:sp>
      <p:sp>
        <p:nvSpPr>
          <p:cNvPr id="9" name="Foliennummernplatzhalter 8">
            <a:extLst>
              <a:ext uri="{FF2B5EF4-FFF2-40B4-BE49-F238E27FC236}">
                <a16:creationId xmlns:a16="http://schemas.microsoft.com/office/drawing/2014/main" id="{F28A47B0-219D-E504-F79C-A5E591940185}"/>
              </a:ext>
            </a:extLst>
          </p:cNvPr>
          <p:cNvSpPr>
            <a:spLocks noGrp="1"/>
          </p:cNvSpPr>
          <p:nvPr>
            <p:ph type="sldNum" idx="12"/>
          </p:nvPr>
        </p:nvSpPr>
        <p:spPr/>
        <p:txBody>
          <a:bodyPr/>
          <a:lstStyle/>
          <a:p>
            <a:fld id="{DD2F4C09-65E4-4AD7-8D55-83CBD210ED8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964544-40DC-4288-275B-FB15B4D07DE1}"/>
              </a:ext>
            </a:extLst>
          </p:cNvPr>
          <p:cNvSpPr>
            <a:spLocks noGrp="1"/>
          </p:cNvSpPr>
          <p:nvPr>
            <p:ph type="title"/>
          </p:nvPr>
        </p:nvSpPr>
        <p:spPr/>
        <p:txBody>
          <a:bodyPr/>
          <a:lstStyle/>
          <a:p>
            <a:r>
              <a:t>Mastertitelformat bearbeiten</a:t>
            </a:r>
          </a:p>
        </p:txBody>
      </p:sp>
      <p:sp>
        <p:nvSpPr>
          <p:cNvPr id="3" name="Datumsplatzhalter 2">
            <a:extLst>
              <a:ext uri="{FF2B5EF4-FFF2-40B4-BE49-F238E27FC236}">
                <a16:creationId xmlns:a16="http://schemas.microsoft.com/office/drawing/2014/main" id="{1512A440-6CC2-C81B-AAB4-F8419E2011D4}"/>
              </a:ext>
            </a:extLst>
          </p:cNvPr>
          <p:cNvSpPr>
            <a:spLocks noGrp="1"/>
          </p:cNvSpPr>
          <p:nvPr>
            <p:ph type="dt" idx="10"/>
          </p:nvPr>
        </p:nvSpPr>
        <p:spPr/>
        <p:txBody>
          <a:bodyPr/>
          <a:lstStyle/>
          <a:p>
            <a:fld id="{5D689E8D-0739-4C28-BB97-1D61527BFECF}" type="datetime1">
              <a:t>30.08.26</a:t>
            </a:fld>
            <a:endParaRPr/>
          </a:p>
        </p:txBody>
      </p:sp>
      <p:sp>
        <p:nvSpPr>
          <p:cNvPr id="4" name="Fußzeilenplatzhalter 3">
            <a:extLst>
              <a:ext uri="{FF2B5EF4-FFF2-40B4-BE49-F238E27FC236}">
                <a16:creationId xmlns:a16="http://schemas.microsoft.com/office/drawing/2014/main" id="{30EA03BC-F835-8900-FE38-6958D04E8DE6}"/>
              </a:ext>
            </a:extLst>
          </p:cNvPr>
          <p:cNvSpPr>
            <a:spLocks noGrp="1"/>
          </p:cNvSpPr>
          <p:nvPr>
            <p:ph type="ftr" idx="11"/>
          </p:nvPr>
        </p:nvSpPr>
        <p:spPr/>
        <p:txBody>
          <a:bodyPr/>
          <a:lstStyle/>
          <a:p>
            <a:r>
              <a:t>TITEL / AUTOR</a:t>
            </a:r>
          </a:p>
        </p:txBody>
      </p:sp>
      <p:sp>
        <p:nvSpPr>
          <p:cNvPr id="5" name="Foliennummernplatzhalter 4">
            <a:extLst>
              <a:ext uri="{FF2B5EF4-FFF2-40B4-BE49-F238E27FC236}">
                <a16:creationId xmlns:a16="http://schemas.microsoft.com/office/drawing/2014/main" id="{1469E877-7369-A8AF-FF8A-DDFA8A85502E}"/>
              </a:ext>
            </a:extLst>
          </p:cNvPr>
          <p:cNvSpPr>
            <a:spLocks noGrp="1"/>
          </p:cNvSpPr>
          <p:nvPr>
            <p:ph type="sldNum" idx="12"/>
          </p:nvPr>
        </p:nvSpPr>
        <p:spPr/>
        <p:txBody>
          <a:bodyPr/>
          <a:lstStyle/>
          <a:p>
            <a:fld id="{DD2F4C09-65E4-4AD7-8D55-83CBD210ED85}" type="slidenum">
              <a:t>‹#›</a:t>
            </a:fld>
            <a:endParaRPr/>
          </a:p>
        </p:txBody>
      </p:sp>
      <p:sp>
        <p:nvSpPr>
          <p:cNvPr id="13" name="Inhaltsplatzhalter 12">
            <a:extLst>
              <a:ext uri="{FF2B5EF4-FFF2-40B4-BE49-F238E27FC236}">
                <a16:creationId xmlns:a16="http://schemas.microsoft.com/office/drawing/2014/main" id="{6B08FBBD-180E-596B-F91F-8F6ADC5F6390}"/>
              </a:ext>
            </a:extLst>
          </p:cNvPr>
          <p:cNvSpPr>
            <a:spLocks noGrp="1"/>
          </p:cNvSpPr>
          <p:nvPr>
            <p:ph idx="13"/>
          </p:nvPr>
        </p:nvSpPr>
        <p:spPr>
          <a:xfrm>
            <a:off x="360362" y="1980000"/>
            <a:ext cx="5580000" cy="4500000"/>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15" name="Inhaltsplatzhalter 14">
            <a:extLst>
              <a:ext uri="{FF2B5EF4-FFF2-40B4-BE49-F238E27FC236}">
                <a16:creationId xmlns:a16="http://schemas.microsoft.com/office/drawing/2014/main" id="{CD333C59-0ADD-F97D-91D2-1E187ECAF602}"/>
              </a:ext>
            </a:extLst>
          </p:cNvPr>
          <p:cNvSpPr>
            <a:spLocks noGrp="1"/>
          </p:cNvSpPr>
          <p:nvPr>
            <p:ph idx="14"/>
          </p:nvPr>
        </p:nvSpPr>
        <p:spPr>
          <a:xfrm>
            <a:off x="6300209" y="1980000"/>
            <a:ext cx="5580000" cy="4500000"/>
          </a:xfrm>
        </p:spPr>
        <p:txBody>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 Cap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EA8B7A-08C3-285D-CDA3-D0DCEF856F4E}"/>
              </a:ext>
            </a:extLst>
          </p:cNvPr>
          <p:cNvSpPr>
            <a:spLocks noGrp="1"/>
          </p:cNvSpPr>
          <p:nvPr>
            <p:ph type="title"/>
          </p:nvPr>
        </p:nvSpPr>
        <p:spPr/>
        <p:txBody>
          <a:bodyPr/>
          <a:lstStyle/>
          <a:p>
            <a:r>
              <a:t>Mastertitelformat bearbeiten</a:t>
            </a:r>
          </a:p>
        </p:txBody>
      </p:sp>
      <p:sp>
        <p:nvSpPr>
          <p:cNvPr id="3" name="Datumsplatzhalter 2">
            <a:extLst>
              <a:ext uri="{FF2B5EF4-FFF2-40B4-BE49-F238E27FC236}">
                <a16:creationId xmlns:a16="http://schemas.microsoft.com/office/drawing/2014/main" id="{A5C45FF0-DFBA-6FB8-5D9D-4E9A98A8787B}"/>
              </a:ext>
            </a:extLst>
          </p:cNvPr>
          <p:cNvSpPr>
            <a:spLocks noGrp="1"/>
          </p:cNvSpPr>
          <p:nvPr>
            <p:ph type="dt" idx="10"/>
          </p:nvPr>
        </p:nvSpPr>
        <p:spPr/>
        <p:txBody>
          <a:bodyPr/>
          <a:lstStyle/>
          <a:p>
            <a:fld id="{B555B8D1-90B3-4E44-893B-392224B51B52}" type="datetime1">
              <a:t>30.08.26</a:t>
            </a:fld>
            <a:endParaRPr/>
          </a:p>
        </p:txBody>
      </p:sp>
      <p:sp>
        <p:nvSpPr>
          <p:cNvPr id="4" name="Fußzeilenplatzhalter 3">
            <a:extLst>
              <a:ext uri="{FF2B5EF4-FFF2-40B4-BE49-F238E27FC236}">
                <a16:creationId xmlns:a16="http://schemas.microsoft.com/office/drawing/2014/main" id="{6C1DAEC6-70FB-93F3-56DA-505CA789835C}"/>
              </a:ext>
            </a:extLst>
          </p:cNvPr>
          <p:cNvSpPr>
            <a:spLocks noGrp="1"/>
          </p:cNvSpPr>
          <p:nvPr>
            <p:ph type="ftr" idx="11"/>
          </p:nvPr>
        </p:nvSpPr>
        <p:spPr/>
        <p:txBody>
          <a:bodyPr/>
          <a:lstStyle/>
          <a:p>
            <a:r>
              <a:t>TITEL / AUTOR</a:t>
            </a:r>
          </a:p>
        </p:txBody>
      </p:sp>
      <p:sp>
        <p:nvSpPr>
          <p:cNvPr id="5" name="Foliennummernplatzhalter 4">
            <a:extLst>
              <a:ext uri="{FF2B5EF4-FFF2-40B4-BE49-F238E27FC236}">
                <a16:creationId xmlns:a16="http://schemas.microsoft.com/office/drawing/2014/main" id="{D19F1D11-78E8-8CC4-923C-7925ADB72E5D}"/>
              </a:ext>
            </a:extLst>
          </p:cNvPr>
          <p:cNvSpPr>
            <a:spLocks noGrp="1"/>
          </p:cNvSpPr>
          <p:nvPr>
            <p:ph type="sldNum" idx="12"/>
          </p:nvPr>
        </p:nvSpPr>
        <p:spPr/>
        <p:txBody>
          <a:bodyPr/>
          <a:lstStyle/>
          <a:p>
            <a:fld id="{DD2F4C09-65E4-4AD7-8D55-83CBD210ED85}" type="slidenum">
              <a:t>‹#›</a:t>
            </a:fld>
            <a:endParaRPr/>
          </a:p>
        </p:txBody>
      </p:sp>
      <p:sp>
        <p:nvSpPr>
          <p:cNvPr id="7" name="Inhaltsplatzhalter 6">
            <a:extLst>
              <a:ext uri="{FF2B5EF4-FFF2-40B4-BE49-F238E27FC236}">
                <a16:creationId xmlns:a16="http://schemas.microsoft.com/office/drawing/2014/main" id="{AD1F37F6-4222-0F2F-8273-DDE8A60C7A1F}"/>
              </a:ext>
            </a:extLst>
          </p:cNvPr>
          <p:cNvSpPr>
            <a:spLocks noGrp="1"/>
          </p:cNvSpPr>
          <p:nvPr>
            <p:ph idx="13"/>
          </p:nvPr>
        </p:nvSpPr>
        <p:spPr>
          <a:xfrm>
            <a:off x="360363" y="1980000"/>
            <a:ext cx="11520487" cy="4068000"/>
          </a:xfrm>
        </p:spPr>
        <p:txBody>
          <a:bodyPr/>
          <a:lstStyle>
            <a:lvl1pPr>
              <a:buNone/>
              <a:defRPr baseline="0"/>
            </a:lvl1pPr>
            <a:lvl2pPr>
              <a:buNone/>
              <a:defRPr baseline="0"/>
            </a:lvl2pPr>
            <a:lvl3pPr>
              <a:buNone/>
              <a:defRPr baseline="0"/>
            </a:lvl3pPr>
            <a:lvl4pPr>
              <a:buNone/>
              <a:defRPr baseline="0"/>
            </a:lvl4pPr>
            <a:lvl5pPr>
              <a:buNone/>
              <a:defRPr baseline="0"/>
            </a:lvl5p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9" name="Textplatzhalter 8">
            <a:extLst>
              <a:ext uri="{FF2B5EF4-FFF2-40B4-BE49-F238E27FC236}">
                <a16:creationId xmlns:a16="http://schemas.microsoft.com/office/drawing/2014/main" id="{27B3ED93-4F10-B98E-C79A-9C75CB74FCCA}"/>
              </a:ext>
            </a:extLst>
          </p:cNvPr>
          <p:cNvSpPr>
            <a:spLocks noGrp="1"/>
          </p:cNvSpPr>
          <p:nvPr>
            <p:ph type="body" idx="14" hasCustomPrompt="1"/>
          </p:nvPr>
        </p:nvSpPr>
        <p:spPr>
          <a:xfrm>
            <a:off x="360363" y="6084000"/>
            <a:ext cx="11520487" cy="360000"/>
          </a:xfrm>
        </p:spPr>
        <p:txBody>
          <a:bodyPr anchor="ctr">
            <a:noAutofit/>
          </a:bodyPr>
          <a:lstStyle>
            <a:lvl1pPr marL="0" indent="0">
              <a:buNone/>
              <a:defRPr sz="1400">
                <a:solidFill>
                  <a:schemeClr val="accent6"/>
                </a:solidFill>
              </a:defRPr>
            </a:lvl1pPr>
            <a:lvl2pPr marL="457200" indent="0">
              <a:buNone/>
              <a:defRPr sz="1400">
                <a:solidFill>
                  <a:schemeClr val="accent6"/>
                </a:solidFill>
              </a:defRPr>
            </a:lvl2pPr>
            <a:lvl3pPr marL="914400" indent="0">
              <a:buNone/>
              <a:defRPr sz="1400">
                <a:solidFill>
                  <a:schemeClr val="accent6"/>
                </a:solidFill>
              </a:defRPr>
            </a:lvl3pPr>
            <a:lvl4pPr marL="1371600" indent="0">
              <a:buNone/>
              <a:defRPr sz="1400">
                <a:solidFill>
                  <a:schemeClr val="accent6"/>
                </a:solidFill>
              </a:defRPr>
            </a:lvl4pPr>
            <a:lvl5pPr marL="1828800" indent="0">
              <a:buNone/>
              <a:defRPr sz="1400">
                <a:solidFill>
                  <a:schemeClr val="accent6"/>
                </a:solidFill>
              </a:defRPr>
            </a:lvl5pPr>
          </a:lstStyle>
          <a:p>
            <a:pPr lvl="0">
              <a:buNone/>
            </a:pPr>
            <a:r>
              <a:t>Bildunterschrift / Caption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ullscreen">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8FC2DAB9-ADD2-1E42-D0D7-6395646D2915}"/>
              </a:ext>
            </a:extLst>
          </p:cNvPr>
          <p:cNvSpPr>
            <a:spLocks noGrp="1"/>
          </p:cNvSpPr>
          <p:nvPr>
            <p:ph type="pic" idx="10" hasCustomPrompt="1"/>
          </p:nvPr>
        </p:nvSpPr>
        <p:spPr>
          <a:xfrm>
            <a:off x="0" y="0"/>
            <a:ext cx="12192000" cy="6858000"/>
          </a:xfrm>
        </p:spPr>
        <p:txBody>
          <a:bodyPr/>
          <a:lstStyle>
            <a:lvl1pPr>
              <a:buNone/>
              <a:defRPr/>
            </a:lvl1pPr>
          </a:lstStyle>
          <a:p>
            <a:r>
              <a:t>Image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9093F2-7696-269A-BB11-D5C2FFA8B72D}"/>
              </a:ext>
            </a:extLst>
          </p:cNvPr>
          <p:cNvSpPr>
            <a:spLocks noGrp="1"/>
          </p:cNvSpPr>
          <p:nvPr>
            <p:ph type="title" hasCustomPrompt="1"/>
          </p:nvPr>
        </p:nvSpPr>
        <p:spPr/>
        <p:txBody>
          <a:bodyPr/>
          <a:lstStyle>
            <a:lvl1pPr>
              <a:buNone/>
              <a:defRPr/>
            </a:lvl1pPr>
          </a:lstStyle>
          <a:p>
            <a:r>
              <a:t>Mastertitelformat</a:t>
            </a:r>
            <a:br/>
            <a:r>
              <a:t>bearbeiten</a:t>
            </a:r>
          </a:p>
        </p:txBody>
      </p:sp>
      <p:sp>
        <p:nvSpPr>
          <p:cNvPr id="6" name="Datumsplatzhalter 5">
            <a:extLst>
              <a:ext uri="{FF2B5EF4-FFF2-40B4-BE49-F238E27FC236}">
                <a16:creationId xmlns:a16="http://schemas.microsoft.com/office/drawing/2014/main" id="{A41FE660-7BC8-B76D-97BD-90A64F338766}"/>
              </a:ext>
            </a:extLst>
          </p:cNvPr>
          <p:cNvSpPr>
            <a:spLocks noGrp="1"/>
          </p:cNvSpPr>
          <p:nvPr>
            <p:ph type="dt" idx="10"/>
          </p:nvPr>
        </p:nvSpPr>
        <p:spPr/>
        <p:txBody>
          <a:bodyPr/>
          <a:lstStyle/>
          <a:p>
            <a:fld id="{3DA1FD3D-D8C4-4102-9424-20C07C0FDF43}" type="datetime1">
              <a:t>30.08.26</a:t>
            </a:fld>
            <a:endParaRPr/>
          </a:p>
        </p:txBody>
      </p:sp>
      <p:sp>
        <p:nvSpPr>
          <p:cNvPr id="7" name="Fußzeilenplatzhalter 6">
            <a:extLst>
              <a:ext uri="{FF2B5EF4-FFF2-40B4-BE49-F238E27FC236}">
                <a16:creationId xmlns:a16="http://schemas.microsoft.com/office/drawing/2014/main" id="{6363686E-60AA-D422-E6EE-8DD8E5F8A53E}"/>
              </a:ext>
            </a:extLst>
          </p:cNvPr>
          <p:cNvSpPr>
            <a:spLocks noGrp="1"/>
          </p:cNvSpPr>
          <p:nvPr>
            <p:ph type="ftr" idx="11"/>
          </p:nvPr>
        </p:nvSpPr>
        <p:spPr/>
        <p:txBody>
          <a:bodyPr/>
          <a:lstStyle/>
          <a:p>
            <a:r>
              <a:t>TITEL / AUTOR</a:t>
            </a:r>
          </a:p>
        </p:txBody>
      </p:sp>
      <p:sp>
        <p:nvSpPr>
          <p:cNvPr id="8" name="Foliennummernplatzhalter 7">
            <a:extLst>
              <a:ext uri="{FF2B5EF4-FFF2-40B4-BE49-F238E27FC236}">
                <a16:creationId xmlns:a16="http://schemas.microsoft.com/office/drawing/2014/main" id="{0739CE4A-2BE8-F232-4C6E-237F56ABCB03}"/>
              </a:ext>
            </a:extLst>
          </p:cNvPr>
          <p:cNvSpPr>
            <a:spLocks noGrp="1"/>
          </p:cNvSpPr>
          <p:nvPr>
            <p:ph type="sldNum" idx="12"/>
          </p:nvPr>
        </p:nvSpPr>
        <p:spPr/>
        <p:txBody>
          <a:bodyPr/>
          <a:lstStyle/>
          <a:p>
            <a:fld id="{DD2F4C09-65E4-4AD7-8D55-83CBD210ED85}"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3C2DE3C2-C819-A980-93F3-EAC4189506D9}"/>
              </a:ext>
            </a:extLst>
          </p:cNvPr>
          <p:cNvSpPr>
            <a:spLocks noGrp="1"/>
          </p:cNvSpPr>
          <p:nvPr>
            <p:ph type="dt" idx="10"/>
          </p:nvPr>
        </p:nvSpPr>
        <p:spPr/>
        <p:txBody>
          <a:bodyPr/>
          <a:lstStyle/>
          <a:p>
            <a:fld id="{5BC68747-4636-4AA2-B913-FB458803DE32}" type="datetime1">
              <a:t>30.08.26</a:t>
            </a:fld>
            <a:endParaRPr/>
          </a:p>
        </p:txBody>
      </p:sp>
      <p:sp>
        <p:nvSpPr>
          <p:cNvPr id="7" name="Foliennummernplatzhalter 6">
            <a:extLst>
              <a:ext uri="{FF2B5EF4-FFF2-40B4-BE49-F238E27FC236}">
                <a16:creationId xmlns:a16="http://schemas.microsoft.com/office/drawing/2014/main" id="{3D40727B-45B4-9274-85DF-F723F18B2C1C}"/>
              </a:ext>
            </a:extLst>
          </p:cNvPr>
          <p:cNvSpPr>
            <a:spLocks noGrp="1"/>
          </p:cNvSpPr>
          <p:nvPr>
            <p:ph type="sldNum" idx="12"/>
          </p:nvPr>
        </p:nvSpPr>
        <p:spPr/>
        <p:txBody>
          <a:bodyPr/>
          <a:lstStyle/>
          <a:p>
            <a:fld id="{DD2F4C09-65E4-4AD7-8D55-83CBD210ED85}"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859BFDA-5919-80E3-6FB9-03C9FBF610B9}"/>
              </a:ext>
            </a:extLst>
          </p:cNvPr>
          <p:cNvSpPr>
            <a:spLocks noGrp="1"/>
          </p:cNvSpPr>
          <p:nvPr>
            <p:ph type="title"/>
          </p:nvPr>
        </p:nvSpPr>
        <p:spPr>
          <a:xfrm>
            <a:off x="360000" y="736682"/>
            <a:ext cx="8976000" cy="1080000"/>
          </a:xfrm>
          <a:prstGeom prst="rect">
            <a:avLst/>
          </a:prstGeom>
        </p:spPr>
        <p:txBody>
          <a:bodyPr vert="horz" lIns="0" tIns="0" rIns="0" bIns="0" anchor="b">
            <a:normAutofit/>
          </a:bodyPr>
          <a:lstStyle/>
          <a:p>
            <a:r>
              <a:t>Mastertitelformat bearbeiten</a:t>
            </a:r>
          </a:p>
        </p:txBody>
      </p:sp>
      <p:sp>
        <p:nvSpPr>
          <p:cNvPr id="3" name="Textplatzhalter 2">
            <a:extLst>
              <a:ext uri="{FF2B5EF4-FFF2-40B4-BE49-F238E27FC236}">
                <a16:creationId xmlns:a16="http://schemas.microsoft.com/office/drawing/2014/main" id="{EB5DB4C4-7360-79EC-43CC-2887232E8706}"/>
              </a:ext>
            </a:extLst>
          </p:cNvPr>
          <p:cNvSpPr>
            <a:spLocks noGrp="1"/>
          </p:cNvSpPr>
          <p:nvPr>
            <p:ph type="body" idx="1"/>
          </p:nvPr>
        </p:nvSpPr>
        <p:spPr>
          <a:xfrm>
            <a:off x="360000" y="1980000"/>
            <a:ext cx="11519987" cy="4500000"/>
          </a:xfrm>
          <a:prstGeom prst="rect">
            <a:avLst/>
          </a:prstGeom>
        </p:spPr>
        <p:txBody>
          <a:bodyPr vert="horz" lIns="0" tIns="0" rIns="0" bIns="0">
            <a:normAutofit/>
          </a:bodyPr>
          <a:lstStyle/>
          <a:p>
            <a:pPr lvl="0">
              <a:buNone/>
            </a:pPr>
            <a:r>
              <a:t>Mastertextformat bearbeiten</a:t>
            </a:r>
          </a:p>
          <a:p>
            <a:pPr lvl="1">
              <a:buNone/>
            </a:pPr>
            <a:r>
              <a:t>Zweite Ebene</a:t>
            </a:r>
          </a:p>
          <a:p>
            <a:pPr lvl="2">
              <a:buNone/>
            </a:pPr>
            <a:r>
              <a:t>Dritte Ebene</a:t>
            </a:r>
          </a:p>
          <a:p>
            <a:pPr lvl="3">
              <a:buNone/>
            </a:pPr>
            <a:r>
              <a:t>Vierte Ebene</a:t>
            </a:r>
          </a:p>
          <a:p>
            <a:pPr lvl="4">
              <a:buNone/>
            </a:pPr>
            <a:r>
              <a:t>Fünfte Ebene</a:t>
            </a:r>
          </a:p>
        </p:txBody>
      </p:sp>
      <p:sp>
        <p:nvSpPr>
          <p:cNvPr id="8" name="AutoShape 3">
            <a:extLst>
              <a:ext uri="{FF2B5EF4-FFF2-40B4-BE49-F238E27FC236}">
                <a16:creationId xmlns:a16="http://schemas.microsoft.com/office/drawing/2014/main" id="{65BC44CB-CBBB-FAC0-EB9F-E8F9DC95037D}"/>
              </a:ext>
            </a:extLst>
          </p:cNvPr>
          <p:cNvSpPr>
            <a:spLocks noGrp="1"/>
          </p:cNvSpPr>
          <p:nvPr/>
        </p:nvSpPr>
        <p:spPr>
          <a:xfrm>
            <a:off x="9917994" y="184232"/>
            <a:ext cx="2252133" cy="903816"/>
          </a:xfrm>
          <a:prstGeom prst="rect">
            <a:avLst/>
          </a:prstGeom>
          <a:noFill/>
          <a:ln w="9525">
            <a:noFill/>
          </a:ln>
        </p:spPr>
        <p:txBody>
          <a:bodyPr vert="horz" wrap="square" lIns="91440" tIns="45720" rIns="91440" bIns="45720" anchor="t"/>
          <a:lstStyle/>
          <a:p>
            <a:endParaRPr sz="4267"/>
          </a:p>
        </p:txBody>
      </p:sp>
      <p:sp>
        <p:nvSpPr>
          <p:cNvPr id="9" name="Freeform 5">
            <a:extLst>
              <a:ext uri="{FF2B5EF4-FFF2-40B4-BE49-F238E27FC236}">
                <a16:creationId xmlns:a16="http://schemas.microsoft.com/office/drawing/2014/main" id="{9C445B24-F9B1-8960-5444-7772C7A47F95}"/>
              </a:ext>
            </a:extLst>
          </p:cNvPr>
          <p:cNvSpPr>
            <a:spLocks noGrp="1"/>
          </p:cNvSpPr>
          <p:nvPr/>
        </p:nvSpPr>
        <p:spPr>
          <a:xfrm>
            <a:off x="9917994" y="179999"/>
            <a:ext cx="2272819" cy="910166"/>
          </a:xfrm>
          <a:custGeom>
            <a:avLst/>
            <a:gdLst>
              <a:gd name="T0" fmla="*/ 0 w 2079"/>
              <a:gd name="T1" fmla="*/ 0 h 831"/>
              <a:gd name="T2" fmla="*/ 0 w 2079"/>
              <a:gd name="T3" fmla="*/ 0 h 831"/>
              <a:gd name="T4" fmla="*/ 2079 w 2079"/>
              <a:gd name="T5" fmla="*/ 0 h 831"/>
              <a:gd name="T6" fmla="*/ 2079 w 2079"/>
              <a:gd name="T7" fmla="*/ 831 h 831"/>
              <a:gd name="T8" fmla="*/ 0 w 2079"/>
              <a:gd name="T9" fmla="*/ 831 h 831"/>
              <a:gd name="T10" fmla="*/ 0 w 2079"/>
              <a:gd name="T11" fmla="*/ 0 h 831"/>
            </a:gdLst>
            <a:ahLst/>
            <a:cxnLst/>
            <a:rect l="0" t="0" r="r" b="b"/>
            <a:pathLst>
              <a:path w="2079" h="831">
                <a:moveTo>
                  <a:pt x="0" y="0"/>
                </a:moveTo>
                <a:lnTo>
                  <a:pt x="0" y="0"/>
                </a:lnTo>
                <a:lnTo>
                  <a:pt x="2079" y="0"/>
                </a:lnTo>
                <a:lnTo>
                  <a:pt x="2079" y="831"/>
                </a:lnTo>
                <a:lnTo>
                  <a:pt x="0" y="831"/>
                </a:lnTo>
                <a:lnTo>
                  <a:pt x="0" y="0"/>
                </a:lnTo>
                <a:close/>
              </a:path>
            </a:pathLst>
          </a:custGeom>
          <a:solidFill>
            <a:srgbClr val="FFFFFF"/>
          </a:solidFill>
          <a:ln w="0">
            <a:noFill/>
            <a:prstDash val="solid"/>
          </a:ln>
        </p:spPr>
        <p:txBody>
          <a:bodyPr vert="horz" wrap="square" lIns="91440" tIns="45720" rIns="91440" bIns="45720" anchor="t"/>
          <a:lstStyle/>
          <a:p>
            <a:endParaRPr sz="4267"/>
          </a:p>
        </p:txBody>
      </p:sp>
      <p:sp>
        <p:nvSpPr>
          <p:cNvPr id="10" name="Freeform 6">
            <a:extLst>
              <a:ext uri="{FF2B5EF4-FFF2-40B4-BE49-F238E27FC236}">
                <a16:creationId xmlns:a16="http://schemas.microsoft.com/office/drawing/2014/main" id="{378BFC59-1C78-1D5B-F297-FDAE60A3B3FC}"/>
              </a:ext>
            </a:extLst>
          </p:cNvPr>
          <p:cNvSpPr>
            <a:spLocks noGrp="1"/>
          </p:cNvSpPr>
          <p:nvPr/>
        </p:nvSpPr>
        <p:spPr>
          <a:xfrm>
            <a:off x="9977260" y="205399"/>
            <a:ext cx="700617" cy="768349"/>
          </a:xfrm>
          <a:custGeom>
            <a:avLst/>
            <a:gdLst>
              <a:gd name="T0" fmla="*/ 563 w 647"/>
              <a:gd name="T1" fmla="*/ 676 h 701"/>
              <a:gd name="T2" fmla="*/ 548 w 647"/>
              <a:gd name="T3" fmla="*/ 108 h 701"/>
              <a:gd name="T4" fmla="*/ 625 w 647"/>
              <a:gd name="T5" fmla="*/ 468 h 701"/>
              <a:gd name="T6" fmla="*/ 306 w 647"/>
              <a:gd name="T7" fmla="*/ 570 h 701"/>
              <a:gd name="T8" fmla="*/ 286 w 647"/>
              <a:gd name="T9" fmla="*/ 617 h 701"/>
              <a:gd name="T10" fmla="*/ 352 w 647"/>
              <a:gd name="T11" fmla="*/ 524 h 701"/>
              <a:gd name="T12" fmla="*/ 528 w 647"/>
              <a:gd name="T13" fmla="*/ 313 h 701"/>
              <a:gd name="T14" fmla="*/ 399 w 647"/>
              <a:gd name="T15" fmla="*/ 500 h 701"/>
              <a:gd name="T16" fmla="*/ 231 w 647"/>
              <a:gd name="T17" fmla="*/ 349 h 701"/>
              <a:gd name="T18" fmla="*/ 269 w 647"/>
              <a:gd name="T19" fmla="*/ 246 h 701"/>
              <a:gd name="T20" fmla="*/ 262 w 647"/>
              <a:gd name="T21" fmla="*/ 490 h 701"/>
              <a:gd name="T22" fmla="*/ 283 w 647"/>
              <a:gd name="T23" fmla="*/ 530 h 701"/>
              <a:gd name="T24" fmla="*/ 274 w 647"/>
              <a:gd name="T25" fmla="*/ 517 h 701"/>
              <a:gd name="T26" fmla="*/ 346 w 647"/>
              <a:gd name="T27" fmla="*/ 445 h 701"/>
              <a:gd name="T28" fmla="*/ 323 w 647"/>
              <a:gd name="T29" fmla="*/ 464 h 701"/>
              <a:gd name="T30" fmla="*/ 335 w 647"/>
              <a:gd name="T31" fmla="*/ 381 h 701"/>
              <a:gd name="T32" fmla="*/ 377 w 647"/>
              <a:gd name="T33" fmla="*/ 394 h 701"/>
              <a:gd name="T34" fmla="*/ 407 w 647"/>
              <a:gd name="T35" fmla="*/ 348 h 701"/>
              <a:gd name="T36" fmla="*/ 419 w 647"/>
              <a:gd name="T37" fmla="*/ 329 h 701"/>
              <a:gd name="T38" fmla="*/ 498 w 647"/>
              <a:gd name="T39" fmla="*/ 216 h 701"/>
              <a:gd name="T40" fmla="*/ 229 w 647"/>
              <a:gd name="T41" fmla="*/ 494 h 701"/>
              <a:gd name="T42" fmla="*/ 163 w 647"/>
              <a:gd name="T43" fmla="*/ 505 h 701"/>
              <a:gd name="T44" fmla="*/ 156 w 647"/>
              <a:gd name="T45" fmla="*/ 425 h 701"/>
              <a:gd name="T46" fmla="*/ 140 w 647"/>
              <a:gd name="T47" fmla="*/ 399 h 701"/>
              <a:gd name="T48" fmla="*/ 177 w 647"/>
              <a:gd name="T49" fmla="*/ 283 h 701"/>
              <a:gd name="T50" fmla="*/ 180 w 647"/>
              <a:gd name="T51" fmla="*/ 246 h 701"/>
              <a:gd name="T52" fmla="*/ 290 w 647"/>
              <a:gd name="T53" fmla="*/ 218 h 701"/>
              <a:gd name="T54" fmla="*/ 331 w 647"/>
              <a:gd name="T55" fmla="*/ 113 h 701"/>
              <a:gd name="T56" fmla="*/ 383 w 647"/>
              <a:gd name="T57" fmla="*/ 173 h 701"/>
              <a:gd name="T58" fmla="*/ 457 w 647"/>
              <a:gd name="T59" fmla="*/ 171 h 701"/>
              <a:gd name="T60" fmla="*/ 393 w 647"/>
              <a:gd name="T61" fmla="*/ 265 h 701"/>
              <a:gd name="T62" fmla="*/ 384 w 647"/>
              <a:gd name="T63" fmla="*/ 229 h 701"/>
              <a:gd name="T64" fmla="*/ 384 w 647"/>
              <a:gd name="T65" fmla="*/ 222 h 701"/>
              <a:gd name="T66" fmla="*/ 291 w 647"/>
              <a:gd name="T67" fmla="*/ 250 h 701"/>
              <a:gd name="T68" fmla="*/ 305 w 647"/>
              <a:gd name="T69" fmla="*/ 259 h 701"/>
              <a:gd name="T70" fmla="*/ 257 w 647"/>
              <a:gd name="T71" fmla="*/ 403 h 701"/>
              <a:gd name="T72" fmla="*/ 272 w 647"/>
              <a:gd name="T73" fmla="*/ 361 h 701"/>
              <a:gd name="T74" fmla="*/ 263 w 647"/>
              <a:gd name="T75" fmla="*/ 356 h 701"/>
              <a:gd name="T76" fmla="*/ 236 w 647"/>
              <a:gd name="T77" fmla="*/ 352 h 701"/>
              <a:gd name="T78" fmla="*/ 299 w 647"/>
              <a:gd name="T79" fmla="*/ 337 h 701"/>
              <a:gd name="T80" fmla="*/ 445 w 647"/>
              <a:gd name="T81" fmla="*/ 236 h 701"/>
              <a:gd name="T82" fmla="*/ 412 w 647"/>
              <a:gd name="T83" fmla="*/ 231 h 701"/>
              <a:gd name="T84" fmla="*/ 494 w 647"/>
              <a:gd name="T85" fmla="*/ 221 h 701"/>
              <a:gd name="T86" fmla="*/ 431 w 647"/>
              <a:gd name="T87" fmla="*/ 430 h 701"/>
              <a:gd name="T88" fmla="*/ 572 w 647"/>
              <a:gd name="T89" fmla="*/ 254 h 701"/>
              <a:gd name="T90" fmla="*/ 420 w 647"/>
              <a:gd name="T91" fmla="*/ 452 h 701"/>
              <a:gd name="T92" fmla="*/ 407 w 647"/>
              <a:gd name="T93" fmla="*/ 454 h 701"/>
              <a:gd name="T94" fmla="*/ 573 w 647"/>
              <a:gd name="T95" fmla="*/ 247 h 701"/>
              <a:gd name="T96" fmla="*/ 437 w 647"/>
              <a:gd name="T97" fmla="*/ 534 h 701"/>
              <a:gd name="T98" fmla="*/ 365 w 647"/>
              <a:gd name="T99" fmla="*/ 643 h 701"/>
              <a:gd name="T100" fmla="*/ 331 w 647"/>
              <a:gd name="T101" fmla="*/ 672 h 701"/>
              <a:gd name="T102" fmla="*/ 528 w 647"/>
              <a:gd name="T103" fmla="*/ 594 h 701"/>
              <a:gd name="T104" fmla="*/ 432 w 647"/>
              <a:gd name="T105" fmla="*/ 558 h 701"/>
              <a:gd name="T106" fmla="*/ 586 w 647"/>
              <a:gd name="T107" fmla="*/ 443 h 701"/>
              <a:gd name="T108" fmla="*/ 416 w 647"/>
              <a:gd name="T109" fmla="*/ 463 h 701"/>
              <a:gd name="T110" fmla="*/ 514 w 647"/>
              <a:gd name="T111" fmla="*/ 262 h 701"/>
              <a:gd name="T112" fmla="*/ 339 w 647"/>
              <a:gd name="T113" fmla="*/ 230 h 701"/>
              <a:gd name="T114" fmla="*/ 392 w 647"/>
              <a:gd name="T115" fmla="*/ 534 h 701"/>
              <a:gd name="T116" fmla="*/ 541 w 647"/>
              <a:gd name="T117" fmla="*/ 399 h 701"/>
              <a:gd name="T118" fmla="*/ 567 w 647"/>
              <a:gd name="T119" fmla="*/ 404 h 701"/>
            </a:gdLst>
            <a:ahLst/>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moveTo>
                  <a:pt x="264" y="503"/>
                </a:moveTo>
                <a:lnTo>
                  <a:pt x="264" y="503"/>
                </a:lnTo>
                <a:cubicBezTo>
                  <a:pt x="264" y="504"/>
                  <a:pt x="264" y="504"/>
                  <a:pt x="264" y="504"/>
                </a:cubicBezTo>
                <a:cubicBezTo>
                  <a:pt x="266" y="507"/>
                  <a:pt x="268" y="510"/>
                  <a:pt x="270" y="513"/>
                </a:cubicBezTo>
                <a:cubicBezTo>
                  <a:pt x="281" y="504"/>
                  <a:pt x="292" y="495"/>
                  <a:pt x="301" y="486"/>
                </a:cubicBezTo>
                <a:cubicBezTo>
                  <a:pt x="297" y="483"/>
                  <a:pt x="292" y="481"/>
                  <a:pt x="288" y="479"/>
                </a:cubicBezTo>
                <a:cubicBezTo>
                  <a:pt x="281" y="486"/>
                  <a:pt x="275" y="490"/>
                  <a:pt x="262" y="490"/>
                </a:cubicBezTo>
                <a:cubicBezTo>
                  <a:pt x="260" y="490"/>
                  <a:pt x="259" y="488"/>
                  <a:pt x="260" y="486"/>
                </a:cubicBezTo>
                <a:cubicBezTo>
                  <a:pt x="262" y="479"/>
                  <a:pt x="260" y="461"/>
                  <a:pt x="260" y="452"/>
                </a:cubicBezTo>
                <a:cubicBezTo>
                  <a:pt x="259" y="450"/>
                  <a:pt x="258" y="448"/>
                  <a:pt x="257" y="446"/>
                </a:cubicBezTo>
                <a:cubicBezTo>
                  <a:pt x="253" y="447"/>
                  <a:pt x="249" y="447"/>
                  <a:pt x="243" y="447"/>
                </a:cubicBezTo>
                <a:cubicBezTo>
                  <a:pt x="240" y="447"/>
                  <a:pt x="239" y="444"/>
                  <a:pt x="241" y="442"/>
                </a:cubicBezTo>
                <a:cubicBezTo>
                  <a:pt x="250" y="434"/>
                  <a:pt x="249" y="423"/>
                  <a:pt x="250" y="408"/>
                </a:cubicBezTo>
                <a:cubicBezTo>
                  <a:pt x="245" y="411"/>
                  <a:pt x="237" y="417"/>
                  <a:pt x="233" y="419"/>
                </a:cubicBezTo>
                <a:cubicBezTo>
                  <a:pt x="237" y="458"/>
                  <a:pt x="250" y="483"/>
                  <a:pt x="264" y="503"/>
                </a:cubicBezTo>
                <a:lnTo>
                  <a:pt x="264" y="503"/>
                </a:lnTo>
                <a:close/>
                <a:moveTo>
                  <a:pt x="291" y="540"/>
                </a:moveTo>
                <a:lnTo>
                  <a:pt x="291" y="540"/>
                </a:lnTo>
                <a:cubicBezTo>
                  <a:pt x="406" y="463"/>
                  <a:pt x="451" y="323"/>
                  <a:pt x="554" y="235"/>
                </a:cubicBezTo>
                <a:lnTo>
                  <a:pt x="539" y="232"/>
                </a:lnTo>
                <a:cubicBezTo>
                  <a:pt x="536" y="231"/>
                  <a:pt x="536" y="231"/>
                  <a:pt x="536" y="228"/>
                </a:cubicBezTo>
                <a:lnTo>
                  <a:pt x="539" y="207"/>
                </a:lnTo>
                <a:cubicBezTo>
                  <a:pt x="444" y="303"/>
                  <a:pt x="391" y="462"/>
                  <a:pt x="283" y="530"/>
                </a:cubicBezTo>
                <a:cubicBezTo>
                  <a:pt x="286" y="533"/>
                  <a:pt x="288" y="536"/>
                  <a:pt x="291" y="540"/>
                </a:cubicBezTo>
                <a:lnTo>
                  <a:pt x="291" y="540"/>
                </a:lnTo>
                <a:close/>
                <a:moveTo>
                  <a:pt x="558" y="188"/>
                </a:moveTo>
                <a:lnTo>
                  <a:pt x="558" y="188"/>
                </a:lnTo>
                <a:cubicBezTo>
                  <a:pt x="554" y="192"/>
                  <a:pt x="549" y="196"/>
                  <a:pt x="545" y="200"/>
                </a:cubicBezTo>
                <a:lnTo>
                  <a:pt x="542" y="227"/>
                </a:lnTo>
                <a:lnTo>
                  <a:pt x="560" y="230"/>
                </a:lnTo>
                <a:cubicBezTo>
                  <a:pt x="563" y="228"/>
                  <a:pt x="566" y="225"/>
                  <a:pt x="570" y="222"/>
                </a:cubicBezTo>
                <a:lnTo>
                  <a:pt x="567" y="216"/>
                </a:lnTo>
                <a:cubicBezTo>
                  <a:pt x="562" y="217"/>
                  <a:pt x="557" y="215"/>
                  <a:pt x="555" y="210"/>
                </a:cubicBezTo>
                <a:cubicBezTo>
                  <a:pt x="553" y="204"/>
                  <a:pt x="556" y="199"/>
                  <a:pt x="561" y="197"/>
                </a:cubicBezTo>
                <a:lnTo>
                  <a:pt x="558" y="188"/>
                </a:lnTo>
                <a:lnTo>
                  <a:pt x="558" y="188"/>
                </a:lnTo>
                <a:close/>
                <a:moveTo>
                  <a:pt x="308" y="487"/>
                </a:moveTo>
                <a:lnTo>
                  <a:pt x="308" y="487"/>
                </a:lnTo>
                <a:cubicBezTo>
                  <a:pt x="297" y="498"/>
                  <a:pt x="286" y="508"/>
                  <a:pt x="274" y="517"/>
                </a:cubicBezTo>
                <a:lnTo>
                  <a:pt x="274" y="518"/>
                </a:lnTo>
                <a:cubicBezTo>
                  <a:pt x="276" y="521"/>
                  <a:pt x="278" y="523"/>
                  <a:pt x="280" y="525"/>
                </a:cubicBezTo>
                <a:cubicBezTo>
                  <a:pt x="336" y="490"/>
                  <a:pt x="378" y="429"/>
                  <a:pt x="419" y="364"/>
                </a:cubicBezTo>
                <a:cubicBezTo>
                  <a:pt x="454" y="308"/>
                  <a:pt x="492" y="245"/>
                  <a:pt x="540" y="197"/>
                </a:cubicBezTo>
                <a:cubicBezTo>
                  <a:pt x="540" y="197"/>
                  <a:pt x="541" y="197"/>
                  <a:pt x="541" y="196"/>
                </a:cubicBezTo>
                <a:cubicBezTo>
                  <a:pt x="546" y="192"/>
                  <a:pt x="551" y="187"/>
                  <a:pt x="556" y="183"/>
                </a:cubicBezTo>
                <a:lnTo>
                  <a:pt x="552" y="170"/>
                </a:lnTo>
                <a:cubicBezTo>
                  <a:pt x="533" y="185"/>
                  <a:pt x="516" y="203"/>
                  <a:pt x="500" y="222"/>
                </a:cubicBezTo>
                <a:cubicBezTo>
                  <a:pt x="500" y="222"/>
                  <a:pt x="500" y="223"/>
                  <a:pt x="500" y="223"/>
                </a:cubicBezTo>
                <a:cubicBezTo>
                  <a:pt x="469" y="260"/>
                  <a:pt x="443" y="302"/>
                  <a:pt x="418" y="341"/>
                </a:cubicBezTo>
                <a:cubicBezTo>
                  <a:pt x="405" y="361"/>
                  <a:pt x="392" y="382"/>
                  <a:pt x="378" y="402"/>
                </a:cubicBezTo>
                <a:cubicBezTo>
                  <a:pt x="378" y="402"/>
                  <a:pt x="378" y="402"/>
                  <a:pt x="378" y="402"/>
                </a:cubicBezTo>
                <a:cubicBezTo>
                  <a:pt x="372" y="411"/>
                  <a:pt x="366" y="419"/>
                  <a:pt x="360" y="426"/>
                </a:cubicBezTo>
                <a:cubicBezTo>
                  <a:pt x="360" y="427"/>
                  <a:pt x="360" y="427"/>
                  <a:pt x="360" y="427"/>
                </a:cubicBezTo>
                <a:cubicBezTo>
                  <a:pt x="355" y="433"/>
                  <a:pt x="351" y="439"/>
                  <a:pt x="347" y="444"/>
                </a:cubicBezTo>
                <a:cubicBezTo>
                  <a:pt x="346" y="444"/>
                  <a:pt x="346" y="445"/>
                  <a:pt x="346" y="445"/>
                </a:cubicBezTo>
                <a:cubicBezTo>
                  <a:pt x="340" y="453"/>
                  <a:pt x="333" y="461"/>
                  <a:pt x="326" y="468"/>
                </a:cubicBezTo>
                <a:cubicBezTo>
                  <a:pt x="326" y="469"/>
                  <a:pt x="326" y="469"/>
                  <a:pt x="325" y="469"/>
                </a:cubicBezTo>
                <a:cubicBezTo>
                  <a:pt x="320" y="475"/>
                  <a:pt x="314" y="481"/>
                  <a:pt x="308" y="487"/>
                </a:cubicBezTo>
                <a:lnTo>
                  <a:pt x="308" y="487"/>
                </a:lnTo>
                <a:lnTo>
                  <a:pt x="308" y="487"/>
                </a:lnTo>
                <a:close/>
                <a:moveTo>
                  <a:pt x="306" y="482"/>
                </a:moveTo>
                <a:lnTo>
                  <a:pt x="306" y="482"/>
                </a:lnTo>
                <a:cubicBezTo>
                  <a:pt x="310" y="477"/>
                  <a:pt x="314" y="473"/>
                  <a:pt x="318" y="469"/>
                </a:cubicBezTo>
                <a:cubicBezTo>
                  <a:pt x="292" y="465"/>
                  <a:pt x="277" y="452"/>
                  <a:pt x="272" y="437"/>
                </a:cubicBezTo>
                <a:cubicBezTo>
                  <a:pt x="268" y="440"/>
                  <a:pt x="265" y="443"/>
                  <a:pt x="262" y="444"/>
                </a:cubicBezTo>
                <a:cubicBezTo>
                  <a:pt x="263" y="446"/>
                  <a:pt x="264" y="447"/>
                  <a:pt x="264" y="449"/>
                </a:cubicBezTo>
                <a:cubicBezTo>
                  <a:pt x="265" y="449"/>
                  <a:pt x="265" y="449"/>
                  <a:pt x="265" y="450"/>
                </a:cubicBezTo>
                <a:cubicBezTo>
                  <a:pt x="276" y="467"/>
                  <a:pt x="288" y="472"/>
                  <a:pt x="306" y="482"/>
                </a:cubicBezTo>
                <a:lnTo>
                  <a:pt x="306" y="482"/>
                </a:lnTo>
                <a:close/>
                <a:moveTo>
                  <a:pt x="323" y="464"/>
                </a:moveTo>
                <a:lnTo>
                  <a:pt x="323" y="464"/>
                </a:lnTo>
                <a:cubicBezTo>
                  <a:pt x="327" y="459"/>
                  <a:pt x="331" y="454"/>
                  <a:pt x="335" y="449"/>
                </a:cubicBezTo>
                <a:cubicBezTo>
                  <a:pt x="287" y="463"/>
                  <a:pt x="257" y="387"/>
                  <a:pt x="339" y="356"/>
                </a:cubicBezTo>
                <a:cubicBezTo>
                  <a:pt x="333" y="354"/>
                  <a:pt x="327" y="352"/>
                  <a:pt x="321" y="349"/>
                </a:cubicBezTo>
                <a:cubicBezTo>
                  <a:pt x="268" y="373"/>
                  <a:pt x="250" y="454"/>
                  <a:pt x="323" y="464"/>
                </a:cubicBezTo>
                <a:lnTo>
                  <a:pt x="323" y="464"/>
                </a:lnTo>
                <a:close/>
                <a:moveTo>
                  <a:pt x="343" y="440"/>
                </a:moveTo>
                <a:lnTo>
                  <a:pt x="343" y="440"/>
                </a:lnTo>
                <a:cubicBezTo>
                  <a:pt x="347" y="435"/>
                  <a:pt x="351" y="430"/>
                  <a:pt x="355" y="424"/>
                </a:cubicBezTo>
                <a:cubicBezTo>
                  <a:pt x="357" y="410"/>
                  <a:pt x="353" y="394"/>
                  <a:pt x="336" y="386"/>
                </a:cubicBezTo>
                <a:cubicBezTo>
                  <a:pt x="331" y="389"/>
                  <a:pt x="326" y="392"/>
                  <a:pt x="322" y="396"/>
                </a:cubicBezTo>
                <a:cubicBezTo>
                  <a:pt x="348" y="400"/>
                  <a:pt x="348" y="433"/>
                  <a:pt x="324" y="433"/>
                </a:cubicBezTo>
                <a:cubicBezTo>
                  <a:pt x="305" y="433"/>
                  <a:pt x="306" y="409"/>
                  <a:pt x="314" y="397"/>
                </a:cubicBezTo>
                <a:cubicBezTo>
                  <a:pt x="314" y="397"/>
                  <a:pt x="315" y="396"/>
                  <a:pt x="315" y="396"/>
                </a:cubicBezTo>
                <a:lnTo>
                  <a:pt x="315" y="396"/>
                </a:lnTo>
                <a:cubicBezTo>
                  <a:pt x="319" y="391"/>
                  <a:pt x="325" y="386"/>
                  <a:pt x="334" y="381"/>
                </a:cubicBezTo>
                <a:cubicBezTo>
                  <a:pt x="334" y="381"/>
                  <a:pt x="334" y="381"/>
                  <a:pt x="335" y="381"/>
                </a:cubicBezTo>
                <a:cubicBezTo>
                  <a:pt x="341" y="378"/>
                  <a:pt x="349" y="375"/>
                  <a:pt x="358" y="373"/>
                </a:cubicBezTo>
                <a:cubicBezTo>
                  <a:pt x="358" y="372"/>
                  <a:pt x="359" y="372"/>
                  <a:pt x="359" y="372"/>
                </a:cubicBezTo>
                <a:cubicBezTo>
                  <a:pt x="364" y="371"/>
                  <a:pt x="370" y="370"/>
                  <a:pt x="377" y="369"/>
                </a:cubicBezTo>
                <a:cubicBezTo>
                  <a:pt x="372" y="367"/>
                  <a:pt x="366" y="365"/>
                  <a:pt x="360" y="363"/>
                </a:cubicBezTo>
                <a:cubicBezTo>
                  <a:pt x="356" y="362"/>
                  <a:pt x="352" y="360"/>
                  <a:pt x="348" y="359"/>
                </a:cubicBezTo>
                <a:cubicBezTo>
                  <a:pt x="259" y="388"/>
                  <a:pt x="295" y="466"/>
                  <a:pt x="343" y="440"/>
                </a:cubicBezTo>
                <a:lnTo>
                  <a:pt x="343" y="440"/>
                </a:lnTo>
                <a:close/>
                <a:moveTo>
                  <a:pt x="361" y="416"/>
                </a:moveTo>
                <a:lnTo>
                  <a:pt x="361" y="416"/>
                </a:lnTo>
                <a:cubicBezTo>
                  <a:pt x="365" y="411"/>
                  <a:pt x="369" y="405"/>
                  <a:pt x="373" y="400"/>
                </a:cubicBezTo>
                <a:cubicBezTo>
                  <a:pt x="372" y="395"/>
                  <a:pt x="366" y="385"/>
                  <a:pt x="358" y="378"/>
                </a:cubicBezTo>
                <a:cubicBezTo>
                  <a:pt x="353" y="380"/>
                  <a:pt x="347" y="381"/>
                  <a:pt x="342" y="384"/>
                </a:cubicBezTo>
                <a:cubicBezTo>
                  <a:pt x="356" y="391"/>
                  <a:pt x="361" y="404"/>
                  <a:pt x="361" y="416"/>
                </a:cubicBezTo>
                <a:lnTo>
                  <a:pt x="361" y="416"/>
                </a:lnTo>
                <a:close/>
                <a:moveTo>
                  <a:pt x="377" y="394"/>
                </a:moveTo>
                <a:lnTo>
                  <a:pt x="377" y="394"/>
                </a:lnTo>
                <a:cubicBezTo>
                  <a:pt x="381" y="388"/>
                  <a:pt x="385" y="382"/>
                  <a:pt x="389" y="376"/>
                </a:cubicBezTo>
                <a:cubicBezTo>
                  <a:pt x="388" y="375"/>
                  <a:pt x="387" y="375"/>
                  <a:pt x="386" y="374"/>
                </a:cubicBezTo>
                <a:cubicBezTo>
                  <a:pt x="380" y="375"/>
                  <a:pt x="373" y="375"/>
                  <a:pt x="365" y="377"/>
                </a:cubicBezTo>
                <a:cubicBezTo>
                  <a:pt x="370" y="382"/>
                  <a:pt x="374" y="389"/>
                  <a:pt x="377" y="394"/>
                </a:cubicBezTo>
                <a:lnTo>
                  <a:pt x="377" y="394"/>
                </a:lnTo>
                <a:close/>
                <a:moveTo>
                  <a:pt x="392" y="372"/>
                </a:moveTo>
                <a:lnTo>
                  <a:pt x="392" y="372"/>
                </a:lnTo>
                <a:cubicBezTo>
                  <a:pt x="396" y="365"/>
                  <a:pt x="400" y="359"/>
                  <a:pt x="404" y="353"/>
                </a:cubicBezTo>
                <a:cubicBezTo>
                  <a:pt x="389" y="349"/>
                  <a:pt x="360" y="351"/>
                  <a:pt x="343" y="351"/>
                </a:cubicBezTo>
                <a:cubicBezTo>
                  <a:pt x="349" y="354"/>
                  <a:pt x="355" y="356"/>
                  <a:pt x="362" y="358"/>
                </a:cubicBezTo>
                <a:cubicBezTo>
                  <a:pt x="371" y="361"/>
                  <a:pt x="380" y="364"/>
                  <a:pt x="387" y="369"/>
                </a:cubicBezTo>
                <a:cubicBezTo>
                  <a:pt x="388" y="369"/>
                  <a:pt x="388" y="369"/>
                  <a:pt x="388" y="369"/>
                </a:cubicBezTo>
                <a:cubicBezTo>
                  <a:pt x="389" y="370"/>
                  <a:pt x="391" y="371"/>
                  <a:pt x="392" y="372"/>
                </a:cubicBezTo>
                <a:lnTo>
                  <a:pt x="392" y="372"/>
                </a:lnTo>
                <a:close/>
                <a:moveTo>
                  <a:pt x="407" y="348"/>
                </a:moveTo>
                <a:lnTo>
                  <a:pt x="407" y="348"/>
                </a:lnTo>
                <a:cubicBezTo>
                  <a:pt x="410" y="343"/>
                  <a:pt x="413" y="339"/>
                  <a:pt x="416" y="334"/>
                </a:cubicBezTo>
                <a:cubicBezTo>
                  <a:pt x="399" y="329"/>
                  <a:pt x="371" y="330"/>
                  <a:pt x="354" y="330"/>
                </a:cubicBezTo>
                <a:cubicBezTo>
                  <a:pt x="333" y="331"/>
                  <a:pt x="312" y="331"/>
                  <a:pt x="295" y="327"/>
                </a:cubicBezTo>
                <a:cubicBezTo>
                  <a:pt x="304" y="335"/>
                  <a:pt x="315" y="340"/>
                  <a:pt x="327" y="345"/>
                </a:cubicBezTo>
                <a:cubicBezTo>
                  <a:pt x="335" y="347"/>
                  <a:pt x="356" y="345"/>
                  <a:pt x="363" y="345"/>
                </a:cubicBezTo>
                <a:cubicBezTo>
                  <a:pt x="379" y="345"/>
                  <a:pt x="396" y="345"/>
                  <a:pt x="407" y="348"/>
                </a:cubicBezTo>
                <a:lnTo>
                  <a:pt x="407" y="348"/>
                </a:lnTo>
                <a:close/>
                <a:moveTo>
                  <a:pt x="419" y="329"/>
                </a:moveTo>
                <a:lnTo>
                  <a:pt x="419" y="329"/>
                </a:lnTo>
                <a:cubicBezTo>
                  <a:pt x="421" y="325"/>
                  <a:pt x="424" y="322"/>
                  <a:pt x="426" y="318"/>
                </a:cubicBezTo>
                <a:cubicBezTo>
                  <a:pt x="404" y="309"/>
                  <a:pt x="369" y="312"/>
                  <a:pt x="346" y="312"/>
                </a:cubicBezTo>
                <a:cubicBezTo>
                  <a:pt x="320" y="312"/>
                  <a:pt x="293" y="311"/>
                  <a:pt x="276" y="296"/>
                </a:cubicBezTo>
                <a:cubicBezTo>
                  <a:pt x="279" y="305"/>
                  <a:pt x="283" y="312"/>
                  <a:pt x="287" y="318"/>
                </a:cubicBezTo>
                <a:cubicBezTo>
                  <a:pt x="313" y="329"/>
                  <a:pt x="361" y="323"/>
                  <a:pt x="391" y="325"/>
                </a:cubicBezTo>
                <a:cubicBezTo>
                  <a:pt x="401" y="325"/>
                  <a:pt x="411" y="326"/>
                  <a:pt x="419" y="329"/>
                </a:cubicBezTo>
                <a:lnTo>
                  <a:pt x="419" y="329"/>
                </a:lnTo>
                <a:close/>
                <a:moveTo>
                  <a:pt x="429" y="313"/>
                </a:moveTo>
                <a:lnTo>
                  <a:pt x="429" y="313"/>
                </a:lnTo>
                <a:cubicBezTo>
                  <a:pt x="432" y="309"/>
                  <a:pt x="434" y="305"/>
                  <a:pt x="437" y="301"/>
                </a:cubicBezTo>
                <a:cubicBezTo>
                  <a:pt x="428" y="298"/>
                  <a:pt x="420" y="296"/>
                  <a:pt x="411" y="295"/>
                </a:cubicBezTo>
                <a:cubicBezTo>
                  <a:pt x="411" y="295"/>
                  <a:pt x="411" y="295"/>
                  <a:pt x="410" y="295"/>
                </a:cubicBezTo>
                <a:cubicBezTo>
                  <a:pt x="388" y="291"/>
                  <a:pt x="366" y="292"/>
                  <a:pt x="343" y="293"/>
                </a:cubicBezTo>
                <a:cubicBezTo>
                  <a:pt x="328" y="293"/>
                  <a:pt x="314" y="292"/>
                  <a:pt x="302" y="288"/>
                </a:cubicBezTo>
                <a:cubicBezTo>
                  <a:pt x="301" y="288"/>
                  <a:pt x="301" y="288"/>
                  <a:pt x="301" y="288"/>
                </a:cubicBezTo>
                <a:cubicBezTo>
                  <a:pt x="291" y="285"/>
                  <a:pt x="282" y="279"/>
                  <a:pt x="275" y="269"/>
                </a:cubicBezTo>
                <a:cubicBezTo>
                  <a:pt x="274" y="270"/>
                  <a:pt x="273" y="271"/>
                  <a:pt x="272" y="272"/>
                </a:cubicBezTo>
                <a:cubicBezTo>
                  <a:pt x="273" y="277"/>
                  <a:pt x="273" y="281"/>
                  <a:pt x="274" y="285"/>
                </a:cubicBezTo>
                <a:cubicBezTo>
                  <a:pt x="288" y="304"/>
                  <a:pt x="316" y="307"/>
                  <a:pt x="346" y="307"/>
                </a:cubicBezTo>
                <a:cubicBezTo>
                  <a:pt x="371" y="307"/>
                  <a:pt x="406" y="303"/>
                  <a:pt x="429" y="313"/>
                </a:cubicBezTo>
                <a:lnTo>
                  <a:pt x="429" y="313"/>
                </a:lnTo>
                <a:close/>
                <a:moveTo>
                  <a:pt x="498" y="216"/>
                </a:moveTo>
                <a:lnTo>
                  <a:pt x="498" y="216"/>
                </a:lnTo>
                <a:cubicBezTo>
                  <a:pt x="500" y="213"/>
                  <a:pt x="503" y="210"/>
                  <a:pt x="506" y="207"/>
                </a:cubicBezTo>
                <a:cubicBezTo>
                  <a:pt x="491" y="202"/>
                  <a:pt x="477" y="199"/>
                  <a:pt x="463" y="196"/>
                </a:cubicBezTo>
                <a:cubicBezTo>
                  <a:pt x="463" y="196"/>
                  <a:pt x="462" y="196"/>
                  <a:pt x="462" y="196"/>
                </a:cubicBezTo>
                <a:cubicBezTo>
                  <a:pt x="456" y="195"/>
                  <a:pt x="449" y="195"/>
                  <a:pt x="443" y="194"/>
                </a:cubicBezTo>
                <a:cubicBezTo>
                  <a:pt x="445" y="198"/>
                  <a:pt x="447" y="203"/>
                  <a:pt x="447" y="209"/>
                </a:cubicBezTo>
                <a:cubicBezTo>
                  <a:pt x="450" y="212"/>
                  <a:pt x="452" y="216"/>
                  <a:pt x="452" y="220"/>
                </a:cubicBezTo>
                <a:cubicBezTo>
                  <a:pt x="456" y="218"/>
                  <a:pt x="462" y="217"/>
                  <a:pt x="468" y="219"/>
                </a:cubicBezTo>
                <a:cubicBezTo>
                  <a:pt x="473" y="208"/>
                  <a:pt x="488" y="206"/>
                  <a:pt x="498" y="216"/>
                </a:cubicBezTo>
                <a:lnTo>
                  <a:pt x="498" y="216"/>
                </a:lnTo>
                <a:close/>
                <a:moveTo>
                  <a:pt x="187" y="551"/>
                </a:moveTo>
                <a:lnTo>
                  <a:pt x="187" y="551"/>
                </a:lnTo>
                <a:lnTo>
                  <a:pt x="238" y="513"/>
                </a:lnTo>
                <a:cubicBezTo>
                  <a:pt x="236" y="508"/>
                  <a:pt x="233" y="504"/>
                  <a:pt x="231" y="499"/>
                </a:cubicBezTo>
                <a:lnTo>
                  <a:pt x="188" y="526"/>
                </a:lnTo>
                <a:cubicBezTo>
                  <a:pt x="185" y="528"/>
                  <a:pt x="182" y="523"/>
                  <a:pt x="185" y="521"/>
                </a:cubicBezTo>
                <a:lnTo>
                  <a:pt x="229" y="494"/>
                </a:lnTo>
                <a:cubicBezTo>
                  <a:pt x="227" y="491"/>
                  <a:pt x="225" y="487"/>
                  <a:pt x="224" y="483"/>
                </a:cubicBezTo>
                <a:lnTo>
                  <a:pt x="165" y="511"/>
                </a:lnTo>
                <a:cubicBezTo>
                  <a:pt x="171" y="524"/>
                  <a:pt x="178" y="538"/>
                  <a:pt x="187" y="551"/>
                </a:cubicBezTo>
                <a:lnTo>
                  <a:pt x="187" y="551"/>
                </a:lnTo>
                <a:close/>
                <a:moveTo>
                  <a:pt x="241" y="518"/>
                </a:moveTo>
                <a:lnTo>
                  <a:pt x="241" y="518"/>
                </a:lnTo>
                <a:lnTo>
                  <a:pt x="190" y="556"/>
                </a:lnTo>
                <a:cubicBezTo>
                  <a:pt x="198" y="569"/>
                  <a:pt x="208" y="581"/>
                  <a:pt x="219" y="593"/>
                </a:cubicBezTo>
                <a:lnTo>
                  <a:pt x="259" y="545"/>
                </a:lnTo>
                <a:cubicBezTo>
                  <a:pt x="256" y="542"/>
                  <a:pt x="254" y="538"/>
                  <a:pt x="251" y="534"/>
                </a:cubicBezTo>
                <a:lnTo>
                  <a:pt x="213" y="572"/>
                </a:lnTo>
                <a:cubicBezTo>
                  <a:pt x="210" y="575"/>
                  <a:pt x="207" y="571"/>
                  <a:pt x="209" y="568"/>
                </a:cubicBezTo>
                <a:lnTo>
                  <a:pt x="248" y="530"/>
                </a:lnTo>
                <a:cubicBezTo>
                  <a:pt x="246" y="526"/>
                  <a:pt x="243" y="522"/>
                  <a:pt x="241" y="518"/>
                </a:cubicBezTo>
                <a:lnTo>
                  <a:pt x="241" y="518"/>
                </a:lnTo>
                <a:close/>
                <a:moveTo>
                  <a:pt x="163" y="505"/>
                </a:moveTo>
                <a:lnTo>
                  <a:pt x="163" y="505"/>
                </a:lnTo>
                <a:lnTo>
                  <a:pt x="222" y="478"/>
                </a:lnTo>
                <a:cubicBezTo>
                  <a:pt x="220" y="474"/>
                  <a:pt x="219" y="470"/>
                  <a:pt x="218" y="466"/>
                </a:cubicBezTo>
                <a:lnTo>
                  <a:pt x="169" y="481"/>
                </a:lnTo>
                <a:cubicBezTo>
                  <a:pt x="166" y="482"/>
                  <a:pt x="164" y="476"/>
                  <a:pt x="168" y="475"/>
                </a:cubicBezTo>
                <a:lnTo>
                  <a:pt x="216" y="461"/>
                </a:lnTo>
                <a:cubicBezTo>
                  <a:pt x="214" y="456"/>
                  <a:pt x="213" y="451"/>
                  <a:pt x="212" y="445"/>
                </a:cubicBezTo>
                <a:lnTo>
                  <a:pt x="147" y="459"/>
                </a:lnTo>
                <a:cubicBezTo>
                  <a:pt x="151" y="475"/>
                  <a:pt x="156" y="490"/>
                  <a:pt x="163" y="505"/>
                </a:cubicBezTo>
                <a:lnTo>
                  <a:pt x="163" y="505"/>
                </a:lnTo>
                <a:close/>
                <a:moveTo>
                  <a:pt x="146" y="454"/>
                </a:moveTo>
                <a:lnTo>
                  <a:pt x="146" y="454"/>
                </a:lnTo>
                <a:lnTo>
                  <a:pt x="210" y="440"/>
                </a:lnTo>
                <a:cubicBezTo>
                  <a:pt x="209" y="435"/>
                  <a:pt x="209" y="431"/>
                  <a:pt x="208" y="426"/>
                </a:cubicBezTo>
                <a:lnTo>
                  <a:pt x="157" y="431"/>
                </a:lnTo>
                <a:cubicBezTo>
                  <a:pt x="153" y="431"/>
                  <a:pt x="153" y="426"/>
                  <a:pt x="156" y="425"/>
                </a:cubicBezTo>
                <a:lnTo>
                  <a:pt x="207" y="421"/>
                </a:lnTo>
                <a:cubicBezTo>
                  <a:pt x="206" y="416"/>
                  <a:pt x="206" y="411"/>
                  <a:pt x="206" y="405"/>
                </a:cubicBezTo>
                <a:lnTo>
                  <a:pt x="140" y="404"/>
                </a:lnTo>
                <a:cubicBezTo>
                  <a:pt x="141" y="421"/>
                  <a:pt x="143" y="437"/>
                  <a:pt x="146" y="454"/>
                </a:cubicBezTo>
                <a:lnTo>
                  <a:pt x="146" y="454"/>
                </a:lnTo>
                <a:close/>
                <a:moveTo>
                  <a:pt x="140" y="399"/>
                </a:moveTo>
                <a:lnTo>
                  <a:pt x="140" y="399"/>
                </a:lnTo>
                <a:lnTo>
                  <a:pt x="206" y="400"/>
                </a:lnTo>
                <a:cubicBezTo>
                  <a:pt x="205" y="395"/>
                  <a:pt x="205" y="391"/>
                  <a:pt x="206" y="387"/>
                </a:cubicBezTo>
                <a:lnTo>
                  <a:pt x="155" y="381"/>
                </a:lnTo>
                <a:cubicBezTo>
                  <a:pt x="151" y="381"/>
                  <a:pt x="152" y="375"/>
                  <a:pt x="156" y="375"/>
                </a:cubicBezTo>
                <a:lnTo>
                  <a:pt x="206" y="381"/>
                </a:lnTo>
                <a:cubicBezTo>
                  <a:pt x="206" y="375"/>
                  <a:pt x="207" y="370"/>
                  <a:pt x="207" y="364"/>
                </a:cubicBezTo>
                <a:lnTo>
                  <a:pt x="144" y="351"/>
                </a:lnTo>
                <a:cubicBezTo>
                  <a:pt x="141" y="367"/>
                  <a:pt x="140" y="383"/>
                  <a:pt x="140" y="399"/>
                </a:cubicBezTo>
                <a:lnTo>
                  <a:pt x="140" y="399"/>
                </a:lnTo>
                <a:close/>
                <a:moveTo>
                  <a:pt x="144" y="346"/>
                </a:moveTo>
                <a:lnTo>
                  <a:pt x="144" y="346"/>
                </a:lnTo>
                <a:lnTo>
                  <a:pt x="208" y="359"/>
                </a:lnTo>
                <a:cubicBezTo>
                  <a:pt x="209" y="354"/>
                  <a:pt x="210" y="350"/>
                  <a:pt x="211" y="346"/>
                </a:cubicBezTo>
                <a:lnTo>
                  <a:pt x="162" y="330"/>
                </a:lnTo>
                <a:cubicBezTo>
                  <a:pt x="158" y="329"/>
                  <a:pt x="160" y="324"/>
                  <a:pt x="163" y="325"/>
                </a:cubicBezTo>
                <a:lnTo>
                  <a:pt x="212" y="340"/>
                </a:lnTo>
                <a:cubicBezTo>
                  <a:pt x="213" y="336"/>
                  <a:pt x="214" y="332"/>
                  <a:pt x="215" y="328"/>
                </a:cubicBezTo>
                <a:lnTo>
                  <a:pt x="157" y="299"/>
                </a:lnTo>
                <a:cubicBezTo>
                  <a:pt x="151" y="314"/>
                  <a:pt x="147" y="330"/>
                  <a:pt x="144" y="346"/>
                </a:cubicBezTo>
                <a:lnTo>
                  <a:pt x="144" y="346"/>
                </a:lnTo>
                <a:close/>
                <a:moveTo>
                  <a:pt x="159" y="293"/>
                </a:moveTo>
                <a:lnTo>
                  <a:pt x="159" y="293"/>
                </a:lnTo>
                <a:lnTo>
                  <a:pt x="217" y="322"/>
                </a:lnTo>
                <a:cubicBezTo>
                  <a:pt x="219" y="318"/>
                  <a:pt x="220" y="314"/>
                  <a:pt x="222" y="310"/>
                </a:cubicBezTo>
                <a:lnTo>
                  <a:pt x="177" y="283"/>
                </a:lnTo>
                <a:cubicBezTo>
                  <a:pt x="174" y="281"/>
                  <a:pt x="177" y="276"/>
                  <a:pt x="180" y="278"/>
                </a:cubicBezTo>
                <a:lnTo>
                  <a:pt x="224" y="305"/>
                </a:lnTo>
                <a:cubicBezTo>
                  <a:pt x="226" y="300"/>
                  <a:pt x="228" y="296"/>
                  <a:pt x="230" y="292"/>
                </a:cubicBezTo>
                <a:lnTo>
                  <a:pt x="178" y="251"/>
                </a:lnTo>
                <a:cubicBezTo>
                  <a:pt x="170" y="265"/>
                  <a:pt x="164" y="279"/>
                  <a:pt x="159" y="293"/>
                </a:cubicBezTo>
                <a:lnTo>
                  <a:pt x="159" y="293"/>
                </a:lnTo>
                <a:close/>
                <a:moveTo>
                  <a:pt x="180" y="246"/>
                </a:moveTo>
                <a:lnTo>
                  <a:pt x="180" y="246"/>
                </a:lnTo>
                <a:lnTo>
                  <a:pt x="233" y="287"/>
                </a:lnTo>
                <a:cubicBezTo>
                  <a:pt x="235" y="283"/>
                  <a:pt x="237" y="280"/>
                  <a:pt x="239" y="276"/>
                </a:cubicBezTo>
                <a:lnTo>
                  <a:pt x="200" y="239"/>
                </a:lnTo>
                <a:cubicBezTo>
                  <a:pt x="198" y="237"/>
                  <a:pt x="202" y="233"/>
                  <a:pt x="204" y="235"/>
                </a:cubicBezTo>
                <a:lnTo>
                  <a:pt x="242" y="271"/>
                </a:lnTo>
                <a:cubicBezTo>
                  <a:pt x="245" y="267"/>
                  <a:pt x="248" y="263"/>
                  <a:pt x="251" y="259"/>
                </a:cubicBezTo>
                <a:lnTo>
                  <a:pt x="207" y="208"/>
                </a:lnTo>
                <a:cubicBezTo>
                  <a:pt x="197" y="220"/>
                  <a:pt x="188" y="233"/>
                  <a:pt x="180" y="246"/>
                </a:cubicBezTo>
                <a:lnTo>
                  <a:pt x="180" y="246"/>
                </a:lnTo>
                <a:close/>
                <a:moveTo>
                  <a:pt x="210" y="203"/>
                </a:moveTo>
                <a:lnTo>
                  <a:pt x="210" y="203"/>
                </a:lnTo>
                <a:lnTo>
                  <a:pt x="254" y="254"/>
                </a:lnTo>
                <a:cubicBezTo>
                  <a:pt x="257" y="251"/>
                  <a:pt x="260" y="247"/>
                  <a:pt x="263" y="244"/>
                </a:cubicBezTo>
                <a:lnTo>
                  <a:pt x="230" y="199"/>
                </a:lnTo>
                <a:cubicBezTo>
                  <a:pt x="228" y="196"/>
                  <a:pt x="233" y="193"/>
                  <a:pt x="235" y="196"/>
                </a:cubicBezTo>
                <a:lnTo>
                  <a:pt x="267" y="240"/>
                </a:lnTo>
                <a:cubicBezTo>
                  <a:pt x="270" y="236"/>
                  <a:pt x="273" y="233"/>
                  <a:pt x="277" y="230"/>
                </a:cubicBezTo>
                <a:lnTo>
                  <a:pt x="242" y="169"/>
                </a:lnTo>
                <a:cubicBezTo>
                  <a:pt x="231" y="180"/>
                  <a:pt x="220" y="191"/>
                  <a:pt x="210" y="203"/>
                </a:cubicBezTo>
                <a:lnTo>
                  <a:pt x="210" y="203"/>
                </a:lnTo>
                <a:close/>
                <a:moveTo>
                  <a:pt x="246" y="166"/>
                </a:moveTo>
                <a:lnTo>
                  <a:pt x="246" y="166"/>
                </a:lnTo>
                <a:lnTo>
                  <a:pt x="281" y="226"/>
                </a:lnTo>
                <a:cubicBezTo>
                  <a:pt x="284" y="223"/>
                  <a:pt x="287" y="220"/>
                  <a:pt x="290" y="218"/>
                </a:cubicBezTo>
                <a:lnTo>
                  <a:pt x="267" y="165"/>
                </a:lnTo>
                <a:cubicBezTo>
                  <a:pt x="266" y="161"/>
                  <a:pt x="271" y="159"/>
                  <a:pt x="273" y="163"/>
                </a:cubicBezTo>
                <a:lnTo>
                  <a:pt x="295" y="214"/>
                </a:lnTo>
                <a:cubicBezTo>
                  <a:pt x="299" y="211"/>
                  <a:pt x="303" y="208"/>
                  <a:pt x="307" y="205"/>
                </a:cubicBezTo>
                <a:lnTo>
                  <a:pt x="284" y="137"/>
                </a:lnTo>
                <a:cubicBezTo>
                  <a:pt x="271" y="146"/>
                  <a:pt x="258" y="155"/>
                  <a:pt x="246" y="166"/>
                </a:cubicBezTo>
                <a:lnTo>
                  <a:pt x="246" y="166"/>
                </a:lnTo>
                <a:close/>
                <a:moveTo>
                  <a:pt x="289" y="134"/>
                </a:moveTo>
                <a:lnTo>
                  <a:pt x="289" y="134"/>
                </a:lnTo>
                <a:lnTo>
                  <a:pt x="312" y="202"/>
                </a:lnTo>
                <a:cubicBezTo>
                  <a:pt x="316" y="200"/>
                  <a:pt x="319" y="198"/>
                  <a:pt x="323" y="196"/>
                </a:cubicBezTo>
                <a:lnTo>
                  <a:pt x="310" y="139"/>
                </a:lnTo>
                <a:cubicBezTo>
                  <a:pt x="309" y="135"/>
                  <a:pt x="314" y="134"/>
                  <a:pt x="315" y="137"/>
                </a:cubicBezTo>
                <a:lnTo>
                  <a:pt x="328" y="193"/>
                </a:lnTo>
                <a:cubicBezTo>
                  <a:pt x="332" y="191"/>
                  <a:pt x="336" y="189"/>
                  <a:pt x="340" y="187"/>
                </a:cubicBezTo>
                <a:lnTo>
                  <a:pt x="331" y="113"/>
                </a:lnTo>
                <a:cubicBezTo>
                  <a:pt x="316" y="119"/>
                  <a:pt x="302" y="126"/>
                  <a:pt x="289" y="134"/>
                </a:cubicBezTo>
                <a:lnTo>
                  <a:pt x="289" y="134"/>
                </a:lnTo>
                <a:close/>
                <a:moveTo>
                  <a:pt x="336" y="111"/>
                </a:moveTo>
                <a:lnTo>
                  <a:pt x="336" y="111"/>
                </a:lnTo>
                <a:lnTo>
                  <a:pt x="346" y="185"/>
                </a:lnTo>
                <a:cubicBezTo>
                  <a:pt x="350" y="183"/>
                  <a:pt x="354" y="181"/>
                  <a:pt x="359" y="180"/>
                </a:cubicBezTo>
                <a:lnTo>
                  <a:pt x="357" y="118"/>
                </a:lnTo>
                <a:cubicBezTo>
                  <a:pt x="357" y="114"/>
                  <a:pt x="362" y="114"/>
                  <a:pt x="362" y="118"/>
                </a:cubicBezTo>
                <a:lnTo>
                  <a:pt x="364" y="178"/>
                </a:lnTo>
                <a:cubicBezTo>
                  <a:pt x="369" y="176"/>
                  <a:pt x="373" y="175"/>
                  <a:pt x="377" y="174"/>
                </a:cubicBezTo>
                <a:lnTo>
                  <a:pt x="383" y="97"/>
                </a:lnTo>
                <a:cubicBezTo>
                  <a:pt x="367" y="100"/>
                  <a:pt x="351" y="105"/>
                  <a:pt x="336" y="111"/>
                </a:cubicBezTo>
                <a:lnTo>
                  <a:pt x="336" y="111"/>
                </a:lnTo>
                <a:close/>
                <a:moveTo>
                  <a:pt x="388" y="96"/>
                </a:moveTo>
                <a:lnTo>
                  <a:pt x="388" y="96"/>
                </a:lnTo>
                <a:lnTo>
                  <a:pt x="383" y="173"/>
                </a:lnTo>
                <a:cubicBezTo>
                  <a:pt x="388" y="172"/>
                  <a:pt x="393" y="171"/>
                  <a:pt x="398" y="170"/>
                </a:cubicBezTo>
                <a:lnTo>
                  <a:pt x="408" y="109"/>
                </a:lnTo>
                <a:cubicBezTo>
                  <a:pt x="408" y="106"/>
                  <a:pt x="414" y="107"/>
                  <a:pt x="413" y="110"/>
                </a:cubicBezTo>
                <a:lnTo>
                  <a:pt x="404" y="169"/>
                </a:lnTo>
                <a:cubicBezTo>
                  <a:pt x="408" y="169"/>
                  <a:pt x="412" y="169"/>
                  <a:pt x="416" y="168"/>
                </a:cubicBezTo>
                <a:lnTo>
                  <a:pt x="436" y="91"/>
                </a:lnTo>
                <a:cubicBezTo>
                  <a:pt x="420" y="92"/>
                  <a:pt x="404" y="93"/>
                  <a:pt x="388" y="96"/>
                </a:cubicBezTo>
                <a:lnTo>
                  <a:pt x="388" y="96"/>
                </a:lnTo>
                <a:close/>
                <a:moveTo>
                  <a:pt x="442" y="91"/>
                </a:moveTo>
                <a:lnTo>
                  <a:pt x="442" y="91"/>
                </a:lnTo>
                <a:lnTo>
                  <a:pt x="422" y="168"/>
                </a:lnTo>
                <a:cubicBezTo>
                  <a:pt x="427" y="168"/>
                  <a:pt x="432" y="168"/>
                  <a:pt x="437" y="168"/>
                </a:cubicBezTo>
                <a:lnTo>
                  <a:pt x="456" y="108"/>
                </a:lnTo>
                <a:cubicBezTo>
                  <a:pt x="457" y="104"/>
                  <a:pt x="463" y="106"/>
                  <a:pt x="462" y="109"/>
                </a:cubicBezTo>
                <a:lnTo>
                  <a:pt x="443" y="169"/>
                </a:lnTo>
                <a:cubicBezTo>
                  <a:pt x="448" y="169"/>
                  <a:pt x="452" y="170"/>
                  <a:pt x="457" y="171"/>
                </a:cubicBezTo>
                <a:lnTo>
                  <a:pt x="489" y="95"/>
                </a:lnTo>
                <a:cubicBezTo>
                  <a:pt x="473" y="93"/>
                  <a:pt x="457" y="91"/>
                  <a:pt x="442" y="91"/>
                </a:cubicBezTo>
                <a:lnTo>
                  <a:pt x="442" y="91"/>
                </a:lnTo>
                <a:close/>
                <a:moveTo>
                  <a:pt x="495" y="96"/>
                </a:moveTo>
                <a:lnTo>
                  <a:pt x="495" y="96"/>
                </a:lnTo>
                <a:lnTo>
                  <a:pt x="463" y="172"/>
                </a:lnTo>
                <a:cubicBezTo>
                  <a:pt x="467" y="172"/>
                  <a:pt x="471" y="173"/>
                  <a:pt x="475" y="174"/>
                </a:cubicBezTo>
                <a:lnTo>
                  <a:pt x="507" y="113"/>
                </a:lnTo>
                <a:cubicBezTo>
                  <a:pt x="509" y="110"/>
                  <a:pt x="514" y="112"/>
                  <a:pt x="512" y="116"/>
                </a:cubicBezTo>
                <a:lnTo>
                  <a:pt x="481" y="176"/>
                </a:lnTo>
                <a:cubicBezTo>
                  <a:pt x="486" y="177"/>
                  <a:pt x="492" y="179"/>
                  <a:pt x="497" y="181"/>
                </a:cubicBezTo>
                <a:lnTo>
                  <a:pt x="541" y="108"/>
                </a:lnTo>
                <a:cubicBezTo>
                  <a:pt x="526" y="103"/>
                  <a:pt x="510" y="99"/>
                  <a:pt x="495" y="96"/>
                </a:cubicBezTo>
                <a:lnTo>
                  <a:pt x="495" y="96"/>
                </a:lnTo>
                <a:close/>
                <a:moveTo>
                  <a:pt x="393" y="265"/>
                </a:moveTo>
                <a:lnTo>
                  <a:pt x="393" y="265"/>
                </a:lnTo>
                <a:cubicBezTo>
                  <a:pt x="393" y="266"/>
                  <a:pt x="393" y="266"/>
                  <a:pt x="393" y="267"/>
                </a:cubicBezTo>
                <a:cubicBezTo>
                  <a:pt x="392" y="267"/>
                  <a:pt x="392" y="267"/>
                  <a:pt x="391" y="268"/>
                </a:cubicBezTo>
                <a:cubicBezTo>
                  <a:pt x="391" y="268"/>
                  <a:pt x="391" y="268"/>
                  <a:pt x="391" y="268"/>
                </a:cubicBezTo>
                <a:cubicBezTo>
                  <a:pt x="386" y="269"/>
                  <a:pt x="381" y="268"/>
                  <a:pt x="377" y="268"/>
                </a:cubicBezTo>
                <a:cubicBezTo>
                  <a:pt x="376" y="268"/>
                  <a:pt x="376" y="268"/>
                  <a:pt x="375" y="269"/>
                </a:cubicBezTo>
                <a:cubicBezTo>
                  <a:pt x="376" y="274"/>
                  <a:pt x="379" y="281"/>
                  <a:pt x="385" y="287"/>
                </a:cubicBezTo>
                <a:cubicBezTo>
                  <a:pt x="389" y="287"/>
                  <a:pt x="393" y="287"/>
                  <a:pt x="398" y="288"/>
                </a:cubicBezTo>
                <a:lnTo>
                  <a:pt x="410" y="236"/>
                </a:lnTo>
                <a:cubicBezTo>
                  <a:pt x="396" y="232"/>
                  <a:pt x="393" y="208"/>
                  <a:pt x="411" y="204"/>
                </a:cubicBezTo>
                <a:cubicBezTo>
                  <a:pt x="411" y="200"/>
                  <a:pt x="413" y="197"/>
                  <a:pt x="416" y="194"/>
                </a:cubicBezTo>
                <a:cubicBezTo>
                  <a:pt x="406" y="195"/>
                  <a:pt x="396" y="196"/>
                  <a:pt x="387" y="198"/>
                </a:cubicBezTo>
                <a:lnTo>
                  <a:pt x="390" y="227"/>
                </a:lnTo>
                <a:cubicBezTo>
                  <a:pt x="390" y="227"/>
                  <a:pt x="390" y="227"/>
                  <a:pt x="390" y="228"/>
                </a:cubicBezTo>
                <a:lnTo>
                  <a:pt x="390" y="231"/>
                </a:lnTo>
                <a:cubicBezTo>
                  <a:pt x="390" y="234"/>
                  <a:pt x="385" y="235"/>
                  <a:pt x="384" y="231"/>
                </a:cubicBezTo>
                <a:lnTo>
                  <a:pt x="384" y="229"/>
                </a:lnTo>
                <a:lnTo>
                  <a:pt x="373" y="221"/>
                </a:lnTo>
                <a:cubicBezTo>
                  <a:pt x="370" y="223"/>
                  <a:pt x="368" y="227"/>
                  <a:pt x="368" y="231"/>
                </a:cubicBezTo>
                <a:cubicBezTo>
                  <a:pt x="368" y="239"/>
                  <a:pt x="374" y="245"/>
                  <a:pt x="382" y="245"/>
                </a:cubicBezTo>
                <a:cubicBezTo>
                  <a:pt x="383" y="245"/>
                  <a:pt x="384" y="245"/>
                  <a:pt x="386" y="245"/>
                </a:cubicBezTo>
                <a:lnTo>
                  <a:pt x="386" y="244"/>
                </a:lnTo>
                <a:cubicBezTo>
                  <a:pt x="385" y="240"/>
                  <a:pt x="391" y="239"/>
                  <a:pt x="391" y="243"/>
                </a:cubicBezTo>
                <a:lnTo>
                  <a:pt x="391" y="246"/>
                </a:lnTo>
                <a:cubicBezTo>
                  <a:pt x="392" y="246"/>
                  <a:pt x="392" y="246"/>
                  <a:pt x="392" y="247"/>
                </a:cubicBezTo>
                <a:lnTo>
                  <a:pt x="393" y="265"/>
                </a:lnTo>
                <a:cubicBezTo>
                  <a:pt x="393" y="265"/>
                  <a:pt x="393" y="265"/>
                  <a:pt x="393" y="265"/>
                </a:cubicBezTo>
                <a:lnTo>
                  <a:pt x="393" y="265"/>
                </a:lnTo>
                <a:close/>
                <a:moveTo>
                  <a:pt x="372" y="214"/>
                </a:moveTo>
                <a:lnTo>
                  <a:pt x="372" y="214"/>
                </a:lnTo>
                <a:lnTo>
                  <a:pt x="374" y="215"/>
                </a:lnTo>
                <a:cubicBezTo>
                  <a:pt x="374" y="215"/>
                  <a:pt x="374" y="215"/>
                  <a:pt x="375" y="215"/>
                </a:cubicBezTo>
                <a:lnTo>
                  <a:pt x="384" y="222"/>
                </a:lnTo>
                <a:lnTo>
                  <a:pt x="382" y="199"/>
                </a:lnTo>
                <a:cubicBezTo>
                  <a:pt x="374" y="201"/>
                  <a:pt x="367" y="203"/>
                  <a:pt x="360" y="206"/>
                </a:cubicBezTo>
                <a:cubicBezTo>
                  <a:pt x="346" y="221"/>
                  <a:pt x="347" y="238"/>
                  <a:pt x="356" y="250"/>
                </a:cubicBezTo>
                <a:cubicBezTo>
                  <a:pt x="357" y="250"/>
                  <a:pt x="357" y="250"/>
                  <a:pt x="357" y="250"/>
                </a:cubicBezTo>
                <a:cubicBezTo>
                  <a:pt x="364" y="259"/>
                  <a:pt x="376" y="264"/>
                  <a:pt x="387" y="263"/>
                </a:cubicBezTo>
                <a:lnTo>
                  <a:pt x="386" y="250"/>
                </a:lnTo>
                <a:cubicBezTo>
                  <a:pt x="385" y="251"/>
                  <a:pt x="383" y="251"/>
                  <a:pt x="382" y="251"/>
                </a:cubicBezTo>
                <a:cubicBezTo>
                  <a:pt x="371" y="251"/>
                  <a:pt x="362" y="242"/>
                  <a:pt x="362" y="231"/>
                </a:cubicBezTo>
                <a:cubicBezTo>
                  <a:pt x="362" y="226"/>
                  <a:pt x="365" y="221"/>
                  <a:pt x="368" y="217"/>
                </a:cubicBezTo>
                <a:cubicBezTo>
                  <a:pt x="367" y="215"/>
                  <a:pt x="370" y="212"/>
                  <a:pt x="372" y="214"/>
                </a:cubicBezTo>
                <a:lnTo>
                  <a:pt x="372" y="214"/>
                </a:lnTo>
                <a:close/>
                <a:moveTo>
                  <a:pt x="370" y="266"/>
                </a:moveTo>
                <a:lnTo>
                  <a:pt x="370" y="266"/>
                </a:lnTo>
                <a:cubicBezTo>
                  <a:pt x="364" y="263"/>
                  <a:pt x="358" y="260"/>
                  <a:pt x="354" y="255"/>
                </a:cubicBezTo>
                <a:cubicBezTo>
                  <a:pt x="334" y="260"/>
                  <a:pt x="317" y="245"/>
                  <a:pt x="311" y="233"/>
                </a:cubicBezTo>
                <a:cubicBezTo>
                  <a:pt x="304" y="238"/>
                  <a:pt x="297" y="244"/>
                  <a:pt x="291" y="250"/>
                </a:cubicBezTo>
                <a:lnTo>
                  <a:pt x="303" y="253"/>
                </a:lnTo>
                <a:cubicBezTo>
                  <a:pt x="304" y="253"/>
                  <a:pt x="304" y="253"/>
                  <a:pt x="304" y="253"/>
                </a:cubicBezTo>
                <a:lnTo>
                  <a:pt x="307" y="254"/>
                </a:lnTo>
                <a:cubicBezTo>
                  <a:pt x="307" y="254"/>
                  <a:pt x="308" y="254"/>
                  <a:pt x="308" y="255"/>
                </a:cubicBezTo>
                <a:cubicBezTo>
                  <a:pt x="309" y="255"/>
                  <a:pt x="309" y="255"/>
                  <a:pt x="309" y="256"/>
                </a:cubicBezTo>
                <a:cubicBezTo>
                  <a:pt x="323" y="272"/>
                  <a:pt x="357" y="272"/>
                  <a:pt x="370" y="266"/>
                </a:cubicBezTo>
                <a:lnTo>
                  <a:pt x="370" y="266"/>
                </a:lnTo>
                <a:close/>
                <a:moveTo>
                  <a:pt x="350" y="250"/>
                </a:moveTo>
                <a:lnTo>
                  <a:pt x="350" y="250"/>
                </a:lnTo>
                <a:cubicBezTo>
                  <a:pt x="342" y="239"/>
                  <a:pt x="341" y="225"/>
                  <a:pt x="350" y="210"/>
                </a:cubicBezTo>
                <a:cubicBezTo>
                  <a:pt x="338" y="215"/>
                  <a:pt x="326" y="222"/>
                  <a:pt x="315" y="230"/>
                </a:cubicBezTo>
                <a:cubicBezTo>
                  <a:pt x="320" y="240"/>
                  <a:pt x="334" y="252"/>
                  <a:pt x="350" y="250"/>
                </a:cubicBezTo>
                <a:lnTo>
                  <a:pt x="350" y="250"/>
                </a:lnTo>
                <a:close/>
                <a:moveTo>
                  <a:pt x="305" y="260"/>
                </a:moveTo>
                <a:lnTo>
                  <a:pt x="305" y="260"/>
                </a:lnTo>
                <a:lnTo>
                  <a:pt x="305" y="259"/>
                </a:lnTo>
                <a:cubicBezTo>
                  <a:pt x="303" y="265"/>
                  <a:pt x="303" y="277"/>
                  <a:pt x="304" y="283"/>
                </a:cubicBezTo>
                <a:cubicBezTo>
                  <a:pt x="315" y="287"/>
                  <a:pt x="328" y="287"/>
                  <a:pt x="343" y="287"/>
                </a:cubicBezTo>
                <a:cubicBezTo>
                  <a:pt x="355" y="287"/>
                  <a:pt x="366" y="287"/>
                  <a:pt x="377" y="287"/>
                </a:cubicBezTo>
                <a:cubicBezTo>
                  <a:pt x="373" y="282"/>
                  <a:pt x="371" y="276"/>
                  <a:pt x="370" y="272"/>
                </a:cubicBezTo>
                <a:cubicBezTo>
                  <a:pt x="353" y="278"/>
                  <a:pt x="320" y="276"/>
                  <a:pt x="305" y="260"/>
                </a:cubicBezTo>
                <a:lnTo>
                  <a:pt x="305" y="260"/>
                </a:lnTo>
                <a:close/>
                <a:moveTo>
                  <a:pt x="315" y="346"/>
                </a:moveTo>
                <a:lnTo>
                  <a:pt x="315" y="346"/>
                </a:lnTo>
                <a:cubicBezTo>
                  <a:pt x="311" y="345"/>
                  <a:pt x="308" y="343"/>
                  <a:pt x="304" y="341"/>
                </a:cubicBezTo>
                <a:cubicBezTo>
                  <a:pt x="300" y="344"/>
                  <a:pt x="296" y="346"/>
                  <a:pt x="293" y="349"/>
                </a:cubicBezTo>
                <a:cubicBezTo>
                  <a:pt x="293" y="349"/>
                  <a:pt x="292" y="350"/>
                  <a:pt x="292" y="350"/>
                </a:cubicBezTo>
                <a:cubicBezTo>
                  <a:pt x="285" y="356"/>
                  <a:pt x="279" y="362"/>
                  <a:pt x="274" y="367"/>
                </a:cubicBezTo>
                <a:cubicBezTo>
                  <a:pt x="274" y="367"/>
                  <a:pt x="274" y="368"/>
                  <a:pt x="274" y="368"/>
                </a:cubicBezTo>
                <a:cubicBezTo>
                  <a:pt x="272" y="370"/>
                  <a:pt x="270" y="373"/>
                  <a:pt x="268" y="375"/>
                </a:cubicBezTo>
                <a:cubicBezTo>
                  <a:pt x="268" y="376"/>
                  <a:pt x="268" y="376"/>
                  <a:pt x="268" y="376"/>
                </a:cubicBezTo>
                <a:cubicBezTo>
                  <a:pt x="261" y="386"/>
                  <a:pt x="258" y="395"/>
                  <a:pt x="257" y="403"/>
                </a:cubicBezTo>
                <a:cubicBezTo>
                  <a:pt x="255" y="415"/>
                  <a:pt x="256" y="431"/>
                  <a:pt x="249" y="441"/>
                </a:cubicBezTo>
                <a:cubicBezTo>
                  <a:pt x="260" y="440"/>
                  <a:pt x="263" y="437"/>
                  <a:pt x="270" y="431"/>
                </a:cubicBezTo>
                <a:cubicBezTo>
                  <a:pt x="263" y="401"/>
                  <a:pt x="285" y="362"/>
                  <a:pt x="315" y="346"/>
                </a:cubicBezTo>
                <a:lnTo>
                  <a:pt x="315" y="346"/>
                </a:lnTo>
                <a:close/>
                <a:moveTo>
                  <a:pt x="318" y="401"/>
                </a:moveTo>
                <a:lnTo>
                  <a:pt x="318" y="401"/>
                </a:lnTo>
                <a:cubicBezTo>
                  <a:pt x="317" y="402"/>
                  <a:pt x="317" y="403"/>
                  <a:pt x="316" y="405"/>
                </a:cubicBezTo>
                <a:cubicBezTo>
                  <a:pt x="310" y="417"/>
                  <a:pt x="317" y="427"/>
                  <a:pt x="324" y="427"/>
                </a:cubicBezTo>
                <a:cubicBezTo>
                  <a:pt x="342" y="427"/>
                  <a:pt x="341" y="402"/>
                  <a:pt x="318" y="401"/>
                </a:cubicBezTo>
                <a:lnTo>
                  <a:pt x="318" y="401"/>
                </a:lnTo>
                <a:close/>
                <a:moveTo>
                  <a:pt x="286" y="347"/>
                </a:moveTo>
                <a:lnTo>
                  <a:pt x="286" y="347"/>
                </a:lnTo>
                <a:cubicBezTo>
                  <a:pt x="277" y="340"/>
                  <a:pt x="266" y="331"/>
                  <a:pt x="261" y="320"/>
                </a:cubicBezTo>
                <a:cubicBezTo>
                  <a:pt x="260" y="326"/>
                  <a:pt x="260" y="332"/>
                  <a:pt x="262" y="338"/>
                </a:cubicBezTo>
                <a:lnTo>
                  <a:pt x="262" y="338"/>
                </a:lnTo>
                <a:cubicBezTo>
                  <a:pt x="264" y="347"/>
                  <a:pt x="268" y="355"/>
                  <a:pt x="272" y="361"/>
                </a:cubicBezTo>
                <a:cubicBezTo>
                  <a:pt x="276" y="357"/>
                  <a:pt x="281" y="352"/>
                  <a:pt x="286" y="347"/>
                </a:cubicBezTo>
                <a:lnTo>
                  <a:pt x="286" y="347"/>
                </a:lnTo>
                <a:close/>
                <a:moveTo>
                  <a:pt x="266" y="460"/>
                </a:moveTo>
                <a:lnTo>
                  <a:pt x="266" y="460"/>
                </a:lnTo>
                <a:cubicBezTo>
                  <a:pt x="266" y="468"/>
                  <a:pt x="267" y="476"/>
                  <a:pt x="266" y="484"/>
                </a:cubicBezTo>
                <a:cubicBezTo>
                  <a:pt x="275" y="483"/>
                  <a:pt x="278" y="481"/>
                  <a:pt x="283" y="476"/>
                </a:cubicBezTo>
                <a:cubicBezTo>
                  <a:pt x="277" y="472"/>
                  <a:pt x="271" y="467"/>
                  <a:pt x="266" y="460"/>
                </a:cubicBezTo>
                <a:lnTo>
                  <a:pt x="266" y="460"/>
                </a:lnTo>
                <a:close/>
                <a:moveTo>
                  <a:pt x="263" y="356"/>
                </a:moveTo>
                <a:lnTo>
                  <a:pt x="263" y="356"/>
                </a:lnTo>
                <a:lnTo>
                  <a:pt x="252" y="362"/>
                </a:lnTo>
                <a:lnTo>
                  <a:pt x="258" y="374"/>
                </a:lnTo>
                <a:cubicBezTo>
                  <a:pt x="260" y="373"/>
                  <a:pt x="262" y="372"/>
                  <a:pt x="264" y="372"/>
                </a:cubicBezTo>
                <a:cubicBezTo>
                  <a:pt x="265" y="370"/>
                  <a:pt x="267" y="368"/>
                  <a:pt x="269" y="366"/>
                </a:cubicBezTo>
                <a:cubicBezTo>
                  <a:pt x="267" y="363"/>
                  <a:pt x="265" y="359"/>
                  <a:pt x="263" y="356"/>
                </a:cubicBezTo>
                <a:lnTo>
                  <a:pt x="263" y="356"/>
                </a:lnTo>
                <a:close/>
                <a:moveTo>
                  <a:pt x="232" y="406"/>
                </a:moveTo>
                <a:lnTo>
                  <a:pt x="232" y="406"/>
                </a:lnTo>
                <a:cubicBezTo>
                  <a:pt x="232" y="408"/>
                  <a:pt x="232" y="411"/>
                  <a:pt x="232" y="413"/>
                </a:cubicBezTo>
                <a:cubicBezTo>
                  <a:pt x="238" y="409"/>
                  <a:pt x="246" y="403"/>
                  <a:pt x="251" y="402"/>
                </a:cubicBezTo>
                <a:cubicBezTo>
                  <a:pt x="253" y="395"/>
                  <a:pt x="255" y="388"/>
                  <a:pt x="259" y="379"/>
                </a:cubicBezTo>
                <a:cubicBezTo>
                  <a:pt x="259" y="380"/>
                  <a:pt x="258" y="380"/>
                  <a:pt x="258" y="380"/>
                </a:cubicBezTo>
                <a:cubicBezTo>
                  <a:pt x="258" y="380"/>
                  <a:pt x="258" y="380"/>
                  <a:pt x="258" y="380"/>
                </a:cubicBezTo>
                <a:cubicBezTo>
                  <a:pt x="246" y="387"/>
                  <a:pt x="234" y="401"/>
                  <a:pt x="232" y="406"/>
                </a:cubicBezTo>
                <a:lnTo>
                  <a:pt x="232" y="406"/>
                </a:lnTo>
                <a:close/>
                <a:moveTo>
                  <a:pt x="233" y="371"/>
                </a:moveTo>
                <a:lnTo>
                  <a:pt x="233" y="371"/>
                </a:lnTo>
                <a:cubicBezTo>
                  <a:pt x="232" y="379"/>
                  <a:pt x="231" y="388"/>
                  <a:pt x="232" y="397"/>
                </a:cubicBezTo>
                <a:cubicBezTo>
                  <a:pt x="234" y="393"/>
                  <a:pt x="238" y="389"/>
                  <a:pt x="242" y="385"/>
                </a:cubicBezTo>
                <a:lnTo>
                  <a:pt x="233" y="371"/>
                </a:lnTo>
                <a:lnTo>
                  <a:pt x="233" y="371"/>
                </a:lnTo>
                <a:close/>
                <a:moveTo>
                  <a:pt x="236" y="352"/>
                </a:moveTo>
                <a:lnTo>
                  <a:pt x="236" y="352"/>
                </a:lnTo>
                <a:cubicBezTo>
                  <a:pt x="235" y="355"/>
                  <a:pt x="235" y="359"/>
                  <a:pt x="234" y="362"/>
                </a:cubicBezTo>
                <a:lnTo>
                  <a:pt x="246" y="381"/>
                </a:lnTo>
                <a:cubicBezTo>
                  <a:pt x="248" y="380"/>
                  <a:pt x="251" y="378"/>
                  <a:pt x="253" y="377"/>
                </a:cubicBezTo>
                <a:cubicBezTo>
                  <a:pt x="243" y="357"/>
                  <a:pt x="241" y="361"/>
                  <a:pt x="260" y="351"/>
                </a:cubicBezTo>
                <a:cubicBezTo>
                  <a:pt x="259" y="348"/>
                  <a:pt x="258" y="345"/>
                  <a:pt x="257" y="342"/>
                </a:cubicBezTo>
                <a:cubicBezTo>
                  <a:pt x="252" y="343"/>
                  <a:pt x="243" y="347"/>
                  <a:pt x="236" y="352"/>
                </a:cubicBezTo>
                <a:lnTo>
                  <a:pt x="236" y="352"/>
                </a:lnTo>
                <a:close/>
                <a:moveTo>
                  <a:pt x="267" y="279"/>
                </a:moveTo>
                <a:lnTo>
                  <a:pt x="267" y="279"/>
                </a:lnTo>
                <a:cubicBezTo>
                  <a:pt x="254" y="299"/>
                  <a:pt x="244" y="321"/>
                  <a:pt x="238" y="344"/>
                </a:cubicBezTo>
                <a:cubicBezTo>
                  <a:pt x="244" y="340"/>
                  <a:pt x="251" y="338"/>
                  <a:pt x="255" y="336"/>
                </a:cubicBezTo>
                <a:cubicBezTo>
                  <a:pt x="254" y="328"/>
                  <a:pt x="254" y="319"/>
                  <a:pt x="258" y="309"/>
                </a:cubicBezTo>
                <a:cubicBezTo>
                  <a:pt x="259" y="306"/>
                  <a:pt x="263" y="306"/>
                  <a:pt x="263" y="310"/>
                </a:cubicBezTo>
                <a:cubicBezTo>
                  <a:pt x="265" y="324"/>
                  <a:pt x="280" y="335"/>
                  <a:pt x="291" y="344"/>
                </a:cubicBezTo>
                <a:cubicBezTo>
                  <a:pt x="293" y="342"/>
                  <a:pt x="296" y="339"/>
                  <a:pt x="299" y="337"/>
                </a:cubicBezTo>
                <a:cubicBezTo>
                  <a:pt x="283" y="325"/>
                  <a:pt x="271" y="308"/>
                  <a:pt x="267" y="279"/>
                </a:cubicBezTo>
                <a:lnTo>
                  <a:pt x="267" y="279"/>
                </a:lnTo>
                <a:close/>
                <a:moveTo>
                  <a:pt x="287" y="255"/>
                </a:moveTo>
                <a:lnTo>
                  <a:pt x="287" y="255"/>
                </a:lnTo>
                <a:cubicBezTo>
                  <a:pt x="284" y="258"/>
                  <a:pt x="281" y="261"/>
                  <a:pt x="278" y="265"/>
                </a:cubicBezTo>
                <a:cubicBezTo>
                  <a:pt x="284" y="273"/>
                  <a:pt x="290" y="278"/>
                  <a:pt x="298" y="281"/>
                </a:cubicBezTo>
                <a:cubicBezTo>
                  <a:pt x="297" y="274"/>
                  <a:pt x="297" y="264"/>
                  <a:pt x="299" y="258"/>
                </a:cubicBezTo>
                <a:lnTo>
                  <a:pt x="287" y="255"/>
                </a:lnTo>
                <a:lnTo>
                  <a:pt x="287" y="255"/>
                </a:lnTo>
                <a:close/>
                <a:moveTo>
                  <a:pt x="445" y="236"/>
                </a:moveTo>
                <a:lnTo>
                  <a:pt x="445" y="236"/>
                </a:lnTo>
                <a:cubicBezTo>
                  <a:pt x="442" y="238"/>
                  <a:pt x="439" y="239"/>
                  <a:pt x="435" y="239"/>
                </a:cubicBezTo>
                <a:cubicBezTo>
                  <a:pt x="434" y="247"/>
                  <a:pt x="433" y="255"/>
                  <a:pt x="434" y="263"/>
                </a:cubicBezTo>
                <a:lnTo>
                  <a:pt x="449" y="247"/>
                </a:lnTo>
                <a:cubicBezTo>
                  <a:pt x="446" y="243"/>
                  <a:pt x="445" y="240"/>
                  <a:pt x="445" y="236"/>
                </a:cubicBezTo>
                <a:lnTo>
                  <a:pt x="445" y="236"/>
                </a:lnTo>
                <a:close/>
                <a:moveTo>
                  <a:pt x="428" y="253"/>
                </a:moveTo>
                <a:lnTo>
                  <a:pt x="428" y="253"/>
                </a:lnTo>
                <a:cubicBezTo>
                  <a:pt x="424" y="252"/>
                  <a:pt x="420" y="251"/>
                  <a:pt x="418" y="247"/>
                </a:cubicBezTo>
                <a:cubicBezTo>
                  <a:pt x="417" y="245"/>
                  <a:pt x="423" y="246"/>
                  <a:pt x="424" y="246"/>
                </a:cubicBezTo>
                <a:cubicBezTo>
                  <a:pt x="426" y="246"/>
                  <a:pt x="427" y="245"/>
                  <a:pt x="429" y="245"/>
                </a:cubicBezTo>
                <a:cubicBezTo>
                  <a:pt x="429" y="242"/>
                  <a:pt x="429" y="239"/>
                  <a:pt x="430" y="236"/>
                </a:cubicBezTo>
                <a:cubicBezTo>
                  <a:pt x="430" y="236"/>
                  <a:pt x="430" y="235"/>
                  <a:pt x="430" y="235"/>
                </a:cubicBezTo>
                <a:cubicBezTo>
                  <a:pt x="430" y="234"/>
                  <a:pt x="430" y="233"/>
                  <a:pt x="430" y="232"/>
                </a:cubicBezTo>
                <a:cubicBezTo>
                  <a:pt x="431" y="229"/>
                  <a:pt x="436" y="229"/>
                  <a:pt x="436" y="233"/>
                </a:cubicBezTo>
                <a:cubicBezTo>
                  <a:pt x="452" y="232"/>
                  <a:pt x="449" y="208"/>
                  <a:pt x="432" y="212"/>
                </a:cubicBezTo>
                <a:cubicBezTo>
                  <a:pt x="428" y="212"/>
                  <a:pt x="427" y="207"/>
                  <a:pt x="431" y="206"/>
                </a:cubicBezTo>
                <a:cubicBezTo>
                  <a:pt x="435" y="205"/>
                  <a:pt x="438" y="205"/>
                  <a:pt x="441" y="206"/>
                </a:cubicBezTo>
                <a:cubicBezTo>
                  <a:pt x="439" y="183"/>
                  <a:pt x="403" y="197"/>
                  <a:pt x="423" y="215"/>
                </a:cubicBezTo>
                <a:cubicBezTo>
                  <a:pt x="426" y="217"/>
                  <a:pt x="423" y="222"/>
                  <a:pt x="420" y="219"/>
                </a:cubicBezTo>
                <a:cubicBezTo>
                  <a:pt x="416" y="216"/>
                  <a:pt x="414" y="213"/>
                  <a:pt x="413" y="210"/>
                </a:cubicBezTo>
                <a:cubicBezTo>
                  <a:pt x="400" y="212"/>
                  <a:pt x="403" y="228"/>
                  <a:pt x="412" y="231"/>
                </a:cubicBezTo>
                <a:lnTo>
                  <a:pt x="412" y="230"/>
                </a:lnTo>
                <a:cubicBezTo>
                  <a:pt x="413" y="227"/>
                  <a:pt x="418" y="228"/>
                  <a:pt x="417" y="232"/>
                </a:cubicBezTo>
                <a:lnTo>
                  <a:pt x="416" y="234"/>
                </a:lnTo>
                <a:cubicBezTo>
                  <a:pt x="416" y="235"/>
                  <a:pt x="416" y="235"/>
                  <a:pt x="416" y="235"/>
                </a:cubicBezTo>
                <a:lnTo>
                  <a:pt x="403" y="288"/>
                </a:lnTo>
                <a:cubicBezTo>
                  <a:pt x="406" y="288"/>
                  <a:pt x="408" y="289"/>
                  <a:pt x="410" y="289"/>
                </a:cubicBezTo>
                <a:lnTo>
                  <a:pt x="430" y="268"/>
                </a:lnTo>
                <a:cubicBezTo>
                  <a:pt x="428" y="263"/>
                  <a:pt x="428" y="258"/>
                  <a:pt x="428" y="253"/>
                </a:cubicBezTo>
                <a:lnTo>
                  <a:pt x="428" y="253"/>
                </a:lnTo>
                <a:close/>
                <a:moveTo>
                  <a:pt x="456" y="273"/>
                </a:moveTo>
                <a:lnTo>
                  <a:pt x="456" y="273"/>
                </a:lnTo>
                <a:cubicBezTo>
                  <a:pt x="453" y="268"/>
                  <a:pt x="452" y="262"/>
                  <a:pt x="453" y="257"/>
                </a:cubicBezTo>
                <a:cubicBezTo>
                  <a:pt x="453" y="254"/>
                  <a:pt x="456" y="259"/>
                  <a:pt x="456" y="259"/>
                </a:cubicBezTo>
                <a:cubicBezTo>
                  <a:pt x="458" y="261"/>
                  <a:pt x="460" y="262"/>
                  <a:pt x="463" y="263"/>
                </a:cubicBezTo>
                <a:cubicBezTo>
                  <a:pt x="467" y="256"/>
                  <a:pt x="472" y="249"/>
                  <a:pt x="477" y="243"/>
                </a:cubicBezTo>
                <a:cubicBezTo>
                  <a:pt x="483" y="235"/>
                  <a:pt x="488" y="228"/>
                  <a:pt x="494" y="221"/>
                </a:cubicBezTo>
                <a:cubicBezTo>
                  <a:pt x="484" y="209"/>
                  <a:pt x="468" y="216"/>
                  <a:pt x="473" y="234"/>
                </a:cubicBezTo>
                <a:cubicBezTo>
                  <a:pt x="474" y="238"/>
                  <a:pt x="468" y="239"/>
                  <a:pt x="467" y="235"/>
                </a:cubicBezTo>
                <a:cubicBezTo>
                  <a:pt x="466" y="231"/>
                  <a:pt x="466" y="228"/>
                  <a:pt x="466" y="225"/>
                </a:cubicBezTo>
                <a:cubicBezTo>
                  <a:pt x="454" y="221"/>
                  <a:pt x="445" y="232"/>
                  <a:pt x="453" y="243"/>
                </a:cubicBezTo>
                <a:cubicBezTo>
                  <a:pt x="456" y="240"/>
                  <a:pt x="459" y="244"/>
                  <a:pt x="457" y="247"/>
                </a:cubicBezTo>
                <a:lnTo>
                  <a:pt x="435" y="270"/>
                </a:lnTo>
                <a:cubicBezTo>
                  <a:pt x="435" y="271"/>
                  <a:pt x="435" y="271"/>
                  <a:pt x="434" y="271"/>
                </a:cubicBezTo>
                <a:lnTo>
                  <a:pt x="417" y="290"/>
                </a:lnTo>
                <a:cubicBezTo>
                  <a:pt x="424" y="292"/>
                  <a:pt x="432" y="293"/>
                  <a:pt x="440" y="296"/>
                </a:cubicBezTo>
                <a:cubicBezTo>
                  <a:pt x="445" y="288"/>
                  <a:pt x="451" y="280"/>
                  <a:pt x="456" y="273"/>
                </a:cubicBezTo>
                <a:lnTo>
                  <a:pt x="456" y="273"/>
                </a:lnTo>
                <a:close/>
                <a:moveTo>
                  <a:pt x="431" y="430"/>
                </a:moveTo>
                <a:lnTo>
                  <a:pt x="431" y="430"/>
                </a:lnTo>
                <a:cubicBezTo>
                  <a:pt x="462" y="417"/>
                  <a:pt x="472" y="392"/>
                  <a:pt x="471" y="372"/>
                </a:cubicBezTo>
                <a:cubicBezTo>
                  <a:pt x="464" y="382"/>
                  <a:pt x="457" y="393"/>
                  <a:pt x="450" y="402"/>
                </a:cubicBezTo>
                <a:cubicBezTo>
                  <a:pt x="444" y="412"/>
                  <a:pt x="437" y="421"/>
                  <a:pt x="431" y="430"/>
                </a:cubicBezTo>
                <a:lnTo>
                  <a:pt x="431" y="430"/>
                </a:lnTo>
                <a:close/>
                <a:moveTo>
                  <a:pt x="493" y="359"/>
                </a:moveTo>
                <a:lnTo>
                  <a:pt x="493" y="359"/>
                </a:lnTo>
                <a:cubicBezTo>
                  <a:pt x="506" y="345"/>
                  <a:pt x="511" y="331"/>
                  <a:pt x="511" y="317"/>
                </a:cubicBezTo>
                <a:cubicBezTo>
                  <a:pt x="503" y="326"/>
                  <a:pt x="496" y="335"/>
                  <a:pt x="490" y="345"/>
                </a:cubicBezTo>
                <a:cubicBezTo>
                  <a:pt x="491" y="349"/>
                  <a:pt x="492" y="354"/>
                  <a:pt x="493" y="359"/>
                </a:cubicBezTo>
                <a:lnTo>
                  <a:pt x="493" y="359"/>
                </a:lnTo>
                <a:close/>
                <a:moveTo>
                  <a:pt x="534" y="308"/>
                </a:moveTo>
                <a:lnTo>
                  <a:pt x="534" y="308"/>
                </a:lnTo>
                <a:cubicBezTo>
                  <a:pt x="548" y="297"/>
                  <a:pt x="553" y="285"/>
                  <a:pt x="553" y="270"/>
                </a:cubicBezTo>
                <a:cubicBezTo>
                  <a:pt x="545" y="277"/>
                  <a:pt x="538" y="284"/>
                  <a:pt x="531" y="292"/>
                </a:cubicBezTo>
                <a:cubicBezTo>
                  <a:pt x="532" y="298"/>
                  <a:pt x="533" y="303"/>
                  <a:pt x="534" y="308"/>
                </a:cubicBezTo>
                <a:lnTo>
                  <a:pt x="534" y="308"/>
                </a:lnTo>
                <a:close/>
                <a:moveTo>
                  <a:pt x="533" y="331"/>
                </a:moveTo>
                <a:lnTo>
                  <a:pt x="533" y="331"/>
                </a:lnTo>
                <a:cubicBezTo>
                  <a:pt x="562" y="318"/>
                  <a:pt x="575" y="287"/>
                  <a:pt x="572" y="254"/>
                </a:cubicBezTo>
                <a:cubicBezTo>
                  <a:pt x="567" y="258"/>
                  <a:pt x="563" y="261"/>
                  <a:pt x="558" y="265"/>
                </a:cubicBezTo>
                <a:cubicBezTo>
                  <a:pt x="560" y="285"/>
                  <a:pt x="553" y="301"/>
                  <a:pt x="534" y="315"/>
                </a:cubicBezTo>
                <a:cubicBezTo>
                  <a:pt x="534" y="321"/>
                  <a:pt x="534" y="326"/>
                  <a:pt x="533" y="331"/>
                </a:cubicBezTo>
                <a:lnTo>
                  <a:pt x="533" y="331"/>
                </a:lnTo>
                <a:close/>
                <a:moveTo>
                  <a:pt x="420" y="452"/>
                </a:moveTo>
                <a:lnTo>
                  <a:pt x="420" y="452"/>
                </a:lnTo>
                <a:cubicBezTo>
                  <a:pt x="420" y="452"/>
                  <a:pt x="420" y="452"/>
                  <a:pt x="420" y="452"/>
                </a:cubicBezTo>
                <a:cubicBezTo>
                  <a:pt x="453" y="449"/>
                  <a:pt x="482" y="423"/>
                  <a:pt x="488" y="388"/>
                </a:cubicBezTo>
                <a:cubicBezTo>
                  <a:pt x="488" y="387"/>
                  <a:pt x="488" y="387"/>
                  <a:pt x="488" y="387"/>
                </a:cubicBezTo>
                <a:cubicBezTo>
                  <a:pt x="489" y="380"/>
                  <a:pt x="489" y="373"/>
                  <a:pt x="488" y="365"/>
                </a:cubicBezTo>
                <a:cubicBezTo>
                  <a:pt x="488" y="365"/>
                  <a:pt x="488" y="364"/>
                  <a:pt x="488" y="364"/>
                </a:cubicBezTo>
                <a:cubicBezTo>
                  <a:pt x="488" y="360"/>
                  <a:pt x="487" y="355"/>
                  <a:pt x="485" y="351"/>
                </a:cubicBezTo>
                <a:cubicBezTo>
                  <a:pt x="482" y="355"/>
                  <a:pt x="479" y="360"/>
                  <a:pt x="475" y="365"/>
                </a:cubicBezTo>
                <a:cubicBezTo>
                  <a:pt x="480" y="390"/>
                  <a:pt x="469" y="425"/>
                  <a:pt x="425" y="438"/>
                </a:cubicBezTo>
                <a:cubicBezTo>
                  <a:pt x="422" y="443"/>
                  <a:pt x="418" y="447"/>
                  <a:pt x="415" y="452"/>
                </a:cubicBezTo>
                <a:cubicBezTo>
                  <a:pt x="416" y="452"/>
                  <a:pt x="418" y="452"/>
                  <a:pt x="420" y="452"/>
                </a:cubicBezTo>
                <a:lnTo>
                  <a:pt x="420" y="452"/>
                </a:lnTo>
                <a:close/>
                <a:moveTo>
                  <a:pt x="299" y="552"/>
                </a:moveTo>
                <a:lnTo>
                  <a:pt x="299" y="552"/>
                </a:lnTo>
                <a:cubicBezTo>
                  <a:pt x="299" y="552"/>
                  <a:pt x="299" y="552"/>
                  <a:pt x="299" y="552"/>
                </a:cubicBezTo>
                <a:cubicBezTo>
                  <a:pt x="299" y="553"/>
                  <a:pt x="300" y="554"/>
                  <a:pt x="301" y="555"/>
                </a:cubicBezTo>
                <a:cubicBezTo>
                  <a:pt x="312" y="549"/>
                  <a:pt x="322" y="541"/>
                  <a:pt x="332" y="533"/>
                </a:cubicBezTo>
                <a:cubicBezTo>
                  <a:pt x="332" y="533"/>
                  <a:pt x="332" y="533"/>
                  <a:pt x="332" y="533"/>
                </a:cubicBezTo>
                <a:cubicBezTo>
                  <a:pt x="337" y="529"/>
                  <a:pt x="342" y="525"/>
                  <a:pt x="346" y="521"/>
                </a:cubicBezTo>
                <a:cubicBezTo>
                  <a:pt x="346" y="521"/>
                  <a:pt x="347" y="521"/>
                  <a:pt x="347" y="521"/>
                </a:cubicBezTo>
                <a:cubicBezTo>
                  <a:pt x="351" y="517"/>
                  <a:pt x="356" y="512"/>
                  <a:pt x="360" y="508"/>
                </a:cubicBezTo>
                <a:cubicBezTo>
                  <a:pt x="360" y="508"/>
                  <a:pt x="361" y="508"/>
                  <a:pt x="361" y="507"/>
                </a:cubicBezTo>
                <a:cubicBezTo>
                  <a:pt x="367" y="502"/>
                  <a:pt x="372" y="495"/>
                  <a:pt x="378" y="489"/>
                </a:cubicBezTo>
                <a:cubicBezTo>
                  <a:pt x="378" y="489"/>
                  <a:pt x="378" y="488"/>
                  <a:pt x="379" y="488"/>
                </a:cubicBezTo>
                <a:cubicBezTo>
                  <a:pt x="384" y="483"/>
                  <a:pt x="389" y="477"/>
                  <a:pt x="393" y="471"/>
                </a:cubicBezTo>
                <a:cubicBezTo>
                  <a:pt x="394" y="470"/>
                  <a:pt x="394" y="470"/>
                  <a:pt x="394" y="470"/>
                </a:cubicBezTo>
                <a:cubicBezTo>
                  <a:pt x="398" y="465"/>
                  <a:pt x="403" y="459"/>
                  <a:pt x="407" y="454"/>
                </a:cubicBezTo>
                <a:cubicBezTo>
                  <a:pt x="407" y="453"/>
                  <a:pt x="407" y="453"/>
                  <a:pt x="407" y="453"/>
                </a:cubicBezTo>
                <a:cubicBezTo>
                  <a:pt x="412" y="447"/>
                  <a:pt x="417" y="440"/>
                  <a:pt x="421" y="434"/>
                </a:cubicBezTo>
                <a:cubicBezTo>
                  <a:pt x="421" y="434"/>
                  <a:pt x="421" y="434"/>
                  <a:pt x="422" y="433"/>
                </a:cubicBezTo>
                <a:cubicBezTo>
                  <a:pt x="438" y="410"/>
                  <a:pt x="454" y="386"/>
                  <a:pt x="470" y="363"/>
                </a:cubicBezTo>
                <a:cubicBezTo>
                  <a:pt x="470" y="363"/>
                  <a:pt x="470" y="363"/>
                  <a:pt x="470" y="363"/>
                </a:cubicBezTo>
                <a:cubicBezTo>
                  <a:pt x="475" y="356"/>
                  <a:pt x="479" y="350"/>
                  <a:pt x="484" y="343"/>
                </a:cubicBezTo>
                <a:cubicBezTo>
                  <a:pt x="484" y="343"/>
                  <a:pt x="484" y="343"/>
                  <a:pt x="484" y="343"/>
                </a:cubicBezTo>
                <a:cubicBezTo>
                  <a:pt x="492" y="332"/>
                  <a:pt x="500" y="321"/>
                  <a:pt x="508" y="311"/>
                </a:cubicBezTo>
                <a:cubicBezTo>
                  <a:pt x="509" y="310"/>
                  <a:pt x="510" y="309"/>
                  <a:pt x="510" y="308"/>
                </a:cubicBezTo>
                <a:cubicBezTo>
                  <a:pt x="511" y="308"/>
                  <a:pt x="511" y="307"/>
                  <a:pt x="511" y="307"/>
                </a:cubicBezTo>
                <a:cubicBezTo>
                  <a:pt x="516" y="301"/>
                  <a:pt x="521" y="296"/>
                  <a:pt x="526" y="290"/>
                </a:cubicBezTo>
                <a:cubicBezTo>
                  <a:pt x="526" y="290"/>
                  <a:pt x="526" y="290"/>
                  <a:pt x="526" y="289"/>
                </a:cubicBezTo>
                <a:cubicBezTo>
                  <a:pt x="535" y="280"/>
                  <a:pt x="544" y="270"/>
                  <a:pt x="553" y="262"/>
                </a:cubicBezTo>
                <a:cubicBezTo>
                  <a:pt x="553" y="262"/>
                  <a:pt x="554" y="262"/>
                  <a:pt x="554" y="262"/>
                </a:cubicBezTo>
                <a:cubicBezTo>
                  <a:pt x="560" y="256"/>
                  <a:pt x="566" y="252"/>
                  <a:pt x="572" y="247"/>
                </a:cubicBezTo>
                <a:cubicBezTo>
                  <a:pt x="572" y="247"/>
                  <a:pt x="573" y="247"/>
                  <a:pt x="573" y="247"/>
                </a:cubicBezTo>
                <a:lnTo>
                  <a:pt x="574" y="246"/>
                </a:lnTo>
                <a:cubicBezTo>
                  <a:pt x="574" y="246"/>
                  <a:pt x="574" y="246"/>
                  <a:pt x="574" y="246"/>
                </a:cubicBezTo>
                <a:cubicBezTo>
                  <a:pt x="575" y="245"/>
                  <a:pt x="576" y="244"/>
                  <a:pt x="577" y="244"/>
                </a:cubicBezTo>
                <a:lnTo>
                  <a:pt x="571" y="228"/>
                </a:lnTo>
                <a:cubicBezTo>
                  <a:pt x="568" y="230"/>
                  <a:pt x="565" y="233"/>
                  <a:pt x="562" y="235"/>
                </a:cubicBezTo>
                <a:cubicBezTo>
                  <a:pt x="562" y="235"/>
                  <a:pt x="562" y="236"/>
                  <a:pt x="562" y="236"/>
                </a:cubicBezTo>
                <a:cubicBezTo>
                  <a:pt x="456" y="323"/>
                  <a:pt x="411" y="466"/>
                  <a:pt x="294" y="544"/>
                </a:cubicBezTo>
                <a:cubicBezTo>
                  <a:pt x="296" y="547"/>
                  <a:pt x="297" y="549"/>
                  <a:pt x="299" y="552"/>
                </a:cubicBezTo>
                <a:lnTo>
                  <a:pt x="299" y="552"/>
                </a:lnTo>
                <a:close/>
                <a:moveTo>
                  <a:pt x="400" y="562"/>
                </a:moveTo>
                <a:lnTo>
                  <a:pt x="400" y="562"/>
                </a:lnTo>
                <a:cubicBezTo>
                  <a:pt x="400" y="562"/>
                  <a:pt x="400" y="562"/>
                  <a:pt x="400" y="562"/>
                </a:cubicBezTo>
                <a:cubicBezTo>
                  <a:pt x="402" y="563"/>
                  <a:pt x="405" y="563"/>
                  <a:pt x="407" y="563"/>
                </a:cubicBezTo>
                <a:cubicBezTo>
                  <a:pt x="414" y="563"/>
                  <a:pt x="421" y="561"/>
                  <a:pt x="426" y="556"/>
                </a:cubicBezTo>
                <a:cubicBezTo>
                  <a:pt x="426" y="556"/>
                  <a:pt x="426" y="556"/>
                  <a:pt x="426" y="556"/>
                </a:cubicBezTo>
                <a:cubicBezTo>
                  <a:pt x="433" y="551"/>
                  <a:pt x="437" y="543"/>
                  <a:pt x="437" y="534"/>
                </a:cubicBezTo>
                <a:cubicBezTo>
                  <a:pt x="437" y="529"/>
                  <a:pt x="436" y="525"/>
                  <a:pt x="434" y="522"/>
                </a:cubicBezTo>
                <a:cubicBezTo>
                  <a:pt x="434" y="521"/>
                  <a:pt x="434" y="521"/>
                  <a:pt x="434" y="521"/>
                </a:cubicBezTo>
                <a:cubicBezTo>
                  <a:pt x="429" y="511"/>
                  <a:pt x="419" y="505"/>
                  <a:pt x="407" y="505"/>
                </a:cubicBezTo>
                <a:cubicBezTo>
                  <a:pt x="406" y="505"/>
                  <a:pt x="404" y="505"/>
                  <a:pt x="403" y="505"/>
                </a:cubicBezTo>
                <a:lnTo>
                  <a:pt x="402" y="505"/>
                </a:lnTo>
                <a:cubicBezTo>
                  <a:pt x="397" y="506"/>
                  <a:pt x="392" y="508"/>
                  <a:pt x="388" y="512"/>
                </a:cubicBezTo>
                <a:lnTo>
                  <a:pt x="388" y="512"/>
                </a:lnTo>
                <a:cubicBezTo>
                  <a:pt x="382" y="517"/>
                  <a:pt x="378" y="525"/>
                  <a:pt x="378" y="534"/>
                </a:cubicBezTo>
                <a:cubicBezTo>
                  <a:pt x="378" y="547"/>
                  <a:pt x="387" y="559"/>
                  <a:pt x="400" y="562"/>
                </a:cubicBezTo>
                <a:lnTo>
                  <a:pt x="400" y="562"/>
                </a:lnTo>
                <a:close/>
                <a:moveTo>
                  <a:pt x="324" y="668"/>
                </a:moveTo>
                <a:lnTo>
                  <a:pt x="324" y="668"/>
                </a:lnTo>
                <a:cubicBezTo>
                  <a:pt x="332" y="665"/>
                  <a:pt x="340" y="662"/>
                  <a:pt x="347" y="657"/>
                </a:cubicBezTo>
                <a:cubicBezTo>
                  <a:pt x="347" y="657"/>
                  <a:pt x="347" y="657"/>
                  <a:pt x="348" y="657"/>
                </a:cubicBezTo>
                <a:cubicBezTo>
                  <a:pt x="354" y="653"/>
                  <a:pt x="360" y="648"/>
                  <a:pt x="365" y="643"/>
                </a:cubicBezTo>
                <a:cubicBezTo>
                  <a:pt x="365" y="643"/>
                  <a:pt x="365" y="643"/>
                  <a:pt x="365" y="643"/>
                </a:cubicBezTo>
                <a:cubicBezTo>
                  <a:pt x="390" y="618"/>
                  <a:pt x="397" y="585"/>
                  <a:pt x="396" y="567"/>
                </a:cubicBezTo>
                <a:cubicBezTo>
                  <a:pt x="391" y="565"/>
                  <a:pt x="385" y="562"/>
                  <a:pt x="381" y="557"/>
                </a:cubicBezTo>
                <a:cubicBezTo>
                  <a:pt x="384" y="590"/>
                  <a:pt x="374" y="629"/>
                  <a:pt x="327" y="653"/>
                </a:cubicBezTo>
                <a:cubicBezTo>
                  <a:pt x="326" y="653"/>
                  <a:pt x="326" y="653"/>
                  <a:pt x="325" y="653"/>
                </a:cubicBezTo>
                <a:cubicBezTo>
                  <a:pt x="325" y="653"/>
                  <a:pt x="324" y="653"/>
                  <a:pt x="324" y="653"/>
                </a:cubicBezTo>
                <a:cubicBezTo>
                  <a:pt x="316" y="650"/>
                  <a:pt x="307" y="646"/>
                  <a:pt x="300" y="641"/>
                </a:cubicBezTo>
                <a:cubicBezTo>
                  <a:pt x="299" y="640"/>
                  <a:pt x="299" y="640"/>
                  <a:pt x="298" y="640"/>
                </a:cubicBezTo>
                <a:cubicBezTo>
                  <a:pt x="292" y="635"/>
                  <a:pt x="286" y="629"/>
                  <a:pt x="282" y="622"/>
                </a:cubicBezTo>
                <a:cubicBezTo>
                  <a:pt x="282" y="621"/>
                  <a:pt x="282" y="621"/>
                  <a:pt x="281" y="621"/>
                </a:cubicBezTo>
                <a:cubicBezTo>
                  <a:pt x="272" y="605"/>
                  <a:pt x="274" y="585"/>
                  <a:pt x="300" y="569"/>
                </a:cubicBezTo>
                <a:cubicBezTo>
                  <a:pt x="299" y="565"/>
                  <a:pt x="297" y="561"/>
                  <a:pt x="295" y="557"/>
                </a:cubicBezTo>
                <a:cubicBezTo>
                  <a:pt x="241" y="594"/>
                  <a:pt x="263" y="640"/>
                  <a:pt x="324" y="668"/>
                </a:cubicBezTo>
                <a:lnTo>
                  <a:pt x="324" y="668"/>
                </a:lnTo>
                <a:close/>
                <a:moveTo>
                  <a:pt x="349" y="662"/>
                </a:moveTo>
                <a:lnTo>
                  <a:pt x="349" y="662"/>
                </a:lnTo>
                <a:cubicBezTo>
                  <a:pt x="344" y="666"/>
                  <a:pt x="338" y="669"/>
                  <a:pt x="331" y="672"/>
                </a:cubicBezTo>
                <a:cubicBezTo>
                  <a:pt x="363" y="685"/>
                  <a:pt x="405" y="694"/>
                  <a:pt x="449" y="693"/>
                </a:cubicBezTo>
                <a:cubicBezTo>
                  <a:pt x="423" y="683"/>
                  <a:pt x="374" y="667"/>
                  <a:pt x="349" y="662"/>
                </a:cubicBezTo>
                <a:lnTo>
                  <a:pt x="349" y="662"/>
                </a:lnTo>
                <a:close/>
                <a:moveTo>
                  <a:pt x="368" y="648"/>
                </a:moveTo>
                <a:lnTo>
                  <a:pt x="368" y="648"/>
                </a:lnTo>
                <a:cubicBezTo>
                  <a:pt x="364" y="652"/>
                  <a:pt x="360" y="655"/>
                  <a:pt x="356" y="658"/>
                </a:cubicBezTo>
                <a:cubicBezTo>
                  <a:pt x="387" y="665"/>
                  <a:pt x="443" y="683"/>
                  <a:pt x="463" y="692"/>
                </a:cubicBezTo>
                <a:cubicBezTo>
                  <a:pt x="475" y="692"/>
                  <a:pt x="487" y="690"/>
                  <a:pt x="499" y="688"/>
                </a:cubicBezTo>
                <a:cubicBezTo>
                  <a:pt x="465" y="677"/>
                  <a:pt x="398" y="656"/>
                  <a:pt x="368" y="648"/>
                </a:cubicBezTo>
                <a:lnTo>
                  <a:pt x="368" y="648"/>
                </a:lnTo>
                <a:close/>
                <a:moveTo>
                  <a:pt x="402" y="568"/>
                </a:moveTo>
                <a:lnTo>
                  <a:pt x="402" y="568"/>
                </a:lnTo>
                <a:cubicBezTo>
                  <a:pt x="402" y="587"/>
                  <a:pt x="395" y="619"/>
                  <a:pt x="372" y="644"/>
                </a:cubicBezTo>
                <a:cubicBezTo>
                  <a:pt x="407" y="652"/>
                  <a:pt x="482" y="676"/>
                  <a:pt x="510" y="686"/>
                </a:cubicBezTo>
                <a:cubicBezTo>
                  <a:pt x="514" y="685"/>
                  <a:pt x="518" y="684"/>
                  <a:pt x="521" y="683"/>
                </a:cubicBezTo>
                <a:cubicBezTo>
                  <a:pt x="517" y="661"/>
                  <a:pt x="517" y="629"/>
                  <a:pt x="528" y="594"/>
                </a:cubicBezTo>
                <a:cubicBezTo>
                  <a:pt x="497" y="592"/>
                  <a:pt x="461" y="582"/>
                  <a:pt x="428" y="562"/>
                </a:cubicBezTo>
                <a:cubicBezTo>
                  <a:pt x="422" y="566"/>
                  <a:pt x="415" y="569"/>
                  <a:pt x="407" y="569"/>
                </a:cubicBezTo>
                <a:cubicBezTo>
                  <a:pt x="405" y="569"/>
                  <a:pt x="404" y="569"/>
                  <a:pt x="402" y="568"/>
                </a:cubicBezTo>
                <a:lnTo>
                  <a:pt x="402" y="568"/>
                </a:lnTo>
                <a:close/>
                <a:moveTo>
                  <a:pt x="402" y="492"/>
                </a:moveTo>
                <a:lnTo>
                  <a:pt x="402" y="492"/>
                </a:lnTo>
                <a:cubicBezTo>
                  <a:pt x="402" y="495"/>
                  <a:pt x="403" y="497"/>
                  <a:pt x="404" y="499"/>
                </a:cubicBezTo>
                <a:cubicBezTo>
                  <a:pt x="405" y="499"/>
                  <a:pt x="406" y="499"/>
                  <a:pt x="407" y="499"/>
                </a:cubicBezTo>
                <a:cubicBezTo>
                  <a:pt x="413" y="499"/>
                  <a:pt x="418" y="500"/>
                  <a:pt x="423" y="503"/>
                </a:cubicBezTo>
                <a:cubicBezTo>
                  <a:pt x="426" y="487"/>
                  <a:pt x="411" y="481"/>
                  <a:pt x="402" y="492"/>
                </a:cubicBezTo>
                <a:lnTo>
                  <a:pt x="402" y="492"/>
                </a:lnTo>
                <a:close/>
                <a:moveTo>
                  <a:pt x="422" y="464"/>
                </a:moveTo>
                <a:lnTo>
                  <a:pt x="422" y="464"/>
                </a:lnTo>
                <a:cubicBezTo>
                  <a:pt x="447" y="470"/>
                  <a:pt x="455" y="502"/>
                  <a:pt x="440" y="521"/>
                </a:cubicBezTo>
                <a:cubicBezTo>
                  <a:pt x="441" y="525"/>
                  <a:pt x="442" y="529"/>
                  <a:pt x="442" y="534"/>
                </a:cubicBezTo>
                <a:cubicBezTo>
                  <a:pt x="442" y="543"/>
                  <a:pt x="438" y="552"/>
                  <a:pt x="432" y="558"/>
                </a:cubicBezTo>
                <a:cubicBezTo>
                  <a:pt x="481" y="588"/>
                  <a:pt x="536" y="593"/>
                  <a:pt x="572" y="586"/>
                </a:cubicBezTo>
                <a:cubicBezTo>
                  <a:pt x="610" y="578"/>
                  <a:pt x="623" y="557"/>
                  <a:pt x="600" y="536"/>
                </a:cubicBezTo>
                <a:cubicBezTo>
                  <a:pt x="595" y="532"/>
                  <a:pt x="607" y="521"/>
                  <a:pt x="615" y="520"/>
                </a:cubicBezTo>
                <a:cubicBezTo>
                  <a:pt x="616" y="515"/>
                  <a:pt x="614" y="511"/>
                  <a:pt x="609" y="509"/>
                </a:cubicBezTo>
                <a:cubicBezTo>
                  <a:pt x="598" y="508"/>
                  <a:pt x="579" y="514"/>
                  <a:pt x="566" y="517"/>
                </a:cubicBezTo>
                <a:cubicBezTo>
                  <a:pt x="566" y="519"/>
                  <a:pt x="562" y="520"/>
                  <a:pt x="561" y="517"/>
                </a:cubicBezTo>
                <a:cubicBezTo>
                  <a:pt x="560" y="513"/>
                  <a:pt x="563" y="507"/>
                  <a:pt x="564" y="505"/>
                </a:cubicBezTo>
                <a:cubicBezTo>
                  <a:pt x="566" y="501"/>
                  <a:pt x="570" y="504"/>
                  <a:pt x="569" y="507"/>
                </a:cubicBezTo>
                <a:cubicBezTo>
                  <a:pt x="568" y="508"/>
                  <a:pt x="568" y="509"/>
                  <a:pt x="567" y="511"/>
                </a:cubicBezTo>
                <a:cubicBezTo>
                  <a:pt x="580" y="508"/>
                  <a:pt x="597" y="502"/>
                  <a:pt x="609" y="503"/>
                </a:cubicBezTo>
                <a:cubicBezTo>
                  <a:pt x="612" y="501"/>
                  <a:pt x="620" y="495"/>
                  <a:pt x="619" y="491"/>
                </a:cubicBezTo>
                <a:cubicBezTo>
                  <a:pt x="618" y="490"/>
                  <a:pt x="617" y="489"/>
                  <a:pt x="616" y="487"/>
                </a:cubicBezTo>
                <a:cubicBezTo>
                  <a:pt x="610" y="479"/>
                  <a:pt x="612" y="473"/>
                  <a:pt x="618" y="467"/>
                </a:cubicBezTo>
                <a:cubicBezTo>
                  <a:pt x="608" y="466"/>
                  <a:pt x="596" y="467"/>
                  <a:pt x="590" y="474"/>
                </a:cubicBezTo>
                <a:cubicBezTo>
                  <a:pt x="586" y="479"/>
                  <a:pt x="579" y="467"/>
                  <a:pt x="579" y="466"/>
                </a:cubicBezTo>
                <a:cubicBezTo>
                  <a:pt x="576" y="460"/>
                  <a:pt x="576" y="452"/>
                  <a:pt x="586" y="443"/>
                </a:cubicBezTo>
                <a:cubicBezTo>
                  <a:pt x="588" y="440"/>
                  <a:pt x="592" y="445"/>
                  <a:pt x="590" y="447"/>
                </a:cubicBezTo>
                <a:cubicBezTo>
                  <a:pt x="582" y="454"/>
                  <a:pt x="580" y="461"/>
                  <a:pt x="587" y="468"/>
                </a:cubicBezTo>
                <a:lnTo>
                  <a:pt x="588" y="469"/>
                </a:lnTo>
                <a:cubicBezTo>
                  <a:pt x="598" y="461"/>
                  <a:pt x="612" y="460"/>
                  <a:pt x="624" y="463"/>
                </a:cubicBezTo>
                <a:lnTo>
                  <a:pt x="624" y="463"/>
                </a:lnTo>
                <a:lnTo>
                  <a:pt x="624" y="463"/>
                </a:lnTo>
                <a:cubicBezTo>
                  <a:pt x="645" y="461"/>
                  <a:pt x="644" y="453"/>
                  <a:pt x="638" y="437"/>
                </a:cubicBezTo>
                <a:cubicBezTo>
                  <a:pt x="636" y="431"/>
                  <a:pt x="633" y="424"/>
                  <a:pt x="630" y="415"/>
                </a:cubicBezTo>
                <a:cubicBezTo>
                  <a:pt x="625" y="404"/>
                  <a:pt x="617" y="379"/>
                  <a:pt x="608" y="353"/>
                </a:cubicBezTo>
                <a:cubicBezTo>
                  <a:pt x="584" y="343"/>
                  <a:pt x="549" y="349"/>
                  <a:pt x="523" y="361"/>
                </a:cubicBezTo>
                <a:cubicBezTo>
                  <a:pt x="516" y="371"/>
                  <a:pt x="507" y="380"/>
                  <a:pt x="493" y="389"/>
                </a:cubicBezTo>
                <a:cubicBezTo>
                  <a:pt x="487" y="426"/>
                  <a:pt x="457" y="453"/>
                  <a:pt x="423" y="457"/>
                </a:cubicBezTo>
                <a:lnTo>
                  <a:pt x="422" y="464"/>
                </a:lnTo>
                <a:lnTo>
                  <a:pt x="422" y="464"/>
                </a:lnTo>
                <a:close/>
                <a:moveTo>
                  <a:pt x="416" y="463"/>
                </a:moveTo>
                <a:lnTo>
                  <a:pt x="416" y="463"/>
                </a:lnTo>
                <a:lnTo>
                  <a:pt x="417" y="458"/>
                </a:lnTo>
                <a:cubicBezTo>
                  <a:pt x="415" y="458"/>
                  <a:pt x="413" y="458"/>
                  <a:pt x="411" y="458"/>
                </a:cubicBezTo>
                <a:cubicBezTo>
                  <a:pt x="407" y="463"/>
                  <a:pt x="403" y="468"/>
                  <a:pt x="399" y="473"/>
                </a:cubicBezTo>
                <a:cubicBezTo>
                  <a:pt x="399" y="477"/>
                  <a:pt x="399" y="482"/>
                  <a:pt x="400" y="485"/>
                </a:cubicBezTo>
                <a:cubicBezTo>
                  <a:pt x="412" y="476"/>
                  <a:pt x="435" y="482"/>
                  <a:pt x="428" y="506"/>
                </a:cubicBezTo>
                <a:cubicBezTo>
                  <a:pt x="431" y="508"/>
                  <a:pt x="434" y="511"/>
                  <a:pt x="437" y="515"/>
                </a:cubicBezTo>
                <a:cubicBezTo>
                  <a:pt x="449" y="498"/>
                  <a:pt x="439" y="469"/>
                  <a:pt x="414" y="469"/>
                </a:cubicBezTo>
                <a:cubicBezTo>
                  <a:pt x="411" y="468"/>
                  <a:pt x="411" y="463"/>
                  <a:pt x="415" y="463"/>
                </a:cubicBezTo>
                <a:cubicBezTo>
                  <a:pt x="415" y="463"/>
                  <a:pt x="416" y="463"/>
                  <a:pt x="416" y="463"/>
                </a:cubicBezTo>
                <a:lnTo>
                  <a:pt x="416" y="463"/>
                </a:lnTo>
                <a:close/>
                <a:moveTo>
                  <a:pt x="514" y="262"/>
                </a:moveTo>
                <a:lnTo>
                  <a:pt x="514" y="262"/>
                </a:lnTo>
                <a:cubicBezTo>
                  <a:pt x="514" y="265"/>
                  <a:pt x="511" y="267"/>
                  <a:pt x="509" y="267"/>
                </a:cubicBezTo>
                <a:cubicBezTo>
                  <a:pt x="506" y="267"/>
                  <a:pt x="503" y="265"/>
                  <a:pt x="503" y="262"/>
                </a:cubicBezTo>
                <a:cubicBezTo>
                  <a:pt x="503" y="259"/>
                  <a:pt x="506" y="257"/>
                  <a:pt x="509" y="257"/>
                </a:cubicBezTo>
                <a:cubicBezTo>
                  <a:pt x="511" y="257"/>
                  <a:pt x="514" y="259"/>
                  <a:pt x="514" y="262"/>
                </a:cubicBezTo>
                <a:lnTo>
                  <a:pt x="514" y="262"/>
                </a:lnTo>
                <a:close/>
                <a:moveTo>
                  <a:pt x="529" y="244"/>
                </a:moveTo>
                <a:lnTo>
                  <a:pt x="529" y="244"/>
                </a:lnTo>
                <a:cubicBezTo>
                  <a:pt x="529" y="248"/>
                  <a:pt x="526" y="250"/>
                  <a:pt x="523" y="250"/>
                </a:cubicBezTo>
                <a:cubicBezTo>
                  <a:pt x="520" y="250"/>
                  <a:pt x="517" y="248"/>
                  <a:pt x="517" y="244"/>
                </a:cubicBezTo>
                <a:cubicBezTo>
                  <a:pt x="517" y="241"/>
                  <a:pt x="520" y="239"/>
                  <a:pt x="523" y="239"/>
                </a:cubicBezTo>
                <a:cubicBezTo>
                  <a:pt x="526" y="239"/>
                  <a:pt x="529" y="241"/>
                  <a:pt x="529" y="244"/>
                </a:cubicBezTo>
                <a:lnTo>
                  <a:pt x="529" y="244"/>
                </a:lnTo>
                <a:close/>
                <a:moveTo>
                  <a:pt x="499" y="280"/>
                </a:moveTo>
                <a:lnTo>
                  <a:pt x="499" y="280"/>
                </a:lnTo>
                <a:cubicBezTo>
                  <a:pt x="499" y="283"/>
                  <a:pt x="497" y="285"/>
                  <a:pt x="495" y="285"/>
                </a:cubicBezTo>
                <a:cubicBezTo>
                  <a:pt x="492" y="285"/>
                  <a:pt x="490" y="283"/>
                  <a:pt x="490" y="280"/>
                </a:cubicBezTo>
                <a:cubicBezTo>
                  <a:pt x="490" y="278"/>
                  <a:pt x="492" y="276"/>
                  <a:pt x="495" y="276"/>
                </a:cubicBezTo>
                <a:cubicBezTo>
                  <a:pt x="497" y="276"/>
                  <a:pt x="499" y="278"/>
                  <a:pt x="499" y="280"/>
                </a:cubicBezTo>
                <a:lnTo>
                  <a:pt x="499" y="280"/>
                </a:lnTo>
                <a:close/>
                <a:moveTo>
                  <a:pt x="339" y="230"/>
                </a:moveTo>
                <a:lnTo>
                  <a:pt x="339" y="230"/>
                </a:lnTo>
                <a:cubicBezTo>
                  <a:pt x="339" y="233"/>
                  <a:pt x="336" y="236"/>
                  <a:pt x="333" y="236"/>
                </a:cubicBezTo>
                <a:cubicBezTo>
                  <a:pt x="330" y="236"/>
                  <a:pt x="328" y="233"/>
                  <a:pt x="328" y="230"/>
                </a:cubicBezTo>
                <a:cubicBezTo>
                  <a:pt x="328" y="227"/>
                  <a:pt x="330" y="224"/>
                  <a:pt x="333" y="224"/>
                </a:cubicBezTo>
                <a:cubicBezTo>
                  <a:pt x="336" y="224"/>
                  <a:pt x="339" y="227"/>
                  <a:pt x="339" y="230"/>
                </a:cubicBezTo>
                <a:lnTo>
                  <a:pt x="339" y="230"/>
                </a:lnTo>
                <a:close/>
                <a:moveTo>
                  <a:pt x="407" y="544"/>
                </a:moveTo>
                <a:lnTo>
                  <a:pt x="407" y="544"/>
                </a:lnTo>
                <a:cubicBezTo>
                  <a:pt x="413" y="544"/>
                  <a:pt x="417" y="539"/>
                  <a:pt x="417" y="534"/>
                </a:cubicBezTo>
                <a:cubicBezTo>
                  <a:pt x="417" y="528"/>
                  <a:pt x="413" y="524"/>
                  <a:pt x="407" y="524"/>
                </a:cubicBezTo>
                <a:cubicBezTo>
                  <a:pt x="402" y="524"/>
                  <a:pt x="397" y="528"/>
                  <a:pt x="397" y="534"/>
                </a:cubicBezTo>
                <a:cubicBezTo>
                  <a:pt x="397" y="539"/>
                  <a:pt x="402" y="544"/>
                  <a:pt x="407" y="544"/>
                </a:cubicBezTo>
                <a:lnTo>
                  <a:pt x="407" y="544"/>
                </a:lnTo>
                <a:close/>
                <a:moveTo>
                  <a:pt x="407" y="550"/>
                </a:moveTo>
                <a:lnTo>
                  <a:pt x="407" y="550"/>
                </a:lnTo>
                <a:cubicBezTo>
                  <a:pt x="399" y="550"/>
                  <a:pt x="392" y="542"/>
                  <a:pt x="392" y="534"/>
                </a:cubicBezTo>
                <a:cubicBezTo>
                  <a:pt x="392" y="525"/>
                  <a:pt x="399" y="518"/>
                  <a:pt x="407" y="518"/>
                </a:cubicBezTo>
                <a:cubicBezTo>
                  <a:pt x="416" y="518"/>
                  <a:pt x="423" y="525"/>
                  <a:pt x="423" y="534"/>
                </a:cubicBezTo>
                <a:cubicBezTo>
                  <a:pt x="423" y="542"/>
                  <a:pt x="416" y="550"/>
                  <a:pt x="407" y="550"/>
                </a:cubicBezTo>
                <a:lnTo>
                  <a:pt x="407" y="550"/>
                </a:lnTo>
                <a:close/>
                <a:moveTo>
                  <a:pt x="624" y="463"/>
                </a:moveTo>
                <a:lnTo>
                  <a:pt x="624" y="463"/>
                </a:lnTo>
                <a:cubicBezTo>
                  <a:pt x="624" y="463"/>
                  <a:pt x="624" y="463"/>
                  <a:pt x="624" y="463"/>
                </a:cubicBezTo>
                <a:lnTo>
                  <a:pt x="624" y="463"/>
                </a:lnTo>
                <a:lnTo>
                  <a:pt x="624" y="463"/>
                </a:lnTo>
                <a:lnTo>
                  <a:pt x="624" y="463"/>
                </a:lnTo>
                <a:close/>
                <a:moveTo>
                  <a:pt x="541" y="399"/>
                </a:moveTo>
                <a:lnTo>
                  <a:pt x="541" y="399"/>
                </a:lnTo>
                <a:cubicBezTo>
                  <a:pt x="539" y="395"/>
                  <a:pt x="539" y="389"/>
                  <a:pt x="539" y="383"/>
                </a:cubicBezTo>
                <a:cubicBezTo>
                  <a:pt x="531" y="385"/>
                  <a:pt x="523" y="389"/>
                  <a:pt x="516" y="395"/>
                </a:cubicBezTo>
                <a:cubicBezTo>
                  <a:pt x="518" y="395"/>
                  <a:pt x="522" y="397"/>
                  <a:pt x="527" y="398"/>
                </a:cubicBezTo>
                <a:cubicBezTo>
                  <a:pt x="531" y="398"/>
                  <a:pt x="536" y="399"/>
                  <a:pt x="541" y="399"/>
                </a:cubicBezTo>
                <a:lnTo>
                  <a:pt x="541" y="399"/>
                </a:lnTo>
                <a:close/>
                <a:moveTo>
                  <a:pt x="545" y="381"/>
                </a:moveTo>
                <a:lnTo>
                  <a:pt x="545" y="381"/>
                </a:lnTo>
                <a:cubicBezTo>
                  <a:pt x="544" y="389"/>
                  <a:pt x="545" y="395"/>
                  <a:pt x="547" y="400"/>
                </a:cubicBezTo>
                <a:cubicBezTo>
                  <a:pt x="551" y="400"/>
                  <a:pt x="554" y="399"/>
                  <a:pt x="558" y="399"/>
                </a:cubicBezTo>
                <a:cubicBezTo>
                  <a:pt x="556" y="397"/>
                  <a:pt x="555" y="393"/>
                  <a:pt x="555" y="389"/>
                </a:cubicBezTo>
                <a:cubicBezTo>
                  <a:pt x="555" y="386"/>
                  <a:pt x="555" y="382"/>
                  <a:pt x="556" y="379"/>
                </a:cubicBezTo>
                <a:cubicBezTo>
                  <a:pt x="553" y="380"/>
                  <a:pt x="549" y="380"/>
                  <a:pt x="545" y="381"/>
                </a:cubicBezTo>
                <a:lnTo>
                  <a:pt x="545" y="381"/>
                </a:lnTo>
                <a:close/>
                <a:moveTo>
                  <a:pt x="569" y="373"/>
                </a:moveTo>
                <a:lnTo>
                  <a:pt x="569" y="373"/>
                </a:lnTo>
                <a:cubicBezTo>
                  <a:pt x="572" y="373"/>
                  <a:pt x="576" y="372"/>
                  <a:pt x="579" y="373"/>
                </a:cubicBezTo>
                <a:cubicBezTo>
                  <a:pt x="581" y="373"/>
                  <a:pt x="582" y="375"/>
                  <a:pt x="582" y="376"/>
                </a:cubicBezTo>
                <a:cubicBezTo>
                  <a:pt x="582" y="379"/>
                  <a:pt x="577" y="381"/>
                  <a:pt x="574" y="382"/>
                </a:cubicBezTo>
                <a:cubicBezTo>
                  <a:pt x="574" y="384"/>
                  <a:pt x="575" y="386"/>
                  <a:pt x="575" y="387"/>
                </a:cubicBezTo>
                <a:cubicBezTo>
                  <a:pt x="576" y="395"/>
                  <a:pt x="572" y="402"/>
                  <a:pt x="567" y="404"/>
                </a:cubicBezTo>
                <a:cubicBezTo>
                  <a:pt x="567" y="404"/>
                  <a:pt x="567" y="404"/>
                  <a:pt x="567" y="404"/>
                </a:cubicBezTo>
                <a:cubicBezTo>
                  <a:pt x="560" y="405"/>
                  <a:pt x="553" y="405"/>
                  <a:pt x="546" y="405"/>
                </a:cubicBezTo>
                <a:cubicBezTo>
                  <a:pt x="545" y="405"/>
                  <a:pt x="545" y="405"/>
                  <a:pt x="544" y="405"/>
                </a:cubicBezTo>
                <a:cubicBezTo>
                  <a:pt x="533" y="405"/>
                  <a:pt x="521" y="403"/>
                  <a:pt x="511" y="399"/>
                </a:cubicBezTo>
                <a:cubicBezTo>
                  <a:pt x="511" y="399"/>
                  <a:pt x="511" y="399"/>
                  <a:pt x="511" y="399"/>
                </a:cubicBezTo>
                <a:cubicBezTo>
                  <a:pt x="508" y="402"/>
                  <a:pt x="504" y="399"/>
                  <a:pt x="506" y="396"/>
                </a:cubicBezTo>
                <a:cubicBezTo>
                  <a:pt x="506" y="396"/>
                  <a:pt x="507" y="395"/>
                  <a:pt x="508" y="394"/>
                </a:cubicBezTo>
                <a:cubicBezTo>
                  <a:pt x="508" y="394"/>
                  <a:pt x="509" y="393"/>
                  <a:pt x="509" y="393"/>
                </a:cubicBezTo>
                <a:cubicBezTo>
                  <a:pt x="515" y="387"/>
                  <a:pt x="534" y="373"/>
                  <a:pt x="569" y="373"/>
                </a:cubicBezTo>
                <a:close/>
              </a:path>
            </a:pathLst>
          </a:custGeom>
          <a:solidFill>
            <a:srgbClr val="000000"/>
          </a:solidFill>
          <a:ln w="0">
            <a:noFill/>
            <a:prstDash val="solid"/>
          </a:ln>
        </p:spPr>
        <p:txBody>
          <a:bodyPr vert="horz" wrap="square" lIns="91440" tIns="45720" rIns="91440" bIns="45720" anchor="t"/>
          <a:lstStyle/>
          <a:p>
            <a:endParaRPr sz="4267"/>
          </a:p>
        </p:txBody>
      </p:sp>
      <p:sp>
        <p:nvSpPr>
          <p:cNvPr id="11" name="Freeform 7">
            <a:extLst>
              <a:ext uri="{FF2B5EF4-FFF2-40B4-BE49-F238E27FC236}">
                <a16:creationId xmlns:a16="http://schemas.microsoft.com/office/drawing/2014/main" id="{AD4C2154-1036-25AE-9332-6CD29C8A49FF}"/>
              </a:ext>
            </a:extLst>
          </p:cNvPr>
          <p:cNvSpPr>
            <a:spLocks noGrp="1"/>
          </p:cNvSpPr>
          <p:nvPr/>
        </p:nvSpPr>
        <p:spPr>
          <a:xfrm>
            <a:off x="9977260" y="205399"/>
            <a:ext cx="700617" cy="768349"/>
          </a:xfrm>
          <a:custGeom>
            <a:avLst/>
            <a:gdLst>
              <a:gd name="T0" fmla="*/ 524 w 647"/>
              <a:gd name="T1" fmla="*/ 663 h 701"/>
              <a:gd name="T2" fmla="*/ 555 w 647"/>
              <a:gd name="T3" fmla="*/ 673 h 701"/>
              <a:gd name="T4" fmla="*/ 563 w 647"/>
              <a:gd name="T5" fmla="*/ 670 h 701"/>
              <a:gd name="T6" fmla="*/ 524 w 647"/>
              <a:gd name="T7" fmla="*/ 657 h 701"/>
              <a:gd name="T8" fmla="*/ 564 w 647"/>
              <a:gd name="T9" fmla="*/ 676 h 701"/>
              <a:gd name="T10" fmla="*/ 510 w 647"/>
              <a:gd name="T11" fmla="*/ 692 h 701"/>
              <a:gd name="T12" fmla="*/ 324 w 647"/>
              <a:gd name="T13" fmla="*/ 675 h 701"/>
              <a:gd name="T14" fmla="*/ 293 w 647"/>
              <a:gd name="T15" fmla="*/ 552 h 701"/>
              <a:gd name="T16" fmla="*/ 265 w 647"/>
              <a:gd name="T17" fmla="*/ 544 h 701"/>
              <a:gd name="T18" fmla="*/ 217 w 647"/>
              <a:gd name="T19" fmla="*/ 599 h 701"/>
              <a:gd name="T20" fmla="*/ 501 w 647"/>
              <a:gd name="T21" fmla="*/ 186 h 701"/>
              <a:gd name="T22" fmla="*/ 510 w 647"/>
              <a:gd name="T23" fmla="*/ 202 h 701"/>
              <a:gd name="T24" fmla="*/ 554 w 647"/>
              <a:gd name="T25" fmla="*/ 163 h 701"/>
              <a:gd name="T26" fmla="*/ 583 w 647"/>
              <a:gd name="T27" fmla="*/ 244 h 701"/>
              <a:gd name="T28" fmla="*/ 579 w 647"/>
              <a:gd name="T29" fmla="*/ 249 h 701"/>
              <a:gd name="T30" fmla="*/ 625 w 647"/>
              <a:gd name="T31" fmla="*/ 468 h 701"/>
              <a:gd name="T32" fmla="*/ 617 w 647"/>
              <a:gd name="T33" fmla="*/ 526 h 701"/>
              <a:gd name="T34" fmla="*/ 534 w 647"/>
              <a:gd name="T35" fmla="*/ 594 h 701"/>
              <a:gd name="T36" fmla="*/ 586 w 647"/>
              <a:gd name="T37" fmla="*/ 661 h 701"/>
              <a:gd name="T38" fmla="*/ 586 w 647"/>
              <a:gd name="T39" fmla="*/ 666 h 701"/>
              <a:gd name="T40" fmla="*/ 564 w 647"/>
              <a:gd name="T41" fmla="*/ 676 h 701"/>
              <a:gd name="T42" fmla="*/ 306 w 647"/>
              <a:gd name="T43" fmla="*/ 571 h 701"/>
              <a:gd name="T44" fmla="*/ 303 w 647"/>
              <a:gd name="T45" fmla="*/ 560 h 701"/>
              <a:gd name="T46" fmla="*/ 302 w 647"/>
              <a:gd name="T47" fmla="*/ 575 h 701"/>
              <a:gd name="T48" fmla="*/ 303 w 647"/>
              <a:gd name="T49" fmla="*/ 596 h 701"/>
              <a:gd name="T50" fmla="*/ 283 w 647"/>
              <a:gd name="T51" fmla="*/ 607 h 701"/>
              <a:gd name="T52" fmla="*/ 333 w 647"/>
              <a:gd name="T53" fmla="*/ 540 h 701"/>
              <a:gd name="T54" fmla="*/ 283 w 647"/>
              <a:gd name="T55" fmla="*/ 607 h 701"/>
              <a:gd name="T56" fmla="*/ 301 w 647"/>
              <a:gd name="T57" fmla="*/ 635 h 701"/>
              <a:gd name="T58" fmla="*/ 289 w 647"/>
              <a:gd name="T59" fmla="*/ 623 h 701"/>
              <a:gd name="T60" fmla="*/ 307 w 647"/>
              <a:gd name="T61" fmla="*/ 639 h 701"/>
              <a:gd name="T62" fmla="*/ 352 w 647"/>
              <a:gd name="T63" fmla="*/ 524 h 701"/>
              <a:gd name="T64" fmla="*/ 527 w 647"/>
              <a:gd name="T65" fmla="*/ 353 h 701"/>
              <a:gd name="T66" fmla="*/ 578 w 647"/>
              <a:gd name="T67" fmla="*/ 264 h 701"/>
              <a:gd name="T68" fmla="*/ 527 w 647"/>
              <a:gd name="T69" fmla="*/ 353 h 701"/>
              <a:gd name="T70" fmla="*/ 519 w 647"/>
              <a:gd name="T71" fmla="*/ 356 h 701"/>
              <a:gd name="T72" fmla="*/ 528 w 647"/>
              <a:gd name="T73" fmla="*/ 314 h 701"/>
              <a:gd name="T74" fmla="*/ 516 w 647"/>
              <a:gd name="T75" fmla="*/ 310 h 701"/>
              <a:gd name="T76" fmla="*/ 518 w 647"/>
              <a:gd name="T77" fmla="*/ 357 h 701"/>
              <a:gd name="T78" fmla="*/ 374 w 647"/>
              <a:gd name="T79" fmla="*/ 525 h 701"/>
              <a:gd name="T80" fmla="*/ 366 w 647"/>
              <a:gd name="T81" fmla="*/ 510 h 701"/>
              <a:gd name="T82" fmla="*/ 387 w 647"/>
              <a:gd name="T83" fmla="*/ 505 h 701"/>
              <a:gd name="T84" fmla="*/ 394 w 647"/>
              <a:gd name="T85" fmla="*/ 479 h 701"/>
              <a:gd name="T86" fmla="*/ 387 w 647"/>
              <a:gd name="T87" fmla="*/ 505 h 701"/>
              <a:gd name="T88" fmla="*/ 258 w 647"/>
              <a:gd name="T89" fmla="*/ 506 h 701"/>
              <a:gd name="T90" fmla="*/ 226 w 647"/>
              <a:gd name="T91" fmla="*/ 406 h 701"/>
              <a:gd name="T92" fmla="*/ 228 w 647"/>
              <a:gd name="T93" fmla="*/ 363 h 701"/>
              <a:gd name="T94" fmla="*/ 231 w 647"/>
              <a:gd name="T95" fmla="*/ 349 h 701"/>
              <a:gd name="T96" fmla="*/ 310 w 647"/>
              <a:gd name="T97" fmla="*/ 227 h 701"/>
              <a:gd name="T98" fmla="*/ 358 w 647"/>
              <a:gd name="T99" fmla="*/ 200 h 701"/>
              <a:gd name="T100" fmla="*/ 462 w 647"/>
              <a:gd name="T101" fmla="*/ 190 h 701"/>
              <a:gd name="T102" fmla="*/ 476 w 647"/>
              <a:gd name="T103" fmla="*/ 180 h 701"/>
              <a:gd name="T104" fmla="*/ 269 w 647"/>
              <a:gd name="T105" fmla="*/ 246 h 701"/>
              <a:gd name="T106" fmla="*/ 245 w 647"/>
              <a:gd name="T107" fmla="*/ 277 h 701"/>
              <a:gd name="T108" fmla="*/ 217 w 647"/>
              <a:gd name="T109" fmla="*/ 345 h 701"/>
              <a:gd name="T110" fmla="*/ 253 w 647"/>
              <a:gd name="T111" fmla="*/ 527 h 701"/>
            </a:gdLst>
            <a:ahLst/>
            <a:cxnLst/>
            <a:rect l="0" t="0" r="r" b="b"/>
            <a:pathLst>
              <a:path w="647" h="701">
                <a:moveTo>
                  <a:pt x="555" y="673"/>
                </a:moveTo>
                <a:lnTo>
                  <a:pt x="555" y="673"/>
                </a:lnTo>
                <a:cubicBezTo>
                  <a:pt x="549" y="670"/>
                  <a:pt x="537" y="667"/>
                  <a:pt x="524" y="663"/>
                </a:cubicBezTo>
                <a:cubicBezTo>
                  <a:pt x="525" y="670"/>
                  <a:pt x="526" y="677"/>
                  <a:pt x="527" y="682"/>
                </a:cubicBezTo>
                <a:cubicBezTo>
                  <a:pt x="536" y="680"/>
                  <a:pt x="546" y="677"/>
                  <a:pt x="555" y="673"/>
                </a:cubicBezTo>
                <a:lnTo>
                  <a:pt x="555" y="673"/>
                </a:lnTo>
                <a:close/>
                <a:moveTo>
                  <a:pt x="524" y="657"/>
                </a:moveTo>
                <a:lnTo>
                  <a:pt x="524" y="657"/>
                </a:lnTo>
                <a:cubicBezTo>
                  <a:pt x="539" y="662"/>
                  <a:pt x="556" y="666"/>
                  <a:pt x="563" y="670"/>
                </a:cubicBezTo>
                <a:cubicBezTo>
                  <a:pt x="568" y="668"/>
                  <a:pt x="574" y="666"/>
                  <a:pt x="579" y="663"/>
                </a:cubicBezTo>
                <a:cubicBezTo>
                  <a:pt x="569" y="658"/>
                  <a:pt x="546" y="651"/>
                  <a:pt x="524" y="645"/>
                </a:cubicBezTo>
                <a:cubicBezTo>
                  <a:pt x="524" y="649"/>
                  <a:pt x="524" y="653"/>
                  <a:pt x="524" y="657"/>
                </a:cubicBezTo>
                <a:lnTo>
                  <a:pt x="524" y="657"/>
                </a:lnTo>
                <a:close/>
                <a:moveTo>
                  <a:pt x="564" y="676"/>
                </a:moveTo>
                <a:lnTo>
                  <a:pt x="564" y="676"/>
                </a:lnTo>
                <a:cubicBezTo>
                  <a:pt x="563" y="676"/>
                  <a:pt x="563" y="676"/>
                  <a:pt x="563" y="676"/>
                </a:cubicBezTo>
                <a:cubicBezTo>
                  <a:pt x="546" y="683"/>
                  <a:pt x="528" y="688"/>
                  <a:pt x="511" y="692"/>
                </a:cubicBezTo>
                <a:cubicBezTo>
                  <a:pt x="511" y="692"/>
                  <a:pt x="510" y="692"/>
                  <a:pt x="510" y="692"/>
                </a:cubicBezTo>
                <a:cubicBezTo>
                  <a:pt x="494" y="695"/>
                  <a:pt x="478" y="697"/>
                  <a:pt x="463" y="698"/>
                </a:cubicBezTo>
                <a:cubicBezTo>
                  <a:pt x="462" y="698"/>
                  <a:pt x="462" y="698"/>
                  <a:pt x="462" y="698"/>
                </a:cubicBezTo>
                <a:cubicBezTo>
                  <a:pt x="410" y="701"/>
                  <a:pt x="361" y="691"/>
                  <a:pt x="324" y="675"/>
                </a:cubicBezTo>
                <a:lnTo>
                  <a:pt x="323" y="674"/>
                </a:lnTo>
                <a:cubicBezTo>
                  <a:pt x="323" y="674"/>
                  <a:pt x="322" y="674"/>
                  <a:pt x="322" y="674"/>
                </a:cubicBezTo>
                <a:cubicBezTo>
                  <a:pt x="260" y="645"/>
                  <a:pt x="232" y="594"/>
                  <a:pt x="293" y="552"/>
                </a:cubicBezTo>
                <a:cubicBezTo>
                  <a:pt x="286" y="542"/>
                  <a:pt x="278" y="532"/>
                  <a:pt x="270" y="522"/>
                </a:cubicBezTo>
                <a:cubicBezTo>
                  <a:pt x="267" y="518"/>
                  <a:pt x="265" y="515"/>
                  <a:pt x="262" y="511"/>
                </a:cubicBezTo>
                <a:cubicBezTo>
                  <a:pt x="257" y="524"/>
                  <a:pt x="257" y="532"/>
                  <a:pt x="265" y="544"/>
                </a:cubicBezTo>
                <a:cubicBezTo>
                  <a:pt x="266" y="545"/>
                  <a:pt x="265" y="546"/>
                  <a:pt x="265" y="547"/>
                </a:cubicBezTo>
                <a:lnTo>
                  <a:pt x="221" y="599"/>
                </a:lnTo>
                <a:cubicBezTo>
                  <a:pt x="220" y="601"/>
                  <a:pt x="218" y="601"/>
                  <a:pt x="217" y="599"/>
                </a:cubicBezTo>
                <a:cubicBezTo>
                  <a:pt x="0" y="361"/>
                  <a:pt x="247" y="0"/>
                  <a:pt x="546" y="104"/>
                </a:cubicBezTo>
                <a:cubicBezTo>
                  <a:pt x="548" y="105"/>
                  <a:pt x="549" y="106"/>
                  <a:pt x="548" y="108"/>
                </a:cubicBezTo>
                <a:lnTo>
                  <a:pt x="501" y="186"/>
                </a:lnTo>
                <a:cubicBezTo>
                  <a:pt x="500" y="187"/>
                  <a:pt x="499" y="188"/>
                  <a:pt x="498" y="187"/>
                </a:cubicBezTo>
                <a:cubicBezTo>
                  <a:pt x="483" y="185"/>
                  <a:pt x="474" y="186"/>
                  <a:pt x="468" y="192"/>
                </a:cubicBezTo>
                <a:cubicBezTo>
                  <a:pt x="482" y="194"/>
                  <a:pt x="496" y="197"/>
                  <a:pt x="510" y="202"/>
                </a:cubicBezTo>
                <a:cubicBezTo>
                  <a:pt x="523" y="188"/>
                  <a:pt x="536" y="175"/>
                  <a:pt x="551" y="163"/>
                </a:cubicBezTo>
                <a:cubicBezTo>
                  <a:pt x="551" y="163"/>
                  <a:pt x="551" y="163"/>
                  <a:pt x="552" y="163"/>
                </a:cubicBezTo>
                <a:cubicBezTo>
                  <a:pt x="552" y="162"/>
                  <a:pt x="553" y="162"/>
                  <a:pt x="554" y="163"/>
                </a:cubicBezTo>
                <a:cubicBezTo>
                  <a:pt x="555" y="163"/>
                  <a:pt x="555" y="163"/>
                  <a:pt x="556" y="164"/>
                </a:cubicBezTo>
                <a:cubicBezTo>
                  <a:pt x="556" y="164"/>
                  <a:pt x="556" y="165"/>
                  <a:pt x="556" y="165"/>
                </a:cubicBezTo>
                <a:lnTo>
                  <a:pt x="583" y="244"/>
                </a:lnTo>
                <a:cubicBezTo>
                  <a:pt x="583" y="245"/>
                  <a:pt x="583" y="245"/>
                  <a:pt x="583" y="246"/>
                </a:cubicBezTo>
                <a:cubicBezTo>
                  <a:pt x="583" y="247"/>
                  <a:pt x="582" y="247"/>
                  <a:pt x="582" y="247"/>
                </a:cubicBezTo>
                <a:cubicBezTo>
                  <a:pt x="581" y="248"/>
                  <a:pt x="580" y="249"/>
                  <a:pt x="579" y="249"/>
                </a:cubicBezTo>
                <a:cubicBezTo>
                  <a:pt x="585" y="266"/>
                  <a:pt x="623" y="382"/>
                  <a:pt x="635" y="413"/>
                </a:cubicBezTo>
                <a:cubicBezTo>
                  <a:pt x="639" y="423"/>
                  <a:pt x="647" y="441"/>
                  <a:pt x="647" y="452"/>
                </a:cubicBezTo>
                <a:cubicBezTo>
                  <a:pt x="647" y="462"/>
                  <a:pt x="640" y="467"/>
                  <a:pt x="625" y="468"/>
                </a:cubicBezTo>
                <a:cubicBezTo>
                  <a:pt x="617" y="475"/>
                  <a:pt x="616" y="478"/>
                  <a:pt x="620" y="483"/>
                </a:cubicBezTo>
                <a:cubicBezTo>
                  <a:pt x="628" y="494"/>
                  <a:pt x="624" y="499"/>
                  <a:pt x="615" y="506"/>
                </a:cubicBezTo>
                <a:cubicBezTo>
                  <a:pt x="624" y="513"/>
                  <a:pt x="622" y="526"/>
                  <a:pt x="617" y="526"/>
                </a:cubicBezTo>
                <a:cubicBezTo>
                  <a:pt x="611" y="526"/>
                  <a:pt x="609" y="528"/>
                  <a:pt x="605" y="533"/>
                </a:cubicBezTo>
                <a:cubicBezTo>
                  <a:pt x="633" y="560"/>
                  <a:pt x="610" y="583"/>
                  <a:pt x="573" y="591"/>
                </a:cubicBezTo>
                <a:cubicBezTo>
                  <a:pt x="562" y="594"/>
                  <a:pt x="548" y="595"/>
                  <a:pt x="534" y="594"/>
                </a:cubicBezTo>
                <a:cubicBezTo>
                  <a:pt x="534" y="594"/>
                  <a:pt x="534" y="594"/>
                  <a:pt x="534" y="595"/>
                </a:cubicBezTo>
                <a:cubicBezTo>
                  <a:pt x="529" y="610"/>
                  <a:pt x="526" y="625"/>
                  <a:pt x="525" y="639"/>
                </a:cubicBezTo>
                <a:cubicBezTo>
                  <a:pt x="549" y="646"/>
                  <a:pt x="578" y="655"/>
                  <a:pt x="586" y="661"/>
                </a:cubicBezTo>
                <a:cubicBezTo>
                  <a:pt x="586" y="661"/>
                  <a:pt x="587" y="662"/>
                  <a:pt x="587" y="662"/>
                </a:cubicBezTo>
                <a:cubicBezTo>
                  <a:pt x="587" y="663"/>
                  <a:pt x="588" y="663"/>
                  <a:pt x="587" y="664"/>
                </a:cubicBezTo>
                <a:cubicBezTo>
                  <a:pt x="587" y="665"/>
                  <a:pt x="587" y="665"/>
                  <a:pt x="586" y="666"/>
                </a:cubicBezTo>
                <a:cubicBezTo>
                  <a:pt x="586" y="666"/>
                  <a:pt x="586" y="666"/>
                  <a:pt x="585" y="666"/>
                </a:cubicBezTo>
                <a:cubicBezTo>
                  <a:pt x="578" y="670"/>
                  <a:pt x="571" y="673"/>
                  <a:pt x="564" y="676"/>
                </a:cubicBezTo>
                <a:lnTo>
                  <a:pt x="564" y="676"/>
                </a:lnTo>
                <a:close/>
                <a:moveTo>
                  <a:pt x="306" y="570"/>
                </a:moveTo>
                <a:lnTo>
                  <a:pt x="306" y="570"/>
                </a:lnTo>
                <a:cubicBezTo>
                  <a:pt x="306" y="570"/>
                  <a:pt x="306" y="570"/>
                  <a:pt x="306" y="571"/>
                </a:cubicBezTo>
                <a:cubicBezTo>
                  <a:pt x="308" y="577"/>
                  <a:pt x="309" y="584"/>
                  <a:pt x="309" y="592"/>
                </a:cubicBezTo>
                <a:cubicBezTo>
                  <a:pt x="326" y="581"/>
                  <a:pt x="321" y="561"/>
                  <a:pt x="316" y="552"/>
                </a:cubicBezTo>
                <a:cubicBezTo>
                  <a:pt x="312" y="555"/>
                  <a:pt x="307" y="558"/>
                  <a:pt x="303" y="560"/>
                </a:cubicBezTo>
                <a:cubicBezTo>
                  <a:pt x="304" y="563"/>
                  <a:pt x="305" y="566"/>
                  <a:pt x="306" y="570"/>
                </a:cubicBezTo>
                <a:lnTo>
                  <a:pt x="306" y="570"/>
                </a:lnTo>
                <a:close/>
                <a:moveTo>
                  <a:pt x="302" y="575"/>
                </a:moveTo>
                <a:lnTo>
                  <a:pt x="302" y="575"/>
                </a:lnTo>
                <a:cubicBezTo>
                  <a:pt x="289" y="583"/>
                  <a:pt x="284" y="592"/>
                  <a:pt x="283" y="601"/>
                </a:cubicBezTo>
                <a:cubicBezTo>
                  <a:pt x="291" y="600"/>
                  <a:pt x="297" y="598"/>
                  <a:pt x="303" y="596"/>
                </a:cubicBezTo>
                <a:cubicBezTo>
                  <a:pt x="303" y="588"/>
                  <a:pt x="303" y="581"/>
                  <a:pt x="302" y="575"/>
                </a:cubicBezTo>
                <a:lnTo>
                  <a:pt x="302" y="575"/>
                </a:lnTo>
                <a:close/>
                <a:moveTo>
                  <a:pt x="283" y="607"/>
                </a:moveTo>
                <a:lnTo>
                  <a:pt x="283" y="607"/>
                </a:lnTo>
                <a:cubicBezTo>
                  <a:pt x="283" y="610"/>
                  <a:pt x="284" y="614"/>
                  <a:pt x="286" y="617"/>
                </a:cubicBezTo>
                <a:cubicBezTo>
                  <a:pt x="325" y="617"/>
                  <a:pt x="354" y="578"/>
                  <a:pt x="333" y="540"/>
                </a:cubicBezTo>
                <a:cubicBezTo>
                  <a:pt x="329" y="543"/>
                  <a:pt x="325" y="546"/>
                  <a:pt x="321" y="549"/>
                </a:cubicBezTo>
                <a:cubicBezTo>
                  <a:pt x="329" y="563"/>
                  <a:pt x="335" y="601"/>
                  <a:pt x="283" y="607"/>
                </a:cubicBezTo>
                <a:lnTo>
                  <a:pt x="283" y="607"/>
                </a:lnTo>
                <a:close/>
                <a:moveTo>
                  <a:pt x="289" y="623"/>
                </a:moveTo>
                <a:lnTo>
                  <a:pt x="289" y="623"/>
                </a:lnTo>
                <a:cubicBezTo>
                  <a:pt x="292" y="627"/>
                  <a:pt x="296" y="631"/>
                  <a:pt x="301" y="635"/>
                </a:cubicBezTo>
                <a:cubicBezTo>
                  <a:pt x="358" y="619"/>
                  <a:pt x="370" y="571"/>
                  <a:pt x="348" y="528"/>
                </a:cubicBezTo>
                <a:cubicBezTo>
                  <a:pt x="344" y="531"/>
                  <a:pt x="341" y="533"/>
                  <a:pt x="338" y="536"/>
                </a:cubicBezTo>
                <a:cubicBezTo>
                  <a:pt x="362" y="578"/>
                  <a:pt x="330" y="620"/>
                  <a:pt x="289" y="623"/>
                </a:cubicBezTo>
                <a:lnTo>
                  <a:pt x="289" y="623"/>
                </a:lnTo>
                <a:close/>
                <a:moveTo>
                  <a:pt x="307" y="639"/>
                </a:moveTo>
                <a:lnTo>
                  <a:pt x="307" y="639"/>
                </a:lnTo>
                <a:cubicBezTo>
                  <a:pt x="312" y="643"/>
                  <a:pt x="318" y="645"/>
                  <a:pt x="325" y="647"/>
                </a:cubicBezTo>
                <a:cubicBezTo>
                  <a:pt x="395" y="612"/>
                  <a:pt x="378" y="539"/>
                  <a:pt x="362" y="514"/>
                </a:cubicBezTo>
                <a:cubicBezTo>
                  <a:pt x="359" y="517"/>
                  <a:pt x="355" y="521"/>
                  <a:pt x="352" y="524"/>
                </a:cubicBezTo>
                <a:cubicBezTo>
                  <a:pt x="376" y="569"/>
                  <a:pt x="365" y="620"/>
                  <a:pt x="307" y="639"/>
                </a:cubicBezTo>
                <a:lnTo>
                  <a:pt x="307" y="639"/>
                </a:lnTo>
                <a:close/>
                <a:moveTo>
                  <a:pt x="527" y="353"/>
                </a:moveTo>
                <a:lnTo>
                  <a:pt x="527" y="353"/>
                </a:lnTo>
                <a:cubicBezTo>
                  <a:pt x="552" y="343"/>
                  <a:pt x="582" y="339"/>
                  <a:pt x="606" y="346"/>
                </a:cubicBezTo>
                <a:cubicBezTo>
                  <a:pt x="595" y="315"/>
                  <a:pt x="584" y="282"/>
                  <a:pt x="578" y="264"/>
                </a:cubicBezTo>
                <a:cubicBezTo>
                  <a:pt x="578" y="295"/>
                  <a:pt x="563" y="325"/>
                  <a:pt x="532" y="338"/>
                </a:cubicBezTo>
                <a:cubicBezTo>
                  <a:pt x="531" y="343"/>
                  <a:pt x="529" y="348"/>
                  <a:pt x="527" y="353"/>
                </a:cubicBezTo>
                <a:lnTo>
                  <a:pt x="527" y="353"/>
                </a:lnTo>
                <a:close/>
                <a:moveTo>
                  <a:pt x="518" y="357"/>
                </a:moveTo>
                <a:lnTo>
                  <a:pt x="518" y="357"/>
                </a:lnTo>
                <a:cubicBezTo>
                  <a:pt x="518" y="357"/>
                  <a:pt x="518" y="357"/>
                  <a:pt x="519" y="356"/>
                </a:cubicBezTo>
                <a:cubicBezTo>
                  <a:pt x="523" y="350"/>
                  <a:pt x="525" y="343"/>
                  <a:pt x="527" y="336"/>
                </a:cubicBezTo>
                <a:cubicBezTo>
                  <a:pt x="527" y="335"/>
                  <a:pt x="527" y="335"/>
                  <a:pt x="527" y="335"/>
                </a:cubicBezTo>
                <a:cubicBezTo>
                  <a:pt x="528" y="328"/>
                  <a:pt x="529" y="321"/>
                  <a:pt x="528" y="314"/>
                </a:cubicBezTo>
                <a:cubicBezTo>
                  <a:pt x="528" y="314"/>
                  <a:pt x="528" y="314"/>
                  <a:pt x="528" y="313"/>
                </a:cubicBezTo>
                <a:cubicBezTo>
                  <a:pt x="528" y="308"/>
                  <a:pt x="527" y="303"/>
                  <a:pt x="526" y="298"/>
                </a:cubicBezTo>
                <a:cubicBezTo>
                  <a:pt x="523" y="302"/>
                  <a:pt x="519" y="306"/>
                  <a:pt x="516" y="310"/>
                </a:cubicBezTo>
                <a:cubicBezTo>
                  <a:pt x="517" y="328"/>
                  <a:pt x="513" y="348"/>
                  <a:pt x="494" y="365"/>
                </a:cubicBezTo>
                <a:cubicBezTo>
                  <a:pt x="495" y="371"/>
                  <a:pt x="495" y="377"/>
                  <a:pt x="494" y="382"/>
                </a:cubicBezTo>
                <a:cubicBezTo>
                  <a:pt x="505" y="374"/>
                  <a:pt x="513" y="366"/>
                  <a:pt x="518" y="357"/>
                </a:cubicBezTo>
                <a:lnTo>
                  <a:pt x="518" y="357"/>
                </a:lnTo>
                <a:close/>
                <a:moveTo>
                  <a:pt x="374" y="525"/>
                </a:moveTo>
                <a:lnTo>
                  <a:pt x="374" y="525"/>
                </a:lnTo>
                <a:cubicBezTo>
                  <a:pt x="375" y="519"/>
                  <a:pt x="378" y="513"/>
                  <a:pt x="383" y="509"/>
                </a:cubicBezTo>
                <a:cubicBezTo>
                  <a:pt x="381" y="505"/>
                  <a:pt x="379" y="501"/>
                  <a:pt x="379" y="497"/>
                </a:cubicBezTo>
                <a:cubicBezTo>
                  <a:pt x="375" y="501"/>
                  <a:pt x="370" y="506"/>
                  <a:pt x="366" y="510"/>
                </a:cubicBezTo>
                <a:cubicBezTo>
                  <a:pt x="369" y="514"/>
                  <a:pt x="371" y="519"/>
                  <a:pt x="374" y="525"/>
                </a:cubicBezTo>
                <a:lnTo>
                  <a:pt x="374" y="525"/>
                </a:lnTo>
                <a:close/>
                <a:moveTo>
                  <a:pt x="387" y="505"/>
                </a:moveTo>
                <a:lnTo>
                  <a:pt x="387" y="505"/>
                </a:lnTo>
                <a:cubicBezTo>
                  <a:pt x="391" y="503"/>
                  <a:pt x="394" y="501"/>
                  <a:pt x="399" y="500"/>
                </a:cubicBezTo>
                <a:cubicBezTo>
                  <a:pt x="396" y="494"/>
                  <a:pt x="394" y="487"/>
                  <a:pt x="394" y="479"/>
                </a:cubicBezTo>
                <a:cubicBezTo>
                  <a:pt x="390" y="483"/>
                  <a:pt x="387" y="487"/>
                  <a:pt x="383" y="491"/>
                </a:cubicBezTo>
                <a:cubicBezTo>
                  <a:pt x="384" y="496"/>
                  <a:pt x="385" y="501"/>
                  <a:pt x="387" y="505"/>
                </a:cubicBezTo>
                <a:lnTo>
                  <a:pt x="387" y="505"/>
                </a:lnTo>
                <a:close/>
                <a:moveTo>
                  <a:pt x="253" y="527"/>
                </a:moveTo>
                <a:lnTo>
                  <a:pt x="253" y="527"/>
                </a:lnTo>
                <a:cubicBezTo>
                  <a:pt x="253" y="520"/>
                  <a:pt x="255" y="513"/>
                  <a:pt x="258" y="506"/>
                </a:cubicBezTo>
                <a:cubicBezTo>
                  <a:pt x="244" y="485"/>
                  <a:pt x="232" y="458"/>
                  <a:pt x="227" y="419"/>
                </a:cubicBezTo>
                <a:cubicBezTo>
                  <a:pt x="227" y="418"/>
                  <a:pt x="227" y="418"/>
                  <a:pt x="227" y="418"/>
                </a:cubicBezTo>
                <a:cubicBezTo>
                  <a:pt x="227" y="414"/>
                  <a:pt x="227" y="410"/>
                  <a:pt x="226" y="406"/>
                </a:cubicBezTo>
                <a:cubicBezTo>
                  <a:pt x="226" y="406"/>
                  <a:pt x="226" y="406"/>
                  <a:pt x="226" y="405"/>
                </a:cubicBezTo>
                <a:cubicBezTo>
                  <a:pt x="226" y="404"/>
                  <a:pt x="226" y="403"/>
                  <a:pt x="226" y="401"/>
                </a:cubicBezTo>
                <a:cubicBezTo>
                  <a:pt x="226" y="388"/>
                  <a:pt x="226" y="375"/>
                  <a:pt x="228" y="363"/>
                </a:cubicBezTo>
                <a:cubicBezTo>
                  <a:pt x="228" y="362"/>
                  <a:pt x="229" y="362"/>
                  <a:pt x="229" y="362"/>
                </a:cubicBezTo>
                <a:cubicBezTo>
                  <a:pt x="229" y="358"/>
                  <a:pt x="230" y="354"/>
                  <a:pt x="231" y="350"/>
                </a:cubicBezTo>
                <a:cubicBezTo>
                  <a:pt x="231" y="350"/>
                  <a:pt x="231" y="349"/>
                  <a:pt x="231" y="349"/>
                </a:cubicBezTo>
                <a:cubicBezTo>
                  <a:pt x="239" y="313"/>
                  <a:pt x="258" y="278"/>
                  <a:pt x="284" y="250"/>
                </a:cubicBezTo>
                <a:cubicBezTo>
                  <a:pt x="284" y="250"/>
                  <a:pt x="284" y="249"/>
                  <a:pt x="284" y="249"/>
                </a:cubicBezTo>
                <a:cubicBezTo>
                  <a:pt x="292" y="241"/>
                  <a:pt x="301" y="234"/>
                  <a:pt x="310" y="227"/>
                </a:cubicBezTo>
                <a:lnTo>
                  <a:pt x="310" y="227"/>
                </a:lnTo>
                <a:cubicBezTo>
                  <a:pt x="324" y="216"/>
                  <a:pt x="340" y="207"/>
                  <a:pt x="358" y="201"/>
                </a:cubicBezTo>
                <a:cubicBezTo>
                  <a:pt x="358" y="200"/>
                  <a:pt x="358" y="200"/>
                  <a:pt x="358" y="200"/>
                </a:cubicBezTo>
                <a:cubicBezTo>
                  <a:pt x="379" y="192"/>
                  <a:pt x="403" y="188"/>
                  <a:pt x="428" y="188"/>
                </a:cubicBezTo>
                <a:cubicBezTo>
                  <a:pt x="430" y="188"/>
                  <a:pt x="431" y="188"/>
                  <a:pt x="433" y="188"/>
                </a:cubicBezTo>
                <a:cubicBezTo>
                  <a:pt x="442" y="188"/>
                  <a:pt x="452" y="189"/>
                  <a:pt x="462" y="190"/>
                </a:cubicBezTo>
                <a:cubicBezTo>
                  <a:pt x="466" y="185"/>
                  <a:pt x="471" y="182"/>
                  <a:pt x="478" y="181"/>
                </a:cubicBezTo>
                <a:cubicBezTo>
                  <a:pt x="477" y="181"/>
                  <a:pt x="477" y="180"/>
                  <a:pt x="476" y="180"/>
                </a:cubicBezTo>
                <a:cubicBezTo>
                  <a:pt x="476" y="180"/>
                  <a:pt x="476" y="180"/>
                  <a:pt x="476" y="180"/>
                </a:cubicBezTo>
                <a:cubicBezTo>
                  <a:pt x="464" y="177"/>
                  <a:pt x="451" y="175"/>
                  <a:pt x="439" y="174"/>
                </a:cubicBezTo>
                <a:lnTo>
                  <a:pt x="439" y="174"/>
                </a:lnTo>
                <a:cubicBezTo>
                  <a:pt x="374" y="170"/>
                  <a:pt x="312" y="198"/>
                  <a:pt x="269" y="246"/>
                </a:cubicBezTo>
                <a:lnTo>
                  <a:pt x="269" y="246"/>
                </a:lnTo>
                <a:cubicBezTo>
                  <a:pt x="260" y="256"/>
                  <a:pt x="252" y="266"/>
                  <a:pt x="245" y="277"/>
                </a:cubicBezTo>
                <a:cubicBezTo>
                  <a:pt x="245" y="277"/>
                  <a:pt x="245" y="277"/>
                  <a:pt x="245" y="277"/>
                </a:cubicBezTo>
                <a:cubicBezTo>
                  <a:pt x="238" y="288"/>
                  <a:pt x="233" y="298"/>
                  <a:pt x="228" y="310"/>
                </a:cubicBezTo>
                <a:cubicBezTo>
                  <a:pt x="228" y="310"/>
                  <a:pt x="228" y="310"/>
                  <a:pt x="228" y="310"/>
                </a:cubicBezTo>
                <a:cubicBezTo>
                  <a:pt x="223" y="321"/>
                  <a:pt x="219" y="333"/>
                  <a:pt x="217" y="345"/>
                </a:cubicBezTo>
                <a:cubicBezTo>
                  <a:pt x="206" y="391"/>
                  <a:pt x="210" y="442"/>
                  <a:pt x="235" y="494"/>
                </a:cubicBezTo>
                <a:lnTo>
                  <a:pt x="235" y="494"/>
                </a:lnTo>
                <a:cubicBezTo>
                  <a:pt x="240" y="505"/>
                  <a:pt x="246" y="516"/>
                  <a:pt x="253" y="527"/>
                </a:cubicBezTo>
                <a:lnTo>
                  <a:pt x="253" y="527"/>
                </a:lnTo>
                <a:close/>
              </a:path>
            </a:pathLst>
          </a:custGeom>
          <a:noFill/>
          <a:ln w="1588">
            <a:noFill/>
            <a:prstDash val="solid"/>
          </a:ln>
        </p:spPr>
        <p:txBody>
          <a:bodyPr vert="horz" wrap="square" lIns="91440" tIns="45720" rIns="91440" bIns="45720" anchor="t"/>
          <a:lstStyle/>
          <a:p>
            <a:endParaRPr sz="4267"/>
          </a:p>
        </p:txBody>
      </p:sp>
      <p:sp>
        <p:nvSpPr>
          <p:cNvPr id="12" name="Freeform 8">
            <a:extLst>
              <a:ext uri="{FF2B5EF4-FFF2-40B4-BE49-F238E27FC236}">
                <a16:creationId xmlns:a16="http://schemas.microsoft.com/office/drawing/2014/main" id="{F1AA4C57-F564-9D30-8972-9143A104F615}"/>
              </a:ext>
            </a:extLst>
          </p:cNvPr>
          <p:cNvSpPr>
            <a:spLocks noGrp="1"/>
          </p:cNvSpPr>
          <p:nvPr/>
        </p:nvSpPr>
        <p:spPr>
          <a:xfrm>
            <a:off x="10229144" y="391666"/>
            <a:ext cx="364066" cy="406400"/>
          </a:xfrm>
          <a:custGeom>
            <a:avLst/>
            <a:gdLst>
              <a:gd name="T0" fmla="*/ 31 w 337"/>
              <a:gd name="T1" fmla="*/ 334 h 370"/>
              <a:gd name="T2" fmla="*/ 55 w 337"/>
              <a:gd name="T3" fmla="*/ 309 h 370"/>
              <a:gd name="T4" fmla="*/ 27 w 337"/>
              <a:gd name="T5" fmla="*/ 282 h 370"/>
              <a:gd name="T6" fmla="*/ 8 w 337"/>
              <a:gd name="T7" fmla="*/ 272 h 370"/>
              <a:gd name="T8" fmla="*/ 31 w 337"/>
              <a:gd name="T9" fmla="*/ 333 h 370"/>
              <a:gd name="T10" fmla="*/ 58 w 337"/>
              <a:gd name="T11" fmla="*/ 370 h 370"/>
              <a:gd name="T12" fmla="*/ 303 w 337"/>
              <a:gd name="T13" fmla="*/ 58 h 370"/>
              <a:gd name="T14" fmla="*/ 58 w 337"/>
              <a:gd name="T15" fmla="*/ 370 h 370"/>
              <a:gd name="T16" fmla="*/ 325 w 337"/>
              <a:gd name="T17" fmla="*/ 18 h 370"/>
              <a:gd name="T18" fmla="*/ 327 w 337"/>
              <a:gd name="T19" fmla="*/ 60 h 370"/>
              <a:gd name="T20" fmla="*/ 322 w 337"/>
              <a:gd name="T21" fmla="*/ 40 h 370"/>
              <a:gd name="T22" fmla="*/ 325 w 337"/>
              <a:gd name="T23" fmla="*/ 18 h 370"/>
              <a:gd name="T24" fmla="*/ 41 w 337"/>
              <a:gd name="T25" fmla="*/ 347 h 370"/>
              <a:gd name="T26" fmla="*/ 186 w 337"/>
              <a:gd name="T27" fmla="*/ 194 h 370"/>
              <a:gd name="T28" fmla="*/ 323 w 337"/>
              <a:gd name="T29" fmla="*/ 13 h 370"/>
              <a:gd name="T30" fmla="*/ 267 w 337"/>
              <a:gd name="T31" fmla="*/ 53 h 370"/>
              <a:gd name="T32" fmla="*/ 145 w 337"/>
              <a:gd name="T33" fmla="*/ 232 h 370"/>
              <a:gd name="T34" fmla="*/ 114 w 337"/>
              <a:gd name="T35" fmla="*/ 274 h 370"/>
              <a:gd name="T36" fmla="*/ 92 w 337"/>
              <a:gd name="T37" fmla="*/ 299 h 370"/>
              <a:gd name="T38" fmla="*/ 75 w 337"/>
              <a:gd name="T39" fmla="*/ 317 h 370"/>
              <a:gd name="T40" fmla="*/ 85 w 337"/>
              <a:gd name="T41" fmla="*/ 299 h 370"/>
              <a:gd name="T42" fmla="*/ 31 w 337"/>
              <a:gd name="T43" fmla="*/ 279 h 370"/>
              <a:gd name="T44" fmla="*/ 73 w 337"/>
              <a:gd name="T45" fmla="*/ 312 h 370"/>
              <a:gd name="T46" fmla="*/ 102 w 337"/>
              <a:gd name="T47" fmla="*/ 279 h 370"/>
              <a:gd name="T48" fmla="*/ 90 w 337"/>
              <a:gd name="T49" fmla="*/ 294 h 370"/>
              <a:gd name="T50" fmla="*/ 110 w 337"/>
              <a:gd name="T51" fmla="*/ 270 h 370"/>
              <a:gd name="T52" fmla="*/ 89 w 337"/>
              <a:gd name="T53" fmla="*/ 226 h 370"/>
              <a:gd name="T54" fmla="*/ 82 w 337"/>
              <a:gd name="T55" fmla="*/ 226 h 370"/>
              <a:gd name="T56" fmla="*/ 102 w 337"/>
              <a:gd name="T57" fmla="*/ 211 h 370"/>
              <a:gd name="T58" fmla="*/ 144 w 337"/>
              <a:gd name="T59" fmla="*/ 199 h 370"/>
              <a:gd name="T60" fmla="*/ 110 w 337"/>
              <a:gd name="T61" fmla="*/ 270 h 370"/>
              <a:gd name="T62" fmla="*/ 128 w 337"/>
              <a:gd name="T63" fmla="*/ 246 h 370"/>
              <a:gd name="T64" fmla="*/ 109 w 337"/>
              <a:gd name="T65" fmla="*/ 214 h 370"/>
              <a:gd name="T66" fmla="*/ 144 w 337"/>
              <a:gd name="T67" fmla="*/ 224 h 370"/>
              <a:gd name="T68" fmla="*/ 153 w 337"/>
              <a:gd name="T69" fmla="*/ 204 h 370"/>
              <a:gd name="T70" fmla="*/ 144 w 337"/>
              <a:gd name="T71" fmla="*/ 224 h 370"/>
              <a:gd name="T72" fmla="*/ 171 w 337"/>
              <a:gd name="T73" fmla="*/ 183 h 370"/>
              <a:gd name="T74" fmla="*/ 154 w 337"/>
              <a:gd name="T75" fmla="*/ 199 h 370"/>
              <a:gd name="T76" fmla="*/ 159 w 337"/>
              <a:gd name="T77" fmla="*/ 202 h 370"/>
              <a:gd name="T78" fmla="*/ 183 w 337"/>
              <a:gd name="T79" fmla="*/ 164 h 370"/>
              <a:gd name="T80" fmla="*/ 94 w 337"/>
              <a:gd name="T81" fmla="*/ 175 h 370"/>
              <a:gd name="T82" fmla="*/ 174 w 337"/>
              <a:gd name="T83" fmla="*/ 178 h 370"/>
              <a:gd name="T84" fmla="*/ 193 w 337"/>
              <a:gd name="T85" fmla="*/ 148 h 370"/>
              <a:gd name="T86" fmla="*/ 54 w 337"/>
              <a:gd name="T87" fmla="*/ 148 h 370"/>
              <a:gd name="T88" fmla="*/ 186 w 337"/>
              <a:gd name="T89" fmla="*/ 159 h 370"/>
              <a:gd name="T90" fmla="*/ 204 w 337"/>
              <a:gd name="T91" fmla="*/ 131 h 370"/>
              <a:gd name="T92" fmla="*/ 110 w 337"/>
              <a:gd name="T93" fmla="*/ 123 h 370"/>
              <a:gd name="T94" fmla="*/ 42 w 337"/>
              <a:gd name="T95" fmla="*/ 99 h 370"/>
              <a:gd name="T96" fmla="*/ 113 w 337"/>
              <a:gd name="T97" fmla="*/ 137 h 370"/>
            </a:gdLst>
            <a:ahLst/>
            <a:cxnLst/>
            <a:rect l="0" t="0" r="r" b="b"/>
            <a:pathLst>
              <a:path w="337" h="370">
                <a:moveTo>
                  <a:pt x="31" y="333"/>
                </a:moveTo>
                <a:lnTo>
                  <a:pt x="31" y="333"/>
                </a:lnTo>
                <a:cubicBezTo>
                  <a:pt x="31" y="334"/>
                  <a:pt x="31" y="334"/>
                  <a:pt x="31" y="334"/>
                </a:cubicBezTo>
                <a:cubicBezTo>
                  <a:pt x="33" y="337"/>
                  <a:pt x="35" y="340"/>
                  <a:pt x="37" y="343"/>
                </a:cubicBezTo>
                <a:cubicBezTo>
                  <a:pt x="48" y="334"/>
                  <a:pt x="59" y="325"/>
                  <a:pt x="68" y="316"/>
                </a:cubicBezTo>
                <a:cubicBezTo>
                  <a:pt x="64" y="313"/>
                  <a:pt x="59" y="311"/>
                  <a:pt x="55" y="309"/>
                </a:cubicBezTo>
                <a:cubicBezTo>
                  <a:pt x="48" y="316"/>
                  <a:pt x="42" y="320"/>
                  <a:pt x="29" y="320"/>
                </a:cubicBezTo>
                <a:cubicBezTo>
                  <a:pt x="27" y="320"/>
                  <a:pt x="26" y="318"/>
                  <a:pt x="27" y="316"/>
                </a:cubicBezTo>
                <a:cubicBezTo>
                  <a:pt x="29" y="309"/>
                  <a:pt x="27" y="291"/>
                  <a:pt x="27" y="282"/>
                </a:cubicBezTo>
                <a:cubicBezTo>
                  <a:pt x="26" y="280"/>
                  <a:pt x="25" y="278"/>
                  <a:pt x="24" y="276"/>
                </a:cubicBezTo>
                <a:cubicBezTo>
                  <a:pt x="20" y="277"/>
                  <a:pt x="16" y="277"/>
                  <a:pt x="10" y="277"/>
                </a:cubicBezTo>
                <a:cubicBezTo>
                  <a:pt x="7" y="277"/>
                  <a:pt x="6" y="274"/>
                  <a:pt x="8" y="272"/>
                </a:cubicBezTo>
                <a:cubicBezTo>
                  <a:pt x="17" y="264"/>
                  <a:pt x="16" y="253"/>
                  <a:pt x="17" y="238"/>
                </a:cubicBezTo>
                <a:cubicBezTo>
                  <a:pt x="12" y="241"/>
                  <a:pt x="4" y="247"/>
                  <a:pt x="0" y="249"/>
                </a:cubicBezTo>
                <a:cubicBezTo>
                  <a:pt x="4" y="288"/>
                  <a:pt x="17" y="313"/>
                  <a:pt x="31" y="333"/>
                </a:cubicBezTo>
                <a:lnTo>
                  <a:pt x="31" y="333"/>
                </a:lnTo>
                <a:close/>
                <a:moveTo>
                  <a:pt x="58" y="370"/>
                </a:moveTo>
                <a:lnTo>
                  <a:pt x="58" y="370"/>
                </a:lnTo>
                <a:cubicBezTo>
                  <a:pt x="173" y="293"/>
                  <a:pt x="218" y="153"/>
                  <a:pt x="321" y="65"/>
                </a:cubicBezTo>
                <a:lnTo>
                  <a:pt x="306" y="62"/>
                </a:lnTo>
                <a:cubicBezTo>
                  <a:pt x="303" y="61"/>
                  <a:pt x="303" y="61"/>
                  <a:pt x="303" y="58"/>
                </a:cubicBezTo>
                <a:lnTo>
                  <a:pt x="306" y="37"/>
                </a:lnTo>
                <a:cubicBezTo>
                  <a:pt x="211" y="133"/>
                  <a:pt x="158" y="292"/>
                  <a:pt x="50" y="360"/>
                </a:cubicBezTo>
                <a:cubicBezTo>
                  <a:pt x="53" y="363"/>
                  <a:pt x="55" y="366"/>
                  <a:pt x="58" y="370"/>
                </a:cubicBezTo>
                <a:lnTo>
                  <a:pt x="58" y="370"/>
                </a:lnTo>
                <a:close/>
                <a:moveTo>
                  <a:pt x="325" y="18"/>
                </a:moveTo>
                <a:lnTo>
                  <a:pt x="325" y="18"/>
                </a:lnTo>
                <a:cubicBezTo>
                  <a:pt x="321" y="22"/>
                  <a:pt x="316" y="26"/>
                  <a:pt x="312" y="30"/>
                </a:cubicBezTo>
                <a:lnTo>
                  <a:pt x="309" y="57"/>
                </a:lnTo>
                <a:lnTo>
                  <a:pt x="327" y="60"/>
                </a:lnTo>
                <a:cubicBezTo>
                  <a:pt x="330" y="58"/>
                  <a:pt x="333" y="55"/>
                  <a:pt x="337" y="52"/>
                </a:cubicBezTo>
                <a:lnTo>
                  <a:pt x="334" y="46"/>
                </a:lnTo>
                <a:cubicBezTo>
                  <a:pt x="329" y="47"/>
                  <a:pt x="324" y="45"/>
                  <a:pt x="322" y="40"/>
                </a:cubicBezTo>
                <a:cubicBezTo>
                  <a:pt x="320" y="34"/>
                  <a:pt x="323" y="29"/>
                  <a:pt x="328" y="27"/>
                </a:cubicBezTo>
                <a:lnTo>
                  <a:pt x="325" y="18"/>
                </a:lnTo>
                <a:lnTo>
                  <a:pt x="325" y="18"/>
                </a:lnTo>
                <a:close/>
                <a:moveTo>
                  <a:pt x="75" y="317"/>
                </a:moveTo>
                <a:lnTo>
                  <a:pt x="75" y="317"/>
                </a:lnTo>
                <a:cubicBezTo>
                  <a:pt x="64" y="328"/>
                  <a:pt x="53" y="338"/>
                  <a:pt x="41" y="347"/>
                </a:cubicBezTo>
                <a:lnTo>
                  <a:pt x="41" y="348"/>
                </a:lnTo>
                <a:cubicBezTo>
                  <a:pt x="43" y="351"/>
                  <a:pt x="45" y="353"/>
                  <a:pt x="47" y="355"/>
                </a:cubicBezTo>
                <a:cubicBezTo>
                  <a:pt x="103" y="320"/>
                  <a:pt x="145" y="259"/>
                  <a:pt x="186" y="194"/>
                </a:cubicBezTo>
                <a:cubicBezTo>
                  <a:pt x="221" y="138"/>
                  <a:pt x="259" y="75"/>
                  <a:pt x="307" y="27"/>
                </a:cubicBezTo>
                <a:cubicBezTo>
                  <a:pt x="307" y="27"/>
                  <a:pt x="308" y="27"/>
                  <a:pt x="308" y="26"/>
                </a:cubicBezTo>
                <a:cubicBezTo>
                  <a:pt x="313" y="22"/>
                  <a:pt x="318" y="17"/>
                  <a:pt x="323" y="13"/>
                </a:cubicBezTo>
                <a:lnTo>
                  <a:pt x="319" y="0"/>
                </a:lnTo>
                <a:cubicBezTo>
                  <a:pt x="300" y="15"/>
                  <a:pt x="283" y="33"/>
                  <a:pt x="267" y="52"/>
                </a:cubicBezTo>
                <a:cubicBezTo>
                  <a:pt x="267" y="52"/>
                  <a:pt x="267" y="53"/>
                  <a:pt x="267" y="53"/>
                </a:cubicBezTo>
                <a:cubicBezTo>
                  <a:pt x="236" y="90"/>
                  <a:pt x="210" y="132"/>
                  <a:pt x="185" y="171"/>
                </a:cubicBezTo>
                <a:cubicBezTo>
                  <a:pt x="172" y="191"/>
                  <a:pt x="159" y="212"/>
                  <a:pt x="145" y="232"/>
                </a:cubicBezTo>
                <a:cubicBezTo>
                  <a:pt x="145" y="232"/>
                  <a:pt x="145" y="232"/>
                  <a:pt x="145" y="232"/>
                </a:cubicBezTo>
                <a:cubicBezTo>
                  <a:pt x="139" y="241"/>
                  <a:pt x="133" y="249"/>
                  <a:pt x="127" y="256"/>
                </a:cubicBezTo>
                <a:cubicBezTo>
                  <a:pt x="127" y="257"/>
                  <a:pt x="127" y="257"/>
                  <a:pt x="127" y="257"/>
                </a:cubicBezTo>
                <a:cubicBezTo>
                  <a:pt x="122" y="263"/>
                  <a:pt x="118" y="269"/>
                  <a:pt x="114" y="274"/>
                </a:cubicBezTo>
                <a:cubicBezTo>
                  <a:pt x="113" y="274"/>
                  <a:pt x="113" y="275"/>
                  <a:pt x="113" y="275"/>
                </a:cubicBezTo>
                <a:cubicBezTo>
                  <a:pt x="107" y="283"/>
                  <a:pt x="100" y="291"/>
                  <a:pt x="93" y="298"/>
                </a:cubicBezTo>
                <a:cubicBezTo>
                  <a:pt x="93" y="299"/>
                  <a:pt x="93" y="299"/>
                  <a:pt x="92" y="299"/>
                </a:cubicBezTo>
                <a:cubicBezTo>
                  <a:pt x="87" y="305"/>
                  <a:pt x="81" y="311"/>
                  <a:pt x="75" y="317"/>
                </a:cubicBezTo>
                <a:lnTo>
                  <a:pt x="75" y="317"/>
                </a:lnTo>
                <a:lnTo>
                  <a:pt x="75" y="317"/>
                </a:lnTo>
                <a:close/>
                <a:moveTo>
                  <a:pt x="73" y="312"/>
                </a:moveTo>
                <a:lnTo>
                  <a:pt x="73" y="312"/>
                </a:lnTo>
                <a:cubicBezTo>
                  <a:pt x="77" y="307"/>
                  <a:pt x="81" y="303"/>
                  <a:pt x="85" y="299"/>
                </a:cubicBezTo>
                <a:cubicBezTo>
                  <a:pt x="59" y="295"/>
                  <a:pt x="44" y="282"/>
                  <a:pt x="39" y="267"/>
                </a:cubicBezTo>
                <a:cubicBezTo>
                  <a:pt x="35" y="270"/>
                  <a:pt x="32" y="273"/>
                  <a:pt x="29" y="274"/>
                </a:cubicBezTo>
                <a:cubicBezTo>
                  <a:pt x="30" y="276"/>
                  <a:pt x="31" y="277"/>
                  <a:pt x="31" y="279"/>
                </a:cubicBezTo>
                <a:cubicBezTo>
                  <a:pt x="32" y="279"/>
                  <a:pt x="32" y="279"/>
                  <a:pt x="32" y="280"/>
                </a:cubicBezTo>
                <a:cubicBezTo>
                  <a:pt x="43" y="297"/>
                  <a:pt x="55" y="302"/>
                  <a:pt x="73" y="312"/>
                </a:cubicBezTo>
                <a:lnTo>
                  <a:pt x="73" y="312"/>
                </a:lnTo>
                <a:close/>
                <a:moveTo>
                  <a:pt x="90" y="294"/>
                </a:moveTo>
                <a:lnTo>
                  <a:pt x="90" y="294"/>
                </a:lnTo>
                <a:cubicBezTo>
                  <a:pt x="94" y="289"/>
                  <a:pt x="98" y="284"/>
                  <a:pt x="102" y="279"/>
                </a:cubicBezTo>
                <a:cubicBezTo>
                  <a:pt x="54" y="293"/>
                  <a:pt x="24" y="217"/>
                  <a:pt x="106" y="186"/>
                </a:cubicBezTo>
                <a:cubicBezTo>
                  <a:pt x="100" y="184"/>
                  <a:pt x="94" y="182"/>
                  <a:pt x="88" y="179"/>
                </a:cubicBezTo>
                <a:cubicBezTo>
                  <a:pt x="35" y="203"/>
                  <a:pt x="17" y="284"/>
                  <a:pt x="90" y="294"/>
                </a:cubicBezTo>
                <a:lnTo>
                  <a:pt x="90" y="294"/>
                </a:lnTo>
                <a:close/>
                <a:moveTo>
                  <a:pt x="110" y="270"/>
                </a:moveTo>
                <a:lnTo>
                  <a:pt x="110" y="270"/>
                </a:lnTo>
                <a:cubicBezTo>
                  <a:pt x="114" y="265"/>
                  <a:pt x="118" y="260"/>
                  <a:pt x="122" y="254"/>
                </a:cubicBezTo>
                <a:cubicBezTo>
                  <a:pt x="124" y="240"/>
                  <a:pt x="120" y="224"/>
                  <a:pt x="103" y="216"/>
                </a:cubicBezTo>
                <a:cubicBezTo>
                  <a:pt x="98" y="219"/>
                  <a:pt x="93" y="222"/>
                  <a:pt x="89" y="226"/>
                </a:cubicBezTo>
                <a:cubicBezTo>
                  <a:pt x="115" y="230"/>
                  <a:pt x="115" y="263"/>
                  <a:pt x="91" y="263"/>
                </a:cubicBezTo>
                <a:cubicBezTo>
                  <a:pt x="72" y="263"/>
                  <a:pt x="73" y="239"/>
                  <a:pt x="81" y="227"/>
                </a:cubicBezTo>
                <a:cubicBezTo>
                  <a:pt x="81" y="227"/>
                  <a:pt x="82" y="226"/>
                  <a:pt x="82" y="226"/>
                </a:cubicBezTo>
                <a:lnTo>
                  <a:pt x="82" y="226"/>
                </a:lnTo>
                <a:cubicBezTo>
                  <a:pt x="86" y="221"/>
                  <a:pt x="92" y="216"/>
                  <a:pt x="101" y="211"/>
                </a:cubicBezTo>
                <a:cubicBezTo>
                  <a:pt x="101" y="211"/>
                  <a:pt x="101" y="211"/>
                  <a:pt x="102" y="211"/>
                </a:cubicBezTo>
                <a:cubicBezTo>
                  <a:pt x="108" y="208"/>
                  <a:pt x="116" y="205"/>
                  <a:pt x="125" y="203"/>
                </a:cubicBezTo>
                <a:cubicBezTo>
                  <a:pt x="125" y="202"/>
                  <a:pt x="126" y="202"/>
                  <a:pt x="126" y="202"/>
                </a:cubicBezTo>
                <a:cubicBezTo>
                  <a:pt x="131" y="201"/>
                  <a:pt x="137" y="200"/>
                  <a:pt x="144" y="199"/>
                </a:cubicBezTo>
                <a:cubicBezTo>
                  <a:pt x="139" y="197"/>
                  <a:pt x="133" y="195"/>
                  <a:pt x="127" y="193"/>
                </a:cubicBezTo>
                <a:cubicBezTo>
                  <a:pt x="123" y="192"/>
                  <a:pt x="119" y="190"/>
                  <a:pt x="115" y="189"/>
                </a:cubicBezTo>
                <a:cubicBezTo>
                  <a:pt x="26" y="218"/>
                  <a:pt x="62" y="296"/>
                  <a:pt x="110" y="270"/>
                </a:cubicBezTo>
                <a:lnTo>
                  <a:pt x="110" y="270"/>
                </a:lnTo>
                <a:close/>
                <a:moveTo>
                  <a:pt x="128" y="246"/>
                </a:moveTo>
                <a:lnTo>
                  <a:pt x="128" y="246"/>
                </a:lnTo>
                <a:cubicBezTo>
                  <a:pt x="132" y="241"/>
                  <a:pt x="136" y="235"/>
                  <a:pt x="140" y="230"/>
                </a:cubicBezTo>
                <a:cubicBezTo>
                  <a:pt x="139" y="225"/>
                  <a:pt x="133" y="215"/>
                  <a:pt x="125" y="208"/>
                </a:cubicBezTo>
                <a:cubicBezTo>
                  <a:pt x="120" y="210"/>
                  <a:pt x="114" y="211"/>
                  <a:pt x="109" y="214"/>
                </a:cubicBezTo>
                <a:cubicBezTo>
                  <a:pt x="123" y="221"/>
                  <a:pt x="128" y="234"/>
                  <a:pt x="128" y="246"/>
                </a:cubicBezTo>
                <a:lnTo>
                  <a:pt x="128" y="246"/>
                </a:lnTo>
                <a:close/>
                <a:moveTo>
                  <a:pt x="144" y="224"/>
                </a:moveTo>
                <a:lnTo>
                  <a:pt x="144" y="224"/>
                </a:lnTo>
                <a:cubicBezTo>
                  <a:pt x="148" y="218"/>
                  <a:pt x="152" y="212"/>
                  <a:pt x="156" y="206"/>
                </a:cubicBezTo>
                <a:cubicBezTo>
                  <a:pt x="155" y="205"/>
                  <a:pt x="154" y="205"/>
                  <a:pt x="153" y="204"/>
                </a:cubicBezTo>
                <a:cubicBezTo>
                  <a:pt x="147" y="205"/>
                  <a:pt x="140" y="205"/>
                  <a:pt x="132" y="207"/>
                </a:cubicBezTo>
                <a:cubicBezTo>
                  <a:pt x="137" y="212"/>
                  <a:pt x="141" y="219"/>
                  <a:pt x="144" y="224"/>
                </a:cubicBezTo>
                <a:lnTo>
                  <a:pt x="144" y="224"/>
                </a:lnTo>
                <a:close/>
                <a:moveTo>
                  <a:pt x="159" y="202"/>
                </a:moveTo>
                <a:lnTo>
                  <a:pt x="159" y="202"/>
                </a:lnTo>
                <a:cubicBezTo>
                  <a:pt x="163" y="195"/>
                  <a:pt x="167" y="189"/>
                  <a:pt x="171" y="183"/>
                </a:cubicBezTo>
                <a:cubicBezTo>
                  <a:pt x="156" y="179"/>
                  <a:pt x="127" y="181"/>
                  <a:pt x="110" y="181"/>
                </a:cubicBezTo>
                <a:cubicBezTo>
                  <a:pt x="116" y="184"/>
                  <a:pt x="122" y="186"/>
                  <a:pt x="129" y="188"/>
                </a:cubicBezTo>
                <a:cubicBezTo>
                  <a:pt x="138" y="191"/>
                  <a:pt x="147" y="194"/>
                  <a:pt x="154" y="199"/>
                </a:cubicBezTo>
                <a:cubicBezTo>
                  <a:pt x="155" y="199"/>
                  <a:pt x="155" y="199"/>
                  <a:pt x="155" y="199"/>
                </a:cubicBezTo>
                <a:cubicBezTo>
                  <a:pt x="156" y="200"/>
                  <a:pt x="158" y="201"/>
                  <a:pt x="159" y="202"/>
                </a:cubicBezTo>
                <a:lnTo>
                  <a:pt x="159" y="202"/>
                </a:lnTo>
                <a:close/>
                <a:moveTo>
                  <a:pt x="174" y="178"/>
                </a:moveTo>
                <a:lnTo>
                  <a:pt x="174" y="178"/>
                </a:lnTo>
                <a:cubicBezTo>
                  <a:pt x="177" y="173"/>
                  <a:pt x="180" y="169"/>
                  <a:pt x="183" y="164"/>
                </a:cubicBezTo>
                <a:cubicBezTo>
                  <a:pt x="166" y="159"/>
                  <a:pt x="138" y="160"/>
                  <a:pt x="121" y="160"/>
                </a:cubicBezTo>
                <a:cubicBezTo>
                  <a:pt x="100" y="161"/>
                  <a:pt x="79" y="161"/>
                  <a:pt x="62" y="157"/>
                </a:cubicBezTo>
                <a:cubicBezTo>
                  <a:pt x="71" y="165"/>
                  <a:pt x="82" y="170"/>
                  <a:pt x="94" y="175"/>
                </a:cubicBezTo>
                <a:cubicBezTo>
                  <a:pt x="102" y="177"/>
                  <a:pt x="123" y="175"/>
                  <a:pt x="130" y="175"/>
                </a:cubicBezTo>
                <a:cubicBezTo>
                  <a:pt x="146" y="175"/>
                  <a:pt x="163" y="175"/>
                  <a:pt x="174" y="178"/>
                </a:cubicBezTo>
                <a:lnTo>
                  <a:pt x="174" y="178"/>
                </a:lnTo>
                <a:close/>
                <a:moveTo>
                  <a:pt x="186" y="159"/>
                </a:moveTo>
                <a:lnTo>
                  <a:pt x="186" y="159"/>
                </a:lnTo>
                <a:cubicBezTo>
                  <a:pt x="188" y="155"/>
                  <a:pt x="191" y="152"/>
                  <a:pt x="193" y="148"/>
                </a:cubicBezTo>
                <a:cubicBezTo>
                  <a:pt x="171" y="139"/>
                  <a:pt x="136" y="142"/>
                  <a:pt x="113" y="142"/>
                </a:cubicBezTo>
                <a:cubicBezTo>
                  <a:pt x="87" y="142"/>
                  <a:pt x="60" y="141"/>
                  <a:pt x="43" y="126"/>
                </a:cubicBezTo>
                <a:cubicBezTo>
                  <a:pt x="46" y="135"/>
                  <a:pt x="50" y="142"/>
                  <a:pt x="54" y="148"/>
                </a:cubicBezTo>
                <a:cubicBezTo>
                  <a:pt x="80" y="159"/>
                  <a:pt x="128" y="153"/>
                  <a:pt x="158" y="155"/>
                </a:cubicBezTo>
                <a:cubicBezTo>
                  <a:pt x="168" y="155"/>
                  <a:pt x="178" y="156"/>
                  <a:pt x="186" y="159"/>
                </a:cubicBezTo>
                <a:lnTo>
                  <a:pt x="186" y="159"/>
                </a:lnTo>
                <a:close/>
                <a:moveTo>
                  <a:pt x="196" y="143"/>
                </a:moveTo>
                <a:lnTo>
                  <a:pt x="196" y="143"/>
                </a:lnTo>
                <a:cubicBezTo>
                  <a:pt x="199" y="139"/>
                  <a:pt x="201" y="135"/>
                  <a:pt x="204" y="131"/>
                </a:cubicBezTo>
                <a:cubicBezTo>
                  <a:pt x="195" y="128"/>
                  <a:pt x="187" y="126"/>
                  <a:pt x="178" y="125"/>
                </a:cubicBezTo>
                <a:cubicBezTo>
                  <a:pt x="178" y="125"/>
                  <a:pt x="178" y="125"/>
                  <a:pt x="177" y="125"/>
                </a:cubicBezTo>
                <a:cubicBezTo>
                  <a:pt x="155" y="121"/>
                  <a:pt x="133" y="122"/>
                  <a:pt x="110" y="123"/>
                </a:cubicBezTo>
                <a:cubicBezTo>
                  <a:pt x="95" y="123"/>
                  <a:pt x="81" y="122"/>
                  <a:pt x="69" y="118"/>
                </a:cubicBezTo>
                <a:cubicBezTo>
                  <a:pt x="68" y="118"/>
                  <a:pt x="68" y="118"/>
                  <a:pt x="68" y="118"/>
                </a:cubicBezTo>
                <a:cubicBezTo>
                  <a:pt x="58" y="115"/>
                  <a:pt x="49" y="109"/>
                  <a:pt x="42" y="99"/>
                </a:cubicBezTo>
                <a:cubicBezTo>
                  <a:pt x="41" y="100"/>
                  <a:pt x="40" y="101"/>
                  <a:pt x="39" y="102"/>
                </a:cubicBezTo>
                <a:cubicBezTo>
                  <a:pt x="40" y="107"/>
                  <a:pt x="40" y="111"/>
                  <a:pt x="41" y="115"/>
                </a:cubicBezTo>
                <a:cubicBezTo>
                  <a:pt x="55" y="134"/>
                  <a:pt x="83" y="137"/>
                  <a:pt x="113" y="137"/>
                </a:cubicBezTo>
                <a:cubicBezTo>
                  <a:pt x="138" y="137"/>
                  <a:pt x="173" y="133"/>
                  <a:pt x="196" y="143"/>
                </a:cubicBezTo>
                <a:lnTo>
                  <a:pt x="196" y="143"/>
                </a:lnTo>
                <a:close/>
              </a:path>
            </a:pathLst>
          </a:custGeom>
          <a:noFill/>
          <a:ln w="1588">
            <a:noFill/>
            <a:prstDash val="solid"/>
          </a:ln>
        </p:spPr>
        <p:txBody>
          <a:bodyPr vert="horz" wrap="square" lIns="91440" tIns="45720" rIns="91440" bIns="45720" anchor="t"/>
          <a:lstStyle/>
          <a:p>
            <a:endParaRPr sz="4267"/>
          </a:p>
        </p:txBody>
      </p:sp>
      <p:sp>
        <p:nvSpPr>
          <p:cNvPr id="13" name="Freeform 9">
            <a:extLst>
              <a:ext uri="{FF2B5EF4-FFF2-40B4-BE49-F238E27FC236}">
                <a16:creationId xmlns:a16="http://schemas.microsoft.com/office/drawing/2014/main" id="{88ED9D6D-B335-8396-2289-7DD61F9A0611}"/>
              </a:ext>
            </a:extLst>
          </p:cNvPr>
          <p:cNvSpPr>
            <a:spLocks noGrp="1"/>
          </p:cNvSpPr>
          <p:nvPr/>
        </p:nvSpPr>
        <p:spPr>
          <a:xfrm>
            <a:off x="10129660" y="313349"/>
            <a:ext cx="395817" cy="541867"/>
          </a:xfrm>
          <a:custGeom>
            <a:avLst/>
            <a:gdLst>
              <a:gd name="T0" fmla="*/ 366 w 366"/>
              <a:gd name="T1" fmla="*/ 110 h 496"/>
              <a:gd name="T2" fmla="*/ 303 w 366"/>
              <a:gd name="T3" fmla="*/ 97 h 496"/>
              <a:gd name="T4" fmla="*/ 328 w 366"/>
              <a:gd name="T5" fmla="*/ 122 h 496"/>
              <a:gd name="T6" fmla="*/ 47 w 366"/>
              <a:gd name="T7" fmla="*/ 454 h 496"/>
              <a:gd name="T8" fmla="*/ 91 w 366"/>
              <a:gd name="T9" fmla="*/ 402 h 496"/>
              <a:gd name="T10" fmla="*/ 89 w 366"/>
              <a:gd name="T11" fmla="*/ 397 h 496"/>
              <a:gd name="T12" fmla="*/ 47 w 366"/>
              <a:gd name="T13" fmla="*/ 454 h 496"/>
              <a:gd name="T14" fmla="*/ 101 w 366"/>
              <a:gd name="T15" fmla="*/ 421 h 496"/>
              <a:gd name="T16" fmla="*/ 119 w 366"/>
              <a:gd name="T17" fmla="*/ 448 h 496"/>
              <a:gd name="T18" fmla="*/ 69 w 366"/>
              <a:gd name="T19" fmla="*/ 471 h 496"/>
              <a:gd name="T20" fmla="*/ 101 w 366"/>
              <a:gd name="T21" fmla="*/ 421 h 496"/>
              <a:gd name="T22" fmla="*/ 82 w 366"/>
              <a:gd name="T23" fmla="*/ 381 h 496"/>
              <a:gd name="T24" fmla="*/ 28 w 366"/>
              <a:gd name="T25" fmla="*/ 378 h 496"/>
              <a:gd name="T26" fmla="*/ 7 w 366"/>
              <a:gd name="T27" fmla="*/ 362 h 496"/>
              <a:gd name="T28" fmla="*/ 6 w 366"/>
              <a:gd name="T29" fmla="*/ 357 h 496"/>
              <a:gd name="T30" fmla="*/ 68 w 366"/>
              <a:gd name="T31" fmla="*/ 329 h 496"/>
              <a:gd name="T32" fmla="*/ 67 w 366"/>
              <a:gd name="T33" fmla="*/ 324 h 496"/>
              <a:gd name="T34" fmla="*/ 6 w 366"/>
              <a:gd name="T35" fmla="*/ 357 h 496"/>
              <a:gd name="T36" fmla="*/ 0 w 366"/>
              <a:gd name="T37" fmla="*/ 302 h 496"/>
              <a:gd name="T38" fmla="*/ 15 w 366"/>
              <a:gd name="T39" fmla="*/ 284 h 496"/>
              <a:gd name="T40" fmla="*/ 67 w 366"/>
              <a:gd name="T41" fmla="*/ 267 h 496"/>
              <a:gd name="T42" fmla="*/ 0 w 366"/>
              <a:gd name="T43" fmla="*/ 302 h 496"/>
              <a:gd name="T44" fmla="*/ 68 w 366"/>
              <a:gd name="T45" fmla="*/ 262 h 496"/>
              <a:gd name="T46" fmla="*/ 23 w 366"/>
              <a:gd name="T47" fmla="*/ 228 h 496"/>
              <a:gd name="T48" fmla="*/ 17 w 366"/>
              <a:gd name="T49" fmla="*/ 202 h 496"/>
              <a:gd name="T50" fmla="*/ 19 w 366"/>
              <a:gd name="T51" fmla="*/ 196 h 496"/>
              <a:gd name="T52" fmla="*/ 82 w 366"/>
              <a:gd name="T53" fmla="*/ 213 h 496"/>
              <a:gd name="T54" fmla="*/ 84 w 366"/>
              <a:gd name="T55" fmla="*/ 208 h 496"/>
              <a:gd name="T56" fmla="*/ 19 w 366"/>
              <a:gd name="T57" fmla="*/ 196 h 496"/>
              <a:gd name="T58" fmla="*/ 40 w 366"/>
              <a:gd name="T59" fmla="*/ 149 h 496"/>
              <a:gd name="T60" fmla="*/ 60 w 366"/>
              <a:gd name="T61" fmla="*/ 142 h 496"/>
              <a:gd name="T62" fmla="*/ 111 w 366"/>
              <a:gd name="T63" fmla="*/ 162 h 496"/>
              <a:gd name="T64" fmla="*/ 40 w 366"/>
              <a:gd name="T65" fmla="*/ 149 h 496"/>
              <a:gd name="T66" fmla="*/ 114 w 366"/>
              <a:gd name="T67" fmla="*/ 157 h 496"/>
              <a:gd name="T68" fmla="*/ 95 w 366"/>
              <a:gd name="T69" fmla="*/ 99 h 496"/>
              <a:gd name="T70" fmla="*/ 102 w 366"/>
              <a:gd name="T71" fmla="*/ 72 h 496"/>
              <a:gd name="T72" fmla="*/ 106 w 366"/>
              <a:gd name="T73" fmla="*/ 69 h 496"/>
              <a:gd name="T74" fmla="*/ 150 w 366"/>
              <a:gd name="T75" fmla="*/ 121 h 496"/>
              <a:gd name="T76" fmla="*/ 155 w 366"/>
              <a:gd name="T77" fmla="*/ 117 h 496"/>
              <a:gd name="T78" fmla="*/ 106 w 366"/>
              <a:gd name="T79" fmla="*/ 69 h 496"/>
              <a:gd name="T80" fmla="*/ 149 w 366"/>
              <a:gd name="T81" fmla="*/ 37 h 496"/>
              <a:gd name="T82" fmla="*/ 170 w 366"/>
              <a:gd name="T83" fmla="*/ 42 h 496"/>
              <a:gd name="T84" fmla="*/ 200 w 366"/>
              <a:gd name="T85" fmla="*/ 90 h 496"/>
              <a:gd name="T86" fmla="*/ 149 w 366"/>
              <a:gd name="T87" fmla="*/ 37 h 496"/>
              <a:gd name="T88" fmla="*/ 206 w 366"/>
              <a:gd name="T89" fmla="*/ 88 h 496"/>
              <a:gd name="T90" fmla="*/ 222 w 366"/>
              <a:gd name="T91" fmla="*/ 21 h 496"/>
              <a:gd name="T92" fmla="*/ 243 w 366"/>
              <a:gd name="T93" fmla="*/ 0 h 496"/>
            </a:gdLst>
            <a:ahLst/>
            <a:cxnLst/>
            <a:rect l="0" t="0" r="r" b="b"/>
            <a:pathLst>
              <a:path w="366" h="496">
                <a:moveTo>
                  <a:pt x="358" y="119"/>
                </a:moveTo>
                <a:lnTo>
                  <a:pt x="358" y="119"/>
                </a:lnTo>
                <a:cubicBezTo>
                  <a:pt x="360" y="116"/>
                  <a:pt x="363" y="113"/>
                  <a:pt x="366" y="110"/>
                </a:cubicBezTo>
                <a:cubicBezTo>
                  <a:pt x="351" y="105"/>
                  <a:pt x="337" y="102"/>
                  <a:pt x="323" y="99"/>
                </a:cubicBezTo>
                <a:cubicBezTo>
                  <a:pt x="323" y="99"/>
                  <a:pt x="322" y="99"/>
                  <a:pt x="322" y="99"/>
                </a:cubicBezTo>
                <a:cubicBezTo>
                  <a:pt x="316" y="98"/>
                  <a:pt x="309" y="98"/>
                  <a:pt x="303" y="97"/>
                </a:cubicBezTo>
                <a:cubicBezTo>
                  <a:pt x="305" y="101"/>
                  <a:pt x="307" y="106"/>
                  <a:pt x="307" y="112"/>
                </a:cubicBezTo>
                <a:cubicBezTo>
                  <a:pt x="310" y="115"/>
                  <a:pt x="312" y="119"/>
                  <a:pt x="312" y="123"/>
                </a:cubicBezTo>
                <a:cubicBezTo>
                  <a:pt x="316" y="121"/>
                  <a:pt x="322" y="120"/>
                  <a:pt x="328" y="122"/>
                </a:cubicBezTo>
                <a:cubicBezTo>
                  <a:pt x="333" y="111"/>
                  <a:pt x="348" y="109"/>
                  <a:pt x="358" y="119"/>
                </a:cubicBezTo>
                <a:lnTo>
                  <a:pt x="358" y="119"/>
                </a:lnTo>
                <a:close/>
                <a:moveTo>
                  <a:pt x="47" y="454"/>
                </a:moveTo>
                <a:lnTo>
                  <a:pt x="47" y="454"/>
                </a:lnTo>
                <a:lnTo>
                  <a:pt x="98" y="416"/>
                </a:lnTo>
                <a:cubicBezTo>
                  <a:pt x="96" y="411"/>
                  <a:pt x="93" y="407"/>
                  <a:pt x="91" y="402"/>
                </a:cubicBezTo>
                <a:lnTo>
                  <a:pt x="48" y="429"/>
                </a:lnTo>
                <a:cubicBezTo>
                  <a:pt x="45" y="431"/>
                  <a:pt x="42" y="426"/>
                  <a:pt x="45" y="424"/>
                </a:cubicBezTo>
                <a:lnTo>
                  <a:pt x="89" y="397"/>
                </a:lnTo>
                <a:cubicBezTo>
                  <a:pt x="87" y="394"/>
                  <a:pt x="85" y="390"/>
                  <a:pt x="84" y="386"/>
                </a:cubicBezTo>
                <a:lnTo>
                  <a:pt x="25" y="414"/>
                </a:lnTo>
                <a:cubicBezTo>
                  <a:pt x="31" y="427"/>
                  <a:pt x="38" y="441"/>
                  <a:pt x="47" y="454"/>
                </a:cubicBezTo>
                <a:lnTo>
                  <a:pt x="47" y="454"/>
                </a:lnTo>
                <a:close/>
                <a:moveTo>
                  <a:pt x="101" y="421"/>
                </a:moveTo>
                <a:lnTo>
                  <a:pt x="101" y="421"/>
                </a:lnTo>
                <a:lnTo>
                  <a:pt x="50" y="459"/>
                </a:lnTo>
                <a:cubicBezTo>
                  <a:pt x="58" y="472"/>
                  <a:pt x="68" y="484"/>
                  <a:pt x="79" y="496"/>
                </a:cubicBezTo>
                <a:lnTo>
                  <a:pt x="119" y="448"/>
                </a:lnTo>
                <a:cubicBezTo>
                  <a:pt x="116" y="445"/>
                  <a:pt x="114" y="441"/>
                  <a:pt x="111" y="437"/>
                </a:cubicBezTo>
                <a:lnTo>
                  <a:pt x="73" y="475"/>
                </a:lnTo>
                <a:cubicBezTo>
                  <a:pt x="70" y="478"/>
                  <a:pt x="67" y="474"/>
                  <a:pt x="69" y="471"/>
                </a:cubicBezTo>
                <a:lnTo>
                  <a:pt x="108" y="433"/>
                </a:lnTo>
                <a:cubicBezTo>
                  <a:pt x="106" y="429"/>
                  <a:pt x="103" y="425"/>
                  <a:pt x="101" y="421"/>
                </a:cubicBezTo>
                <a:lnTo>
                  <a:pt x="101" y="421"/>
                </a:lnTo>
                <a:close/>
                <a:moveTo>
                  <a:pt x="23" y="408"/>
                </a:moveTo>
                <a:lnTo>
                  <a:pt x="23" y="408"/>
                </a:lnTo>
                <a:lnTo>
                  <a:pt x="82" y="381"/>
                </a:lnTo>
                <a:cubicBezTo>
                  <a:pt x="80" y="377"/>
                  <a:pt x="79" y="373"/>
                  <a:pt x="78" y="369"/>
                </a:cubicBezTo>
                <a:lnTo>
                  <a:pt x="29" y="384"/>
                </a:lnTo>
                <a:cubicBezTo>
                  <a:pt x="26" y="385"/>
                  <a:pt x="24" y="379"/>
                  <a:pt x="28" y="378"/>
                </a:cubicBezTo>
                <a:lnTo>
                  <a:pt x="76" y="364"/>
                </a:lnTo>
                <a:cubicBezTo>
                  <a:pt x="74" y="359"/>
                  <a:pt x="73" y="354"/>
                  <a:pt x="72" y="348"/>
                </a:cubicBezTo>
                <a:lnTo>
                  <a:pt x="7" y="362"/>
                </a:lnTo>
                <a:cubicBezTo>
                  <a:pt x="11" y="378"/>
                  <a:pt x="16" y="393"/>
                  <a:pt x="23" y="408"/>
                </a:cubicBezTo>
                <a:lnTo>
                  <a:pt x="23" y="408"/>
                </a:lnTo>
                <a:close/>
                <a:moveTo>
                  <a:pt x="6" y="357"/>
                </a:moveTo>
                <a:lnTo>
                  <a:pt x="6" y="357"/>
                </a:lnTo>
                <a:lnTo>
                  <a:pt x="70" y="343"/>
                </a:lnTo>
                <a:cubicBezTo>
                  <a:pt x="69" y="338"/>
                  <a:pt x="69" y="334"/>
                  <a:pt x="68" y="329"/>
                </a:cubicBezTo>
                <a:lnTo>
                  <a:pt x="17" y="334"/>
                </a:lnTo>
                <a:cubicBezTo>
                  <a:pt x="13" y="334"/>
                  <a:pt x="13" y="329"/>
                  <a:pt x="16" y="328"/>
                </a:cubicBezTo>
                <a:lnTo>
                  <a:pt x="67" y="324"/>
                </a:lnTo>
                <a:cubicBezTo>
                  <a:pt x="66" y="319"/>
                  <a:pt x="66" y="314"/>
                  <a:pt x="66" y="308"/>
                </a:cubicBezTo>
                <a:lnTo>
                  <a:pt x="0" y="307"/>
                </a:lnTo>
                <a:cubicBezTo>
                  <a:pt x="1" y="324"/>
                  <a:pt x="3" y="340"/>
                  <a:pt x="6" y="357"/>
                </a:cubicBezTo>
                <a:lnTo>
                  <a:pt x="6" y="357"/>
                </a:lnTo>
                <a:close/>
                <a:moveTo>
                  <a:pt x="0" y="302"/>
                </a:moveTo>
                <a:lnTo>
                  <a:pt x="0" y="302"/>
                </a:lnTo>
                <a:lnTo>
                  <a:pt x="66" y="303"/>
                </a:lnTo>
                <a:cubicBezTo>
                  <a:pt x="65" y="298"/>
                  <a:pt x="65" y="294"/>
                  <a:pt x="66" y="290"/>
                </a:cubicBezTo>
                <a:lnTo>
                  <a:pt x="15" y="284"/>
                </a:lnTo>
                <a:cubicBezTo>
                  <a:pt x="11" y="284"/>
                  <a:pt x="12" y="278"/>
                  <a:pt x="16" y="278"/>
                </a:cubicBezTo>
                <a:lnTo>
                  <a:pt x="66" y="284"/>
                </a:lnTo>
                <a:cubicBezTo>
                  <a:pt x="66" y="278"/>
                  <a:pt x="67" y="273"/>
                  <a:pt x="67" y="267"/>
                </a:cubicBezTo>
                <a:lnTo>
                  <a:pt x="4" y="254"/>
                </a:lnTo>
                <a:cubicBezTo>
                  <a:pt x="1" y="270"/>
                  <a:pt x="0" y="286"/>
                  <a:pt x="0" y="302"/>
                </a:cubicBezTo>
                <a:lnTo>
                  <a:pt x="0" y="302"/>
                </a:lnTo>
                <a:close/>
                <a:moveTo>
                  <a:pt x="4" y="249"/>
                </a:moveTo>
                <a:lnTo>
                  <a:pt x="4" y="249"/>
                </a:lnTo>
                <a:lnTo>
                  <a:pt x="68" y="262"/>
                </a:lnTo>
                <a:cubicBezTo>
                  <a:pt x="69" y="257"/>
                  <a:pt x="70" y="253"/>
                  <a:pt x="71" y="249"/>
                </a:cubicBezTo>
                <a:lnTo>
                  <a:pt x="22" y="233"/>
                </a:lnTo>
                <a:cubicBezTo>
                  <a:pt x="18" y="232"/>
                  <a:pt x="20" y="227"/>
                  <a:pt x="23" y="228"/>
                </a:cubicBezTo>
                <a:lnTo>
                  <a:pt x="72" y="243"/>
                </a:lnTo>
                <a:cubicBezTo>
                  <a:pt x="73" y="239"/>
                  <a:pt x="74" y="235"/>
                  <a:pt x="75" y="231"/>
                </a:cubicBezTo>
                <a:lnTo>
                  <a:pt x="17" y="202"/>
                </a:lnTo>
                <a:cubicBezTo>
                  <a:pt x="11" y="217"/>
                  <a:pt x="7" y="233"/>
                  <a:pt x="4" y="249"/>
                </a:cubicBezTo>
                <a:lnTo>
                  <a:pt x="4" y="249"/>
                </a:lnTo>
                <a:close/>
                <a:moveTo>
                  <a:pt x="19" y="196"/>
                </a:moveTo>
                <a:lnTo>
                  <a:pt x="19" y="196"/>
                </a:lnTo>
                <a:lnTo>
                  <a:pt x="77" y="225"/>
                </a:lnTo>
                <a:cubicBezTo>
                  <a:pt x="79" y="221"/>
                  <a:pt x="80" y="217"/>
                  <a:pt x="82" y="213"/>
                </a:cubicBezTo>
                <a:lnTo>
                  <a:pt x="37" y="186"/>
                </a:lnTo>
                <a:cubicBezTo>
                  <a:pt x="34" y="184"/>
                  <a:pt x="37" y="179"/>
                  <a:pt x="40" y="181"/>
                </a:cubicBezTo>
                <a:lnTo>
                  <a:pt x="84" y="208"/>
                </a:lnTo>
                <a:cubicBezTo>
                  <a:pt x="86" y="203"/>
                  <a:pt x="88" y="199"/>
                  <a:pt x="90" y="195"/>
                </a:cubicBezTo>
                <a:lnTo>
                  <a:pt x="38" y="154"/>
                </a:lnTo>
                <a:cubicBezTo>
                  <a:pt x="30" y="168"/>
                  <a:pt x="24" y="182"/>
                  <a:pt x="19" y="196"/>
                </a:cubicBezTo>
                <a:lnTo>
                  <a:pt x="19" y="196"/>
                </a:lnTo>
                <a:close/>
                <a:moveTo>
                  <a:pt x="40" y="149"/>
                </a:moveTo>
                <a:lnTo>
                  <a:pt x="40" y="149"/>
                </a:lnTo>
                <a:lnTo>
                  <a:pt x="93" y="190"/>
                </a:lnTo>
                <a:cubicBezTo>
                  <a:pt x="95" y="186"/>
                  <a:pt x="97" y="183"/>
                  <a:pt x="99" y="179"/>
                </a:cubicBezTo>
                <a:lnTo>
                  <a:pt x="60" y="142"/>
                </a:lnTo>
                <a:cubicBezTo>
                  <a:pt x="58" y="140"/>
                  <a:pt x="62" y="136"/>
                  <a:pt x="64" y="138"/>
                </a:cubicBezTo>
                <a:lnTo>
                  <a:pt x="102" y="174"/>
                </a:lnTo>
                <a:cubicBezTo>
                  <a:pt x="105" y="170"/>
                  <a:pt x="108" y="166"/>
                  <a:pt x="111" y="162"/>
                </a:cubicBezTo>
                <a:lnTo>
                  <a:pt x="67" y="111"/>
                </a:lnTo>
                <a:cubicBezTo>
                  <a:pt x="57" y="123"/>
                  <a:pt x="48" y="136"/>
                  <a:pt x="40" y="149"/>
                </a:cubicBezTo>
                <a:lnTo>
                  <a:pt x="40" y="149"/>
                </a:lnTo>
                <a:close/>
                <a:moveTo>
                  <a:pt x="70" y="106"/>
                </a:moveTo>
                <a:lnTo>
                  <a:pt x="70" y="106"/>
                </a:lnTo>
                <a:lnTo>
                  <a:pt x="114" y="157"/>
                </a:lnTo>
                <a:cubicBezTo>
                  <a:pt x="117" y="154"/>
                  <a:pt x="120" y="150"/>
                  <a:pt x="123" y="147"/>
                </a:cubicBezTo>
                <a:lnTo>
                  <a:pt x="90" y="102"/>
                </a:lnTo>
                <a:cubicBezTo>
                  <a:pt x="88" y="99"/>
                  <a:pt x="93" y="96"/>
                  <a:pt x="95" y="99"/>
                </a:cubicBezTo>
                <a:lnTo>
                  <a:pt x="127" y="143"/>
                </a:lnTo>
                <a:cubicBezTo>
                  <a:pt x="130" y="139"/>
                  <a:pt x="133" y="136"/>
                  <a:pt x="137" y="133"/>
                </a:cubicBezTo>
                <a:lnTo>
                  <a:pt x="102" y="72"/>
                </a:lnTo>
                <a:cubicBezTo>
                  <a:pt x="91" y="83"/>
                  <a:pt x="80" y="94"/>
                  <a:pt x="70" y="106"/>
                </a:cubicBezTo>
                <a:lnTo>
                  <a:pt x="70" y="106"/>
                </a:lnTo>
                <a:close/>
                <a:moveTo>
                  <a:pt x="106" y="69"/>
                </a:moveTo>
                <a:lnTo>
                  <a:pt x="106" y="69"/>
                </a:lnTo>
                <a:lnTo>
                  <a:pt x="141" y="129"/>
                </a:lnTo>
                <a:cubicBezTo>
                  <a:pt x="144" y="126"/>
                  <a:pt x="147" y="123"/>
                  <a:pt x="150" y="121"/>
                </a:cubicBezTo>
                <a:lnTo>
                  <a:pt x="127" y="68"/>
                </a:lnTo>
                <a:cubicBezTo>
                  <a:pt x="126" y="64"/>
                  <a:pt x="131" y="62"/>
                  <a:pt x="133" y="66"/>
                </a:cubicBezTo>
                <a:lnTo>
                  <a:pt x="155" y="117"/>
                </a:lnTo>
                <a:cubicBezTo>
                  <a:pt x="159" y="114"/>
                  <a:pt x="163" y="111"/>
                  <a:pt x="167" y="108"/>
                </a:cubicBezTo>
                <a:lnTo>
                  <a:pt x="144" y="40"/>
                </a:lnTo>
                <a:cubicBezTo>
                  <a:pt x="131" y="49"/>
                  <a:pt x="118" y="58"/>
                  <a:pt x="106" y="69"/>
                </a:cubicBezTo>
                <a:lnTo>
                  <a:pt x="106" y="69"/>
                </a:lnTo>
                <a:close/>
                <a:moveTo>
                  <a:pt x="149" y="37"/>
                </a:moveTo>
                <a:lnTo>
                  <a:pt x="149" y="37"/>
                </a:lnTo>
                <a:lnTo>
                  <a:pt x="172" y="105"/>
                </a:lnTo>
                <a:cubicBezTo>
                  <a:pt x="176" y="103"/>
                  <a:pt x="179" y="101"/>
                  <a:pt x="183" y="99"/>
                </a:cubicBezTo>
                <a:lnTo>
                  <a:pt x="170" y="42"/>
                </a:lnTo>
                <a:cubicBezTo>
                  <a:pt x="169" y="38"/>
                  <a:pt x="174" y="37"/>
                  <a:pt x="175" y="40"/>
                </a:cubicBezTo>
                <a:lnTo>
                  <a:pt x="188" y="96"/>
                </a:lnTo>
                <a:cubicBezTo>
                  <a:pt x="192" y="94"/>
                  <a:pt x="196" y="92"/>
                  <a:pt x="200" y="90"/>
                </a:cubicBezTo>
                <a:lnTo>
                  <a:pt x="191" y="16"/>
                </a:lnTo>
                <a:cubicBezTo>
                  <a:pt x="176" y="22"/>
                  <a:pt x="162" y="29"/>
                  <a:pt x="149" y="37"/>
                </a:cubicBezTo>
                <a:lnTo>
                  <a:pt x="149" y="37"/>
                </a:lnTo>
                <a:close/>
                <a:moveTo>
                  <a:pt x="196" y="14"/>
                </a:moveTo>
                <a:lnTo>
                  <a:pt x="196" y="14"/>
                </a:lnTo>
                <a:lnTo>
                  <a:pt x="206" y="88"/>
                </a:lnTo>
                <a:cubicBezTo>
                  <a:pt x="210" y="86"/>
                  <a:pt x="214" y="84"/>
                  <a:pt x="219" y="83"/>
                </a:cubicBezTo>
                <a:lnTo>
                  <a:pt x="217" y="21"/>
                </a:lnTo>
                <a:cubicBezTo>
                  <a:pt x="217" y="17"/>
                  <a:pt x="222" y="17"/>
                  <a:pt x="222" y="21"/>
                </a:cubicBezTo>
                <a:lnTo>
                  <a:pt x="224" y="81"/>
                </a:lnTo>
                <a:cubicBezTo>
                  <a:pt x="229" y="79"/>
                  <a:pt x="233" y="78"/>
                  <a:pt x="237" y="77"/>
                </a:cubicBezTo>
                <a:lnTo>
                  <a:pt x="243" y="0"/>
                </a:lnTo>
                <a:cubicBezTo>
                  <a:pt x="227" y="3"/>
                  <a:pt x="211" y="8"/>
                  <a:pt x="196" y="14"/>
                </a:cubicBezTo>
                <a:lnTo>
                  <a:pt x="196" y="14"/>
                </a:lnTo>
                <a:close/>
              </a:path>
            </a:pathLst>
          </a:custGeom>
          <a:noFill/>
          <a:ln w="1588">
            <a:noFill/>
            <a:prstDash val="solid"/>
          </a:ln>
        </p:spPr>
        <p:txBody>
          <a:bodyPr vert="horz" wrap="square" lIns="91440" tIns="45720" rIns="91440" bIns="45720" anchor="t"/>
          <a:lstStyle/>
          <a:p>
            <a:endParaRPr sz="4267"/>
          </a:p>
        </p:txBody>
      </p:sp>
      <p:sp>
        <p:nvSpPr>
          <p:cNvPr id="14" name="Freeform 10">
            <a:extLst>
              <a:ext uri="{FF2B5EF4-FFF2-40B4-BE49-F238E27FC236}">
                <a16:creationId xmlns:a16="http://schemas.microsoft.com/office/drawing/2014/main" id="{8872A2F5-7430-CC8E-7732-1707D9E6FB4C}"/>
              </a:ext>
            </a:extLst>
          </p:cNvPr>
          <p:cNvSpPr>
            <a:spLocks noGrp="1"/>
          </p:cNvSpPr>
          <p:nvPr/>
        </p:nvSpPr>
        <p:spPr>
          <a:xfrm>
            <a:off x="10246078" y="304882"/>
            <a:ext cx="317500" cy="431800"/>
          </a:xfrm>
          <a:custGeom>
            <a:avLst/>
            <a:gdLst>
              <a:gd name="T0" fmla="*/ 134 w 292"/>
              <a:gd name="T1" fmla="*/ 82 h 393"/>
              <a:gd name="T2" fmla="*/ 164 w 292"/>
              <a:gd name="T3" fmla="*/ 19 h 393"/>
              <a:gd name="T4" fmla="*/ 187 w 292"/>
              <a:gd name="T5" fmla="*/ 0 h 393"/>
              <a:gd name="T6" fmla="*/ 193 w 292"/>
              <a:gd name="T7" fmla="*/ 0 h 393"/>
              <a:gd name="T8" fmla="*/ 188 w 292"/>
              <a:gd name="T9" fmla="*/ 77 h 393"/>
              <a:gd name="T10" fmla="*/ 194 w 292"/>
              <a:gd name="T11" fmla="*/ 78 h 393"/>
              <a:gd name="T12" fmla="*/ 193 w 292"/>
              <a:gd name="T13" fmla="*/ 0 h 393"/>
              <a:gd name="T14" fmla="*/ 246 w 292"/>
              <a:gd name="T15" fmla="*/ 5 h 393"/>
              <a:gd name="T16" fmla="*/ 258 w 292"/>
              <a:gd name="T17" fmla="*/ 22 h 393"/>
              <a:gd name="T18" fmla="*/ 248 w 292"/>
              <a:gd name="T19" fmla="*/ 90 h 393"/>
              <a:gd name="T20" fmla="*/ 246 w 292"/>
              <a:gd name="T21" fmla="*/ 5 h 393"/>
              <a:gd name="T22" fmla="*/ 144 w 292"/>
              <a:gd name="T23" fmla="*/ 176 h 393"/>
              <a:gd name="T24" fmla="*/ 128 w 292"/>
              <a:gd name="T25" fmla="*/ 177 h 393"/>
              <a:gd name="T26" fmla="*/ 149 w 292"/>
              <a:gd name="T27" fmla="*/ 197 h 393"/>
              <a:gd name="T28" fmla="*/ 167 w 292"/>
              <a:gd name="T29" fmla="*/ 103 h 393"/>
              <a:gd name="T30" fmla="*/ 141 w 292"/>
              <a:gd name="T31" fmla="*/ 137 h 393"/>
              <a:gd name="T32" fmla="*/ 135 w 292"/>
              <a:gd name="T33" fmla="*/ 138 h 393"/>
              <a:gd name="T34" fmla="*/ 133 w 292"/>
              <a:gd name="T35" fmla="*/ 154 h 393"/>
              <a:gd name="T36" fmla="*/ 142 w 292"/>
              <a:gd name="T37" fmla="*/ 152 h 393"/>
              <a:gd name="T38" fmla="*/ 144 w 292"/>
              <a:gd name="T39" fmla="*/ 174 h 393"/>
              <a:gd name="T40" fmla="*/ 123 w 292"/>
              <a:gd name="T41" fmla="*/ 123 h 393"/>
              <a:gd name="T42" fmla="*/ 126 w 292"/>
              <a:gd name="T43" fmla="*/ 124 h 393"/>
              <a:gd name="T44" fmla="*/ 111 w 292"/>
              <a:gd name="T45" fmla="*/ 115 h 393"/>
              <a:gd name="T46" fmla="*/ 138 w 292"/>
              <a:gd name="T47" fmla="*/ 172 h 393"/>
              <a:gd name="T48" fmla="*/ 113 w 292"/>
              <a:gd name="T49" fmla="*/ 140 h 393"/>
              <a:gd name="T50" fmla="*/ 123 w 292"/>
              <a:gd name="T51" fmla="*/ 123 h 393"/>
              <a:gd name="T52" fmla="*/ 105 w 292"/>
              <a:gd name="T53" fmla="*/ 164 h 393"/>
              <a:gd name="T54" fmla="*/ 54 w 292"/>
              <a:gd name="T55" fmla="*/ 162 h 393"/>
              <a:gd name="T56" fmla="*/ 59 w 292"/>
              <a:gd name="T57" fmla="*/ 164 h 393"/>
              <a:gd name="T58" fmla="*/ 121 w 292"/>
              <a:gd name="T59" fmla="*/ 175 h 393"/>
              <a:gd name="T60" fmla="*/ 101 w 292"/>
              <a:gd name="T61" fmla="*/ 119 h 393"/>
              <a:gd name="T62" fmla="*/ 101 w 292"/>
              <a:gd name="T63" fmla="*/ 159 h 393"/>
              <a:gd name="T64" fmla="*/ 56 w 292"/>
              <a:gd name="T65" fmla="*/ 168 h 393"/>
              <a:gd name="T66" fmla="*/ 128 w 292"/>
              <a:gd name="T67" fmla="*/ 196 h 393"/>
              <a:gd name="T68" fmla="*/ 56 w 292"/>
              <a:gd name="T69" fmla="*/ 169 h 393"/>
              <a:gd name="T70" fmla="*/ 55 w 292"/>
              <a:gd name="T71" fmla="*/ 250 h 393"/>
              <a:gd name="T72" fmla="*/ 25 w 292"/>
              <a:gd name="T73" fmla="*/ 276 h 393"/>
              <a:gd name="T74" fmla="*/ 19 w 292"/>
              <a:gd name="T75" fmla="*/ 285 h 393"/>
              <a:gd name="T76" fmla="*/ 21 w 292"/>
              <a:gd name="T77" fmla="*/ 340 h 393"/>
              <a:gd name="T78" fmla="*/ 69 w 292"/>
              <a:gd name="T79" fmla="*/ 310 h 393"/>
              <a:gd name="T80" fmla="*/ 75 w 292"/>
              <a:gd name="T81" fmla="*/ 336 h 393"/>
              <a:gd name="T82" fmla="*/ 37 w 292"/>
              <a:gd name="T83" fmla="*/ 256 h 393"/>
              <a:gd name="T84" fmla="*/ 13 w 292"/>
              <a:gd name="T85" fmla="*/ 247 h 393"/>
              <a:gd name="T86" fmla="*/ 37 w 292"/>
              <a:gd name="T87" fmla="*/ 256 h 393"/>
              <a:gd name="T88" fmla="*/ 17 w 292"/>
              <a:gd name="T89" fmla="*/ 369 h 393"/>
              <a:gd name="T90" fmla="*/ 17 w 292"/>
              <a:gd name="T91" fmla="*/ 369 h 393"/>
              <a:gd name="T92" fmla="*/ 14 w 292"/>
              <a:gd name="T93" fmla="*/ 265 h 393"/>
              <a:gd name="T94" fmla="*/ 15 w 292"/>
              <a:gd name="T95" fmla="*/ 281 h 393"/>
              <a:gd name="T96" fmla="*/ 14 w 292"/>
              <a:gd name="T97" fmla="*/ 265 h 393"/>
            </a:gdLst>
            <a:ahLst/>
            <a:cxnLst/>
            <a:rect l="0" t="0" r="r" b="b"/>
            <a:pathLst>
              <a:path w="292" h="393">
                <a:moveTo>
                  <a:pt x="139" y="5"/>
                </a:moveTo>
                <a:lnTo>
                  <a:pt x="139" y="5"/>
                </a:lnTo>
                <a:lnTo>
                  <a:pt x="134" y="82"/>
                </a:lnTo>
                <a:cubicBezTo>
                  <a:pt x="139" y="81"/>
                  <a:pt x="144" y="80"/>
                  <a:pt x="149" y="79"/>
                </a:cubicBezTo>
                <a:lnTo>
                  <a:pt x="159" y="18"/>
                </a:lnTo>
                <a:cubicBezTo>
                  <a:pt x="159" y="15"/>
                  <a:pt x="165" y="16"/>
                  <a:pt x="164" y="19"/>
                </a:cubicBezTo>
                <a:lnTo>
                  <a:pt x="155" y="78"/>
                </a:lnTo>
                <a:cubicBezTo>
                  <a:pt x="159" y="78"/>
                  <a:pt x="163" y="78"/>
                  <a:pt x="167" y="77"/>
                </a:cubicBezTo>
                <a:lnTo>
                  <a:pt x="187" y="0"/>
                </a:lnTo>
                <a:cubicBezTo>
                  <a:pt x="171" y="1"/>
                  <a:pt x="155" y="2"/>
                  <a:pt x="139" y="5"/>
                </a:cubicBezTo>
                <a:lnTo>
                  <a:pt x="139" y="5"/>
                </a:lnTo>
                <a:close/>
                <a:moveTo>
                  <a:pt x="193" y="0"/>
                </a:moveTo>
                <a:lnTo>
                  <a:pt x="193" y="0"/>
                </a:lnTo>
                <a:lnTo>
                  <a:pt x="173" y="77"/>
                </a:lnTo>
                <a:cubicBezTo>
                  <a:pt x="178" y="77"/>
                  <a:pt x="183" y="77"/>
                  <a:pt x="188" y="77"/>
                </a:cubicBezTo>
                <a:lnTo>
                  <a:pt x="207" y="17"/>
                </a:lnTo>
                <a:cubicBezTo>
                  <a:pt x="208" y="13"/>
                  <a:pt x="214" y="15"/>
                  <a:pt x="213" y="18"/>
                </a:cubicBezTo>
                <a:lnTo>
                  <a:pt x="194" y="78"/>
                </a:lnTo>
                <a:cubicBezTo>
                  <a:pt x="199" y="78"/>
                  <a:pt x="203" y="79"/>
                  <a:pt x="208" y="80"/>
                </a:cubicBezTo>
                <a:lnTo>
                  <a:pt x="240" y="4"/>
                </a:lnTo>
                <a:cubicBezTo>
                  <a:pt x="224" y="2"/>
                  <a:pt x="208" y="0"/>
                  <a:pt x="193" y="0"/>
                </a:cubicBezTo>
                <a:lnTo>
                  <a:pt x="193" y="0"/>
                </a:lnTo>
                <a:close/>
                <a:moveTo>
                  <a:pt x="246" y="5"/>
                </a:moveTo>
                <a:lnTo>
                  <a:pt x="246" y="5"/>
                </a:lnTo>
                <a:lnTo>
                  <a:pt x="214" y="81"/>
                </a:lnTo>
                <a:cubicBezTo>
                  <a:pt x="218" y="81"/>
                  <a:pt x="222" y="82"/>
                  <a:pt x="226" y="83"/>
                </a:cubicBezTo>
                <a:lnTo>
                  <a:pt x="258" y="22"/>
                </a:lnTo>
                <a:cubicBezTo>
                  <a:pt x="260" y="19"/>
                  <a:pt x="265" y="21"/>
                  <a:pt x="263" y="25"/>
                </a:cubicBezTo>
                <a:lnTo>
                  <a:pt x="232" y="85"/>
                </a:lnTo>
                <a:cubicBezTo>
                  <a:pt x="237" y="86"/>
                  <a:pt x="243" y="88"/>
                  <a:pt x="248" y="90"/>
                </a:cubicBezTo>
                <a:lnTo>
                  <a:pt x="292" y="17"/>
                </a:lnTo>
                <a:cubicBezTo>
                  <a:pt x="277" y="12"/>
                  <a:pt x="261" y="8"/>
                  <a:pt x="246" y="5"/>
                </a:cubicBezTo>
                <a:lnTo>
                  <a:pt x="246" y="5"/>
                </a:lnTo>
                <a:close/>
                <a:moveTo>
                  <a:pt x="144" y="174"/>
                </a:moveTo>
                <a:lnTo>
                  <a:pt x="144" y="174"/>
                </a:lnTo>
                <a:cubicBezTo>
                  <a:pt x="144" y="175"/>
                  <a:pt x="144" y="175"/>
                  <a:pt x="144" y="176"/>
                </a:cubicBezTo>
                <a:cubicBezTo>
                  <a:pt x="143" y="176"/>
                  <a:pt x="143" y="176"/>
                  <a:pt x="142" y="177"/>
                </a:cubicBezTo>
                <a:cubicBezTo>
                  <a:pt x="142" y="177"/>
                  <a:pt x="142" y="177"/>
                  <a:pt x="142" y="177"/>
                </a:cubicBezTo>
                <a:cubicBezTo>
                  <a:pt x="137" y="178"/>
                  <a:pt x="132" y="177"/>
                  <a:pt x="128" y="177"/>
                </a:cubicBezTo>
                <a:cubicBezTo>
                  <a:pt x="127" y="177"/>
                  <a:pt x="127" y="177"/>
                  <a:pt x="126" y="178"/>
                </a:cubicBezTo>
                <a:cubicBezTo>
                  <a:pt x="127" y="183"/>
                  <a:pt x="130" y="190"/>
                  <a:pt x="136" y="196"/>
                </a:cubicBezTo>
                <a:cubicBezTo>
                  <a:pt x="140" y="196"/>
                  <a:pt x="144" y="196"/>
                  <a:pt x="149" y="197"/>
                </a:cubicBezTo>
                <a:lnTo>
                  <a:pt x="161" y="145"/>
                </a:lnTo>
                <a:cubicBezTo>
                  <a:pt x="147" y="141"/>
                  <a:pt x="144" y="117"/>
                  <a:pt x="162" y="113"/>
                </a:cubicBezTo>
                <a:cubicBezTo>
                  <a:pt x="162" y="109"/>
                  <a:pt x="164" y="106"/>
                  <a:pt x="167" y="103"/>
                </a:cubicBezTo>
                <a:cubicBezTo>
                  <a:pt x="157" y="104"/>
                  <a:pt x="147" y="105"/>
                  <a:pt x="138" y="107"/>
                </a:cubicBezTo>
                <a:lnTo>
                  <a:pt x="141" y="136"/>
                </a:lnTo>
                <a:cubicBezTo>
                  <a:pt x="141" y="136"/>
                  <a:pt x="141" y="136"/>
                  <a:pt x="141" y="137"/>
                </a:cubicBezTo>
                <a:lnTo>
                  <a:pt x="141" y="140"/>
                </a:lnTo>
                <a:cubicBezTo>
                  <a:pt x="141" y="143"/>
                  <a:pt x="136" y="144"/>
                  <a:pt x="135" y="140"/>
                </a:cubicBezTo>
                <a:lnTo>
                  <a:pt x="135" y="138"/>
                </a:lnTo>
                <a:lnTo>
                  <a:pt x="124" y="130"/>
                </a:lnTo>
                <a:cubicBezTo>
                  <a:pt x="121" y="132"/>
                  <a:pt x="119" y="136"/>
                  <a:pt x="119" y="140"/>
                </a:cubicBezTo>
                <a:cubicBezTo>
                  <a:pt x="119" y="148"/>
                  <a:pt x="125" y="154"/>
                  <a:pt x="133" y="154"/>
                </a:cubicBezTo>
                <a:cubicBezTo>
                  <a:pt x="134" y="154"/>
                  <a:pt x="135" y="154"/>
                  <a:pt x="137" y="154"/>
                </a:cubicBezTo>
                <a:lnTo>
                  <a:pt x="137" y="153"/>
                </a:lnTo>
                <a:cubicBezTo>
                  <a:pt x="136" y="149"/>
                  <a:pt x="142" y="148"/>
                  <a:pt x="142" y="152"/>
                </a:cubicBezTo>
                <a:lnTo>
                  <a:pt x="142" y="155"/>
                </a:lnTo>
                <a:cubicBezTo>
                  <a:pt x="143" y="155"/>
                  <a:pt x="143" y="155"/>
                  <a:pt x="143" y="156"/>
                </a:cubicBezTo>
                <a:lnTo>
                  <a:pt x="144" y="174"/>
                </a:lnTo>
                <a:cubicBezTo>
                  <a:pt x="144" y="174"/>
                  <a:pt x="144" y="174"/>
                  <a:pt x="144" y="174"/>
                </a:cubicBezTo>
                <a:lnTo>
                  <a:pt x="144" y="174"/>
                </a:lnTo>
                <a:close/>
                <a:moveTo>
                  <a:pt x="123" y="123"/>
                </a:moveTo>
                <a:lnTo>
                  <a:pt x="123" y="123"/>
                </a:lnTo>
                <a:lnTo>
                  <a:pt x="125" y="124"/>
                </a:lnTo>
                <a:cubicBezTo>
                  <a:pt x="125" y="124"/>
                  <a:pt x="125" y="124"/>
                  <a:pt x="126" y="124"/>
                </a:cubicBezTo>
                <a:lnTo>
                  <a:pt x="135" y="131"/>
                </a:lnTo>
                <a:lnTo>
                  <a:pt x="133" y="108"/>
                </a:lnTo>
                <a:cubicBezTo>
                  <a:pt x="125" y="110"/>
                  <a:pt x="118" y="112"/>
                  <a:pt x="111" y="115"/>
                </a:cubicBezTo>
                <a:cubicBezTo>
                  <a:pt x="97" y="130"/>
                  <a:pt x="98" y="147"/>
                  <a:pt x="107" y="159"/>
                </a:cubicBezTo>
                <a:cubicBezTo>
                  <a:pt x="108" y="159"/>
                  <a:pt x="108" y="159"/>
                  <a:pt x="108" y="159"/>
                </a:cubicBezTo>
                <a:cubicBezTo>
                  <a:pt x="115" y="168"/>
                  <a:pt x="127" y="173"/>
                  <a:pt x="138" y="172"/>
                </a:cubicBezTo>
                <a:lnTo>
                  <a:pt x="137" y="159"/>
                </a:lnTo>
                <a:cubicBezTo>
                  <a:pt x="136" y="160"/>
                  <a:pt x="134" y="160"/>
                  <a:pt x="133" y="160"/>
                </a:cubicBezTo>
                <a:cubicBezTo>
                  <a:pt x="122" y="160"/>
                  <a:pt x="113" y="151"/>
                  <a:pt x="113" y="140"/>
                </a:cubicBezTo>
                <a:cubicBezTo>
                  <a:pt x="113" y="135"/>
                  <a:pt x="116" y="130"/>
                  <a:pt x="119" y="126"/>
                </a:cubicBezTo>
                <a:cubicBezTo>
                  <a:pt x="118" y="124"/>
                  <a:pt x="121" y="121"/>
                  <a:pt x="123" y="123"/>
                </a:cubicBezTo>
                <a:lnTo>
                  <a:pt x="123" y="123"/>
                </a:lnTo>
                <a:close/>
                <a:moveTo>
                  <a:pt x="121" y="175"/>
                </a:moveTo>
                <a:lnTo>
                  <a:pt x="121" y="175"/>
                </a:lnTo>
                <a:cubicBezTo>
                  <a:pt x="115" y="172"/>
                  <a:pt x="109" y="169"/>
                  <a:pt x="105" y="164"/>
                </a:cubicBezTo>
                <a:cubicBezTo>
                  <a:pt x="85" y="169"/>
                  <a:pt x="68" y="154"/>
                  <a:pt x="62" y="142"/>
                </a:cubicBezTo>
                <a:cubicBezTo>
                  <a:pt x="55" y="147"/>
                  <a:pt x="48" y="153"/>
                  <a:pt x="42" y="159"/>
                </a:cubicBezTo>
                <a:lnTo>
                  <a:pt x="54" y="162"/>
                </a:lnTo>
                <a:cubicBezTo>
                  <a:pt x="55" y="162"/>
                  <a:pt x="55" y="162"/>
                  <a:pt x="55" y="162"/>
                </a:cubicBezTo>
                <a:lnTo>
                  <a:pt x="58" y="163"/>
                </a:lnTo>
                <a:cubicBezTo>
                  <a:pt x="58" y="163"/>
                  <a:pt x="59" y="163"/>
                  <a:pt x="59" y="164"/>
                </a:cubicBezTo>
                <a:cubicBezTo>
                  <a:pt x="60" y="164"/>
                  <a:pt x="60" y="164"/>
                  <a:pt x="60" y="165"/>
                </a:cubicBezTo>
                <a:cubicBezTo>
                  <a:pt x="74" y="181"/>
                  <a:pt x="108" y="181"/>
                  <a:pt x="121" y="175"/>
                </a:cubicBezTo>
                <a:lnTo>
                  <a:pt x="121" y="175"/>
                </a:lnTo>
                <a:close/>
                <a:moveTo>
                  <a:pt x="101" y="159"/>
                </a:moveTo>
                <a:lnTo>
                  <a:pt x="101" y="159"/>
                </a:lnTo>
                <a:cubicBezTo>
                  <a:pt x="93" y="148"/>
                  <a:pt x="92" y="134"/>
                  <a:pt x="101" y="119"/>
                </a:cubicBezTo>
                <a:cubicBezTo>
                  <a:pt x="89" y="124"/>
                  <a:pt x="77" y="131"/>
                  <a:pt x="66" y="139"/>
                </a:cubicBezTo>
                <a:cubicBezTo>
                  <a:pt x="71" y="149"/>
                  <a:pt x="85" y="161"/>
                  <a:pt x="101" y="159"/>
                </a:cubicBezTo>
                <a:lnTo>
                  <a:pt x="101" y="159"/>
                </a:lnTo>
                <a:close/>
                <a:moveTo>
                  <a:pt x="56" y="169"/>
                </a:moveTo>
                <a:lnTo>
                  <a:pt x="56" y="169"/>
                </a:lnTo>
                <a:lnTo>
                  <a:pt x="56" y="168"/>
                </a:lnTo>
                <a:cubicBezTo>
                  <a:pt x="54" y="174"/>
                  <a:pt x="54" y="186"/>
                  <a:pt x="55" y="192"/>
                </a:cubicBezTo>
                <a:cubicBezTo>
                  <a:pt x="66" y="196"/>
                  <a:pt x="79" y="196"/>
                  <a:pt x="94" y="196"/>
                </a:cubicBezTo>
                <a:cubicBezTo>
                  <a:pt x="106" y="196"/>
                  <a:pt x="117" y="196"/>
                  <a:pt x="128" y="196"/>
                </a:cubicBezTo>
                <a:cubicBezTo>
                  <a:pt x="124" y="191"/>
                  <a:pt x="122" y="185"/>
                  <a:pt x="121" y="181"/>
                </a:cubicBezTo>
                <a:cubicBezTo>
                  <a:pt x="104" y="187"/>
                  <a:pt x="71" y="185"/>
                  <a:pt x="56" y="169"/>
                </a:cubicBezTo>
                <a:lnTo>
                  <a:pt x="56" y="169"/>
                </a:lnTo>
                <a:close/>
                <a:moveTo>
                  <a:pt x="66" y="255"/>
                </a:moveTo>
                <a:lnTo>
                  <a:pt x="66" y="255"/>
                </a:lnTo>
                <a:cubicBezTo>
                  <a:pt x="62" y="254"/>
                  <a:pt x="59" y="252"/>
                  <a:pt x="55" y="250"/>
                </a:cubicBezTo>
                <a:cubicBezTo>
                  <a:pt x="51" y="253"/>
                  <a:pt x="47" y="255"/>
                  <a:pt x="44" y="258"/>
                </a:cubicBezTo>
                <a:cubicBezTo>
                  <a:pt x="44" y="258"/>
                  <a:pt x="43" y="259"/>
                  <a:pt x="43" y="259"/>
                </a:cubicBezTo>
                <a:cubicBezTo>
                  <a:pt x="36" y="265"/>
                  <a:pt x="30" y="271"/>
                  <a:pt x="25" y="276"/>
                </a:cubicBezTo>
                <a:cubicBezTo>
                  <a:pt x="25" y="276"/>
                  <a:pt x="25" y="277"/>
                  <a:pt x="25" y="277"/>
                </a:cubicBezTo>
                <a:cubicBezTo>
                  <a:pt x="23" y="279"/>
                  <a:pt x="21" y="282"/>
                  <a:pt x="19" y="284"/>
                </a:cubicBezTo>
                <a:cubicBezTo>
                  <a:pt x="19" y="285"/>
                  <a:pt x="19" y="285"/>
                  <a:pt x="19" y="285"/>
                </a:cubicBezTo>
                <a:cubicBezTo>
                  <a:pt x="12" y="295"/>
                  <a:pt x="9" y="304"/>
                  <a:pt x="8" y="312"/>
                </a:cubicBezTo>
                <a:cubicBezTo>
                  <a:pt x="6" y="324"/>
                  <a:pt x="7" y="340"/>
                  <a:pt x="0" y="350"/>
                </a:cubicBezTo>
                <a:cubicBezTo>
                  <a:pt x="11" y="349"/>
                  <a:pt x="14" y="346"/>
                  <a:pt x="21" y="340"/>
                </a:cubicBezTo>
                <a:cubicBezTo>
                  <a:pt x="14" y="310"/>
                  <a:pt x="36" y="271"/>
                  <a:pt x="66" y="255"/>
                </a:cubicBezTo>
                <a:lnTo>
                  <a:pt x="66" y="255"/>
                </a:lnTo>
                <a:close/>
                <a:moveTo>
                  <a:pt x="69" y="310"/>
                </a:moveTo>
                <a:lnTo>
                  <a:pt x="69" y="310"/>
                </a:lnTo>
                <a:cubicBezTo>
                  <a:pt x="68" y="311"/>
                  <a:pt x="68" y="312"/>
                  <a:pt x="67" y="314"/>
                </a:cubicBezTo>
                <a:cubicBezTo>
                  <a:pt x="61" y="326"/>
                  <a:pt x="68" y="336"/>
                  <a:pt x="75" y="336"/>
                </a:cubicBezTo>
                <a:cubicBezTo>
                  <a:pt x="93" y="336"/>
                  <a:pt x="92" y="311"/>
                  <a:pt x="69" y="310"/>
                </a:cubicBezTo>
                <a:lnTo>
                  <a:pt x="69" y="310"/>
                </a:lnTo>
                <a:close/>
                <a:moveTo>
                  <a:pt x="37" y="256"/>
                </a:moveTo>
                <a:lnTo>
                  <a:pt x="37" y="256"/>
                </a:lnTo>
                <a:cubicBezTo>
                  <a:pt x="28" y="249"/>
                  <a:pt x="17" y="240"/>
                  <a:pt x="12" y="229"/>
                </a:cubicBezTo>
                <a:cubicBezTo>
                  <a:pt x="11" y="235"/>
                  <a:pt x="11" y="241"/>
                  <a:pt x="13" y="247"/>
                </a:cubicBezTo>
                <a:lnTo>
                  <a:pt x="13" y="247"/>
                </a:lnTo>
                <a:cubicBezTo>
                  <a:pt x="15" y="256"/>
                  <a:pt x="19" y="264"/>
                  <a:pt x="23" y="270"/>
                </a:cubicBezTo>
                <a:cubicBezTo>
                  <a:pt x="27" y="266"/>
                  <a:pt x="32" y="261"/>
                  <a:pt x="37" y="256"/>
                </a:cubicBezTo>
                <a:lnTo>
                  <a:pt x="37" y="256"/>
                </a:lnTo>
                <a:close/>
                <a:moveTo>
                  <a:pt x="17" y="369"/>
                </a:moveTo>
                <a:lnTo>
                  <a:pt x="17" y="369"/>
                </a:lnTo>
                <a:cubicBezTo>
                  <a:pt x="17" y="377"/>
                  <a:pt x="18" y="385"/>
                  <a:pt x="17" y="393"/>
                </a:cubicBezTo>
                <a:cubicBezTo>
                  <a:pt x="26" y="392"/>
                  <a:pt x="29" y="390"/>
                  <a:pt x="34" y="385"/>
                </a:cubicBezTo>
                <a:cubicBezTo>
                  <a:pt x="28" y="381"/>
                  <a:pt x="22" y="376"/>
                  <a:pt x="17" y="369"/>
                </a:cubicBezTo>
                <a:lnTo>
                  <a:pt x="17" y="369"/>
                </a:lnTo>
                <a:close/>
                <a:moveTo>
                  <a:pt x="14" y="265"/>
                </a:moveTo>
                <a:lnTo>
                  <a:pt x="14" y="265"/>
                </a:lnTo>
                <a:lnTo>
                  <a:pt x="3" y="271"/>
                </a:lnTo>
                <a:lnTo>
                  <a:pt x="9" y="283"/>
                </a:lnTo>
                <a:cubicBezTo>
                  <a:pt x="11" y="282"/>
                  <a:pt x="13" y="281"/>
                  <a:pt x="15" y="281"/>
                </a:cubicBezTo>
                <a:cubicBezTo>
                  <a:pt x="16" y="279"/>
                  <a:pt x="18" y="277"/>
                  <a:pt x="20" y="275"/>
                </a:cubicBezTo>
                <a:cubicBezTo>
                  <a:pt x="18" y="272"/>
                  <a:pt x="16" y="268"/>
                  <a:pt x="14" y="265"/>
                </a:cubicBezTo>
                <a:lnTo>
                  <a:pt x="14" y="265"/>
                </a:lnTo>
                <a:close/>
              </a:path>
            </a:pathLst>
          </a:custGeom>
          <a:noFill/>
          <a:ln w="1588">
            <a:noFill/>
            <a:prstDash val="solid"/>
          </a:ln>
        </p:spPr>
        <p:txBody>
          <a:bodyPr vert="horz" wrap="square" lIns="91440" tIns="45720" rIns="91440" bIns="45720" anchor="t"/>
          <a:lstStyle/>
          <a:p>
            <a:endParaRPr sz="4267"/>
          </a:p>
        </p:txBody>
      </p:sp>
      <p:sp>
        <p:nvSpPr>
          <p:cNvPr id="15" name="Freeform 11">
            <a:extLst>
              <a:ext uri="{FF2B5EF4-FFF2-40B4-BE49-F238E27FC236}">
                <a16:creationId xmlns:a16="http://schemas.microsoft.com/office/drawing/2014/main" id="{AE49A029-9AE0-4CF9-87DF-91910B2623EE}"/>
              </a:ext>
            </a:extLst>
          </p:cNvPr>
          <p:cNvSpPr>
            <a:spLocks noGrp="1"/>
          </p:cNvSpPr>
          <p:nvPr/>
        </p:nvSpPr>
        <p:spPr>
          <a:xfrm>
            <a:off x="10227027" y="406482"/>
            <a:ext cx="374650" cy="406400"/>
          </a:xfrm>
          <a:custGeom>
            <a:avLst/>
            <a:gdLst>
              <a:gd name="T0" fmla="*/ 1 w 346"/>
              <a:gd name="T1" fmla="*/ 230 h 372"/>
              <a:gd name="T2" fmla="*/ 27 w 346"/>
              <a:gd name="T3" fmla="*/ 197 h 372"/>
              <a:gd name="T4" fmla="*/ 1 w 346"/>
              <a:gd name="T5" fmla="*/ 223 h 372"/>
              <a:gd name="T6" fmla="*/ 1 w 346"/>
              <a:gd name="T7" fmla="*/ 214 h 372"/>
              <a:gd name="T8" fmla="*/ 2 w 346"/>
              <a:gd name="T9" fmla="*/ 188 h 372"/>
              <a:gd name="T10" fmla="*/ 3 w 346"/>
              <a:gd name="T11" fmla="*/ 179 h 372"/>
              <a:gd name="T12" fmla="*/ 29 w 346"/>
              <a:gd name="T13" fmla="*/ 168 h 372"/>
              <a:gd name="T14" fmla="*/ 5 w 346"/>
              <a:gd name="T15" fmla="*/ 169 h 372"/>
              <a:gd name="T16" fmla="*/ 7 w 346"/>
              <a:gd name="T17" fmla="*/ 161 h 372"/>
              <a:gd name="T18" fmla="*/ 32 w 346"/>
              <a:gd name="T19" fmla="*/ 127 h 372"/>
              <a:gd name="T20" fmla="*/ 36 w 346"/>
              <a:gd name="T21" fmla="*/ 96 h 372"/>
              <a:gd name="T22" fmla="*/ 56 w 346"/>
              <a:gd name="T23" fmla="*/ 72 h 372"/>
              <a:gd name="T24" fmla="*/ 68 w 346"/>
              <a:gd name="T25" fmla="*/ 75 h 372"/>
              <a:gd name="T26" fmla="*/ 214 w 346"/>
              <a:gd name="T27" fmla="*/ 53 h 372"/>
              <a:gd name="T28" fmla="*/ 203 w 346"/>
              <a:gd name="T29" fmla="*/ 80 h 372"/>
              <a:gd name="T30" fmla="*/ 214 w 346"/>
              <a:gd name="T31" fmla="*/ 53 h 372"/>
              <a:gd name="T32" fmla="*/ 187 w 346"/>
              <a:gd name="T33" fmla="*/ 64 h 372"/>
              <a:gd name="T34" fmla="*/ 199 w 346"/>
              <a:gd name="T35" fmla="*/ 53 h 372"/>
              <a:gd name="T36" fmla="*/ 205 w 346"/>
              <a:gd name="T37" fmla="*/ 50 h 372"/>
              <a:gd name="T38" fmla="*/ 210 w 346"/>
              <a:gd name="T39" fmla="*/ 23 h 372"/>
              <a:gd name="T40" fmla="*/ 182 w 346"/>
              <a:gd name="T41" fmla="*/ 27 h 372"/>
              <a:gd name="T42" fmla="*/ 186 w 346"/>
              <a:gd name="T43" fmla="*/ 49 h 372"/>
              <a:gd name="T44" fmla="*/ 172 w 346"/>
              <a:gd name="T45" fmla="*/ 105 h 372"/>
              <a:gd name="T46" fmla="*/ 197 w 346"/>
              <a:gd name="T47" fmla="*/ 70 h 372"/>
              <a:gd name="T48" fmla="*/ 225 w 346"/>
              <a:gd name="T49" fmla="*/ 90 h 372"/>
              <a:gd name="T50" fmla="*/ 232 w 346"/>
              <a:gd name="T51" fmla="*/ 80 h 372"/>
              <a:gd name="T52" fmla="*/ 242 w 346"/>
              <a:gd name="T53" fmla="*/ 51 h 372"/>
              <a:gd name="T54" fmla="*/ 222 w 346"/>
              <a:gd name="T55" fmla="*/ 60 h 372"/>
              <a:gd name="T56" fmla="*/ 203 w 346"/>
              <a:gd name="T57" fmla="*/ 88 h 372"/>
              <a:gd name="T58" fmla="*/ 225 w 346"/>
              <a:gd name="T59" fmla="*/ 90 h 372"/>
              <a:gd name="T60" fmla="*/ 200 w 346"/>
              <a:gd name="T61" fmla="*/ 247 h 372"/>
              <a:gd name="T62" fmla="*/ 200 w 346"/>
              <a:gd name="T63" fmla="*/ 247 h 372"/>
              <a:gd name="T64" fmla="*/ 262 w 346"/>
              <a:gd name="T65" fmla="*/ 176 h 372"/>
              <a:gd name="T66" fmla="*/ 262 w 346"/>
              <a:gd name="T67" fmla="*/ 176 h 372"/>
              <a:gd name="T68" fmla="*/ 303 w 346"/>
              <a:gd name="T69" fmla="*/ 125 h 372"/>
              <a:gd name="T70" fmla="*/ 303 w 346"/>
              <a:gd name="T71" fmla="*/ 125 h 372"/>
              <a:gd name="T72" fmla="*/ 302 w 346"/>
              <a:gd name="T73" fmla="*/ 148 h 372"/>
              <a:gd name="T74" fmla="*/ 303 w 346"/>
              <a:gd name="T75" fmla="*/ 132 h 372"/>
              <a:gd name="T76" fmla="*/ 189 w 346"/>
              <a:gd name="T77" fmla="*/ 269 h 372"/>
              <a:gd name="T78" fmla="*/ 257 w 346"/>
              <a:gd name="T79" fmla="*/ 205 h 372"/>
              <a:gd name="T80" fmla="*/ 257 w 346"/>
              <a:gd name="T81" fmla="*/ 181 h 372"/>
              <a:gd name="T82" fmla="*/ 194 w 346"/>
              <a:gd name="T83" fmla="*/ 255 h 372"/>
              <a:gd name="T84" fmla="*/ 189 w 346"/>
              <a:gd name="T85" fmla="*/ 269 h 372"/>
              <a:gd name="T86" fmla="*/ 68 w 346"/>
              <a:gd name="T87" fmla="*/ 369 h 372"/>
              <a:gd name="T88" fmla="*/ 101 w 346"/>
              <a:gd name="T89" fmla="*/ 350 h 372"/>
              <a:gd name="T90" fmla="*/ 129 w 346"/>
              <a:gd name="T91" fmla="*/ 325 h 372"/>
              <a:gd name="T92" fmla="*/ 148 w 346"/>
              <a:gd name="T93" fmla="*/ 305 h 372"/>
              <a:gd name="T94" fmla="*/ 176 w 346"/>
              <a:gd name="T95" fmla="*/ 271 h 372"/>
              <a:gd name="T96" fmla="*/ 191 w 346"/>
              <a:gd name="T97" fmla="*/ 250 h 372"/>
              <a:gd name="T98" fmla="*/ 253 w 346"/>
              <a:gd name="T99" fmla="*/ 160 h 372"/>
              <a:gd name="T100" fmla="*/ 279 w 346"/>
              <a:gd name="T101" fmla="*/ 125 h 372"/>
              <a:gd name="T102" fmla="*/ 295 w 346"/>
              <a:gd name="T103" fmla="*/ 106 h 372"/>
              <a:gd name="T104" fmla="*/ 341 w 346"/>
              <a:gd name="T105" fmla="*/ 64 h 372"/>
              <a:gd name="T106" fmla="*/ 343 w 346"/>
              <a:gd name="T107" fmla="*/ 63 h 372"/>
              <a:gd name="T108" fmla="*/ 331 w 346"/>
              <a:gd name="T109" fmla="*/ 52 h 372"/>
              <a:gd name="T110" fmla="*/ 68 w 346"/>
              <a:gd name="T111" fmla="*/ 369 h 372"/>
            </a:gdLst>
            <a:ahLst/>
            <a:cxnLst/>
            <a:rect l="0" t="0" r="r" b="b"/>
            <a:pathLst>
              <a:path w="346" h="372">
                <a:moveTo>
                  <a:pt x="1" y="223"/>
                </a:moveTo>
                <a:lnTo>
                  <a:pt x="1" y="223"/>
                </a:lnTo>
                <a:cubicBezTo>
                  <a:pt x="1" y="225"/>
                  <a:pt x="1" y="228"/>
                  <a:pt x="1" y="230"/>
                </a:cubicBezTo>
                <a:cubicBezTo>
                  <a:pt x="7" y="226"/>
                  <a:pt x="15" y="220"/>
                  <a:pt x="20" y="219"/>
                </a:cubicBezTo>
                <a:cubicBezTo>
                  <a:pt x="22" y="212"/>
                  <a:pt x="24" y="205"/>
                  <a:pt x="28" y="196"/>
                </a:cubicBezTo>
                <a:cubicBezTo>
                  <a:pt x="28" y="197"/>
                  <a:pt x="27" y="197"/>
                  <a:pt x="27" y="197"/>
                </a:cubicBezTo>
                <a:cubicBezTo>
                  <a:pt x="27" y="197"/>
                  <a:pt x="27" y="197"/>
                  <a:pt x="27" y="197"/>
                </a:cubicBezTo>
                <a:cubicBezTo>
                  <a:pt x="15" y="204"/>
                  <a:pt x="3" y="218"/>
                  <a:pt x="1" y="223"/>
                </a:cubicBezTo>
                <a:lnTo>
                  <a:pt x="1" y="223"/>
                </a:lnTo>
                <a:close/>
                <a:moveTo>
                  <a:pt x="2" y="188"/>
                </a:moveTo>
                <a:lnTo>
                  <a:pt x="2" y="188"/>
                </a:lnTo>
                <a:cubicBezTo>
                  <a:pt x="1" y="196"/>
                  <a:pt x="0" y="205"/>
                  <a:pt x="1" y="214"/>
                </a:cubicBezTo>
                <a:cubicBezTo>
                  <a:pt x="3" y="210"/>
                  <a:pt x="7" y="206"/>
                  <a:pt x="11" y="202"/>
                </a:cubicBezTo>
                <a:lnTo>
                  <a:pt x="2" y="188"/>
                </a:lnTo>
                <a:lnTo>
                  <a:pt x="2" y="188"/>
                </a:lnTo>
                <a:close/>
                <a:moveTo>
                  <a:pt x="5" y="169"/>
                </a:moveTo>
                <a:lnTo>
                  <a:pt x="5" y="169"/>
                </a:lnTo>
                <a:cubicBezTo>
                  <a:pt x="4" y="172"/>
                  <a:pt x="4" y="176"/>
                  <a:pt x="3" y="179"/>
                </a:cubicBezTo>
                <a:lnTo>
                  <a:pt x="15" y="198"/>
                </a:lnTo>
                <a:cubicBezTo>
                  <a:pt x="17" y="197"/>
                  <a:pt x="20" y="195"/>
                  <a:pt x="22" y="194"/>
                </a:cubicBezTo>
                <a:cubicBezTo>
                  <a:pt x="12" y="174"/>
                  <a:pt x="10" y="178"/>
                  <a:pt x="29" y="168"/>
                </a:cubicBezTo>
                <a:cubicBezTo>
                  <a:pt x="28" y="165"/>
                  <a:pt x="27" y="162"/>
                  <a:pt x="26" y="159"/>
                </a:cubicBezTo>
                <a:cubicBezTo>
                  <a:pt x="21" y="160"/>
                  <a:pt x="12" y="164"/>
                  <a:pt x="5" y="169"/>
                </a:cubicBezTo>
                <a:lnTo>
                  <a:pt x="5" y="169"/>
                </a:lnTo>
                <a:close/>
                <a:moveTo>
                  <a:pt x="36" y="96"/>
                </a:moveTo>
                <a:lnTo>
                  <a:pt x="36" y="96"/>
                </a:lnTo>
                <a:cubicBezTo>
                  <a:pt x="23" y="116"/>
                  <a:pt x="13" y="138"/>
                  <a:pt x="7" y="161"/>
                </a:cubicBezTo>
                <a:cubicBezTo>
                  <a:pt x="13" y="157"/>
                  <a:pt x="20" y="155"/>
                  <a:pt x="24" y="153"/>
                </a:cubicBezTo>
                <a:cubicBezTo>
                  <a:pt x="23" y="145"/>
                  <a:pt x="23" y="136"/>
                  <a:pt x="27" y="126"/>
                </a:cubicBezTo>
                <a:cubicBezTo>
                  <a:pt x="28" y="123"/>
                  <a:pt x="32" y="123"/>
                  <a:pt x="32" y="127"/>
                </a:cubicBezTo>
                <a:cubicBezTo>
                  <a:pt x="34" y="141"/>
                  <a:pt x="49" y="152"/>
                  <a:pt x="60" y="161"/>
                </a:cubicBezTo>
                <a:cubicBezTo>
                  <a:pt x="62" y="159"/>
                  <a:pt x="65" y="156"/>
                  <a:pt x="68" y="154"/>
                </a:cubicBezTo>
                <a:cubicBezTo>
                  <a:pt x="52" y="142"/>
                  <a:pt x="40" y="125"/>
                  <a:pt x="36" y="96"/>
                </a:cubicBezTo>
                <a:lnTo>
                  <a:pt x="36" y="96"/>
                </a:lnTo>
                <a:close/>
                <a:moveTo>
                  <a:pt x="56" y="72"/>
                </a:moveTo>
                <a:lnTo>
                  <a:pt x="56" y="72"/>
                </a:lnTo>
                <a:cubicBezTo>
                  <a:pt x="53" y="75"/>
                  <a:pt x="50" y="78"/>
                  <a:pt x="47" y="82"/>
                </a:cubicBezTo>
                <a:cubicBezTo>
                  <a:pt x="53" y="90"/>
                  <a:pt x="59" y="95"/>
                  <a:pt x="67" y="98"/>
                </a:cubicBezTo>
                <a:cubicBezTo>
                  <a:pt x="66" y="91"/>
                  <a:pt x="66" y="81"/>
                  <a:pt x="68" y="75"/>
                </a:cubicBezTo>
                <a:lnTo>
                  <a:pt x="56" y="72"/>
                </a:lnTo>
                <a:lnTo>
                  <a:pt x="56" y="72"/>
                </a:lnTo>
                <a:close/>
                <a:moveTo>
                  <a:pt x="214" y="53"/>
                </a:moveTo>
                <a:lnTo>
                  <a:pt x="214" y="53"/>
                </a:lnTo>
                <a:cubicBezTo>
                  <a:pt x="211" y="55"/>
                  <a:pt x="208" y="56"/>
                  <a:pt x="204" y="56"/>
                </a:cubicBezTo>
                <a:cubicBezTo>
                  <a:pt x="203" y="64"/>
                  <a:pt x="202" y="72"/>
                  <a:pt x="203" y="80"/>
                </a:cubicBezTo>
                <a:lnTo>
                  <a:pt x="218" y="64"/>
                </a:lnTo>
                <a:cubicBezTo>
                  <a:pt x="215" y="60"/>
                  <a:pt x="214" y="57"/>
                  <a:pt x="214" y="53"/>
                </a:cubicBezTo>
                <a:lnTo>
                  <a:pt x="214" y="53"/>
                </a:lnTo>
                <a:close/>
                <a:moveTo>
                  <a:pt x="197" y="70"/>
                </a:moveTo>
                <a:lnTo>
                  <a:pt x="197" y="70"/>
                </a:lnTo>
                <a:cubicBezTo>
                  <a:pt x="193" y="69"/>
                  <a:pt x="189" y="68"/>
                  <a:pt x="187" y="64"/>
                </a:cubicBezTo>
                <a:cubicBezTo>
                  <a:pt x="186" y="62"/>
                  <a:pt x="192" y="63"/>
                  <a:pt x="193" y="63"/>
                </a:cubicBezTo>
                <a:cubicBezTo>
                  <a:pt x="195" y="63"/>
                  <a:pt x="196" y="62"/>
                  <a:pt x="198" y="62"/>
                </a:cubicBezTo>
                <a:cubicBezTo>
                  <a:pt x="198" y="59"/>
                  <a:pt x="198" y="56"/>
                  <a:pt x="199" y="53"/>
                </a:cubicBezTo>
                <a:cubicBezTo>
                  <a:pt x="199" y="53"/>
                  <a:pt x="199" y="52"/>
                  <a:pt x="199" y="52"/>
                </a:cubicBezTo>
                <a:cubicBezTo>
                  <a:pt x="199" y="51"/>
                  <a:pt x="199" y="50"/>
                  <a:pt x="199" y="49"/>
                </a:cubicBezTo>
                <a:cubicBezTo>
                  <a:pt x="200" y="46"/>
                  <a:pt x="205" y="46"/>
                  <a:pt x="205" y="50"/>
                </a:cubicBezTo>
                <a:cubicBezTo>
                  <a:pt x="221" y="49"/>
                  <a:pt x="218" y="25"/>
                  <a:pt x="201" y="29"/>
                </a:cubicBezTo>
                <a:cubicBezTo>
                  <a:pt x="197" y="29"/>
                  <a:pt x="196" y="24"/>
                  <a:pt x="200" y="23"/>
                </a:cubicBezTo>
                <a:cubicBezTo>
                  <a:pt x="204" y="22"/>
                  <a:pt x="207" y="22"/>
                  <a:pt x="210" y="23"/>
                </a:cubicBezTo>
                <a:cubicBezTo>
                  <a:pt x="208" y="0"/>
                  <a:pt x="172" y="14"/>
                  <a:pt x="192" y="32"/>
                </a:cubicBezTo>
                <a:cubicBezTo>
                  <a:pt x="195" y="34"/>
                  <a:pt x="192" y="39"/>
                  <a:pt x="189" y="36"/>
                </a:cubicBezTo>
                <a:cubicBezTo>
                  <a:pt x="185" y="33"/>
                  <a:pt x="183" y="30"/>
                  <a:pt x="182" y="27"/>
                </a:cubicBezTo>
                <a:cubicBezTo>
                  <a:pt x="169" y="29"/>
                  <a:pt x="172" y="45"/>
                  <a:pt x="181" y="48"/>
                </a:cubicBezTo>
                <a:lnTo>
                  <a:pt x="181" y="47"/>
                </a:lnTo>
                <a:cubicBezTo>
                  <a:pt x="182" y="44"/>
                  <a:pt x="187" y="45"/>
                  <a:pt x="186" y="49"/>
                </a:cubicBezTo>
                <a:lnTo>
                  <a:pt x="185" y="51"/>
                </a:lnTo>
                <a:cubicBezTo>
                  <a:pt x="185" y="52"/>
                  <a:pt x="185" y="52"/>
                  <a:pt x="185" y="52"/>
                </a:cubicBezTo>
                <a:lnTo>
                  <a:pt x="172" y="105"/>
                </a:lnTo>
                <a:cubicBezTo>
                  <a:pt x="175" y="105"/>
                  <a:pt x="177" y="106"/>
                  <a:pt x="179" y="106"/>
                </a:cubicBezTo>
                <a:lnTo>
                  <a:pt x="199" y="85"/>
                </a:lnTo>
                <a:cubicBezTo>
                  <a:pt x="197" y="80"/>
                  <a:pt x="197" y="75"/>
                  <a:pt x="197" y="70"/>
                </a:cubicBezTo>
                <a:lnTo>
                  <a:pt x="197" y="70"/>
                </a:lnTo>
                <a:close/>
                <a:moveTo>
                  <a:pt x="225" y="90"/>
                </a:moveTo>
                <a:lnTo>
                  <a:pt x="225" y="90"/>
                </a:lnTo>
                <a:cubicBezTo>
                  <a:pt x="222" y="85"/>
                  <a:pt x="221" y="79"/>
                  <a:pt x="222" y="74"/>
                </a:cubicBezTo>
                <a:cubicBezTo>
                  <a:pt x="222" y="71"/>
                  <a:pt x="225" y="76"/>
                  <a:pt x="225" y="76"/>
                </a:cubicBezTo>
                <a:cubicBezTo>
                  <a:pt x="227" y="78"/>
                  <a:pt x="229" y="79"/>
                  <a:pt x="232" y="80"/>
                </a:cubicBezTo>
                <a:cubicBezTo>
                  <a:pt x="236" y="73"/>
                  <a:pt x="241" y="66"/>
                  <a:pt x="246" y="60"/>
                </a:cubicBezTo>
                <a:cubicBezTo>
                  <a:pt x="252" y="52"/>
                  <a:pt x="257" y="45"/>
                  <a:pt x="263" y="38"/>
                </a:cubicBezTo>
                <a:cubicBezTo>
                  <a:pt x="253" y="26"/>
                  <a:pt x="237" y="33"/>
                  <a:pt x="242" y="51"/>
                </a:cubicBezTo>
                <a:cubicBezTo>
                  <a:pt x="243" y="55"/>
                  <a:pt x="237" y="56"/>
                  <a:pt x="236" y="52"/>
                </a:cubicBezTo>
                <a:cubicBezTo>
                  <a:pt x="235" y="48"/>
                  <a:pt x="235" y="45"/>
                  <a:pt x="235" y="42"/>
                </a:cubicBezTo>
                <a:cubicBezTo>
                  <a:pt x="223" y="38"/>
                  <a:pt x="214" y="49"/>
                  <a:pt x="222" y="60"/>
                </a:cubicBezTo>
                <a:cubicBezTo>
                  <a:pt x="225" y="57"/>
                  <a:pt x="228" y="61"/>
                  <a:pt x="226" y="64"/>
                </a:cubicBezTo>
                <a:lnTo>
                  <a:pt x="204" y="87"/>
                </a:lnTo>
                <a:cubicBezTo>
                  <a:pt x="204" y="88"/>
                  <a:pt x="204" y="88"/>
                  <a:pt x="203" y="88"/>
                </a:cubicBezTo>
                <a:lnTo>
                  <a:pt x="186" y="107"/>
                </a:lnTo>
                <a:cubicBezTo>
                  <a:pt x="193" y="109"/>
                  <a:pt x="201" y="110"/>
                  <a:pt x="209" y="113"/>
                </a:cubicBezTo>
                <a:cubicBezTo>
                  <a:pt x="214" y="105"/>
                  <a:pt x="220" y="97"/>
                  <a:pt x="225" y="90"/>
                </a:cubicBezTo>
                <a:lnTo>
                  <a:pt x="225" y="90"/>
                </a:lnTo>
                <a:close/>
                <a:moveTo>
                  <a:pt x="200" y="247"/>
                </a:moveTo>
                <a:lnTo>
                  <a:pt x="200" y="247"/>
                </a:lnTo>
                <a:cubicBezTo>
                  <a:pt x="231" y="234"/>
                  <a:pt x="241" y="209"/>
                  <a:pt x="240" y="189"/>
                </a:cubicBezTo>
                <a:cubicBezTo>
                  <a:pt x="233" y="199"/>
                  <a:pt x="226" y="210"/>
                  <a:pt x="219" y="219"/>
                </a:cubicBezTo>
                <a:cubicBezTo>
                  <a:pt x="213" y="229"/>
                  <a:pt x="206" y="238"/>
                  <a:pt x="200" y="247"/>
                </a:cubicBezTo>
                <a:lnTo>
                  <a:pt x="200" y="247"/>
                </a:lnTo>
                <a:close/>
                <a:moveTo>
                  <a:pt x="262" y="176"/>
                </a:moveTo>
                <a:lnTo>
                  <a:pt x="262" y="176"/>
                </a:lnTo>
                <a:cubicBezTo>
                  <a:pt x="275" y="162"/>
                  <a:pt x="280" y="148"/>
                  <a:pt x="280" y="134"/>
                </a:cubicBezTo>
                <a:cubicBezTo>
                  <a:pt x="272" y="143"/>
                  <a:pt x="265" y="152"/>
                  <a:pt x="259" y="162"/>
                </a:cubicBezTo>
                <a:cubicBezTo>
                  <a:pt x="260" y="166"/>
                  <a:pt x="261" y="171"/>
                  <a:pt x="262" y="176"/>
                </a:cubicBezTo>
                <a:lnTo>
                  <a:pt x="262" y="176"/>
                </a:lnTo>
                <a:close/>
                <a:moveTo>
                  <a:pt x="303" y="125"/>
                </a:moveTo>
                <a:lnTo>
                  <a:pt x="303" y="125"/>
                </a:lnTo>
                <a:cubicBezTo>
                  <a:pt x="317" y="114"/>
                  <a:pt x="322" y="102"/>
                  <a:pt x="322" y="87"/>
                </a:cubicBezTo>
                <a:cubicBezTo>
                  <a:pt x="314" y="94"/>
                  <a:pt x="307" y="101"/>
                  <a:pt x="300" y="109"/>
                </a:cubicBezTo>
                <a:cubicBezTo>
                  <a:pt x="301" y="115"/>
                  <a:pt x="302" y="120"/>
                  <a:pt x="303" y="125"/>
                </a:cubicBezTo>
                <a:lnTo>
                  <a:pt x="303" y="125"/>
                </a:lnTo>
                <a:close/>
                <a:moveTo>
                  <a:pt x="302" y="148"/>
                </a:moveTo>
                <a:lnTo>
                  <a:pt x="302" y="148"/>
                </a:lnTo>
                <a:cubicBezTo>
                  <a:pt x="331" y="135"/>
                  <a:pt x="344" y="104"/>
                  <a:pt x="341" y="71"/>
                </a:cubicBezTo>
                <a:cubicBezTo>
                  <a:pt x="336" y="75"/>
                  <a:pt x="332" y="78"/>
                  <a:pt x="327" y="82"/>
                </a:cubicBezTo>
                <a:cubicBezTo>
                  <a:pt x="329" y="102"/>
                  <a:pt x="322" y="118"/>
                  <a:pt x="303" y="132"/>
                </a:cubicBezTo>
                <a:cubicBezTo>
                  <a:pt x="303" y="138"/>
                  <a:pt x="303" y="143"/>
                  <a:pt x="302" y="148"/>
                </a:cubicBezTo>
                <a:lnTo>
                  <a:pt x="302" y="148"/>
                </a:lnTo>
                <a:close/>
                <a:moveTo>
                  <a:pt x="189" y="269"/>
                </a:moveTo>
                <a:lnTo>
                  <a:pt x="189" y="269"/>
                </a:lnTo>
                <a:cubicBezTo>
                  <a:pt x="189" y="269"/>
                  <a:pt x="189" y="269"/>
                  <a:pt x="189" y="269"/>
                </a:cubicBezTo>
                <a:cubicBezTo>
                  <a:pt x="222" y="266"/>
                  <a:pt x="251" y="240"/>
                  <a:pt x="257" y="205"/>
                </a:cubicBezTo>
                <a:cubicBezTo>
                  <a:pt x="257" y="204"/>
                  <a:pt x="257" y="204"/>
                  <a:pt x="257" y="204"/>
                </a:cubicBezTo>
                <a:cubicBezTo>
                  <a:pt x="258" y="197"/>
                  <a:pt x="258" y="190"/>
                  <a:pt x="257" y="182"/>
                </a:cubicBezTo>
                <a:cubicBezTo>
                  <a:pt x="257" y="182"/>
                  <a:pt x="257" y="181"/>
                  <a:pt x="257" y="181"/>
                </a:cubicBezTo>
                <a:cubicBezTo>
                  <a:pt x="257" y="177"/>
                  <a:pt x="256" y="172"/>
                  <a:pt x="254" y="168"/>
                </a:cubicBezTo>
                <a:cubicBezTo>
                  <a:pt x="251" y="172"/>
                  <a:pt x="248" y="177"/>
                  <a:pt x="244" y="182"/>
                </a:cubicBezTo>
                <a:cubicBezTo>
                  <a:pt x="249" y="207"/>
                  <a:pt x="238" y="242"/>
                  <a:pt x="194" y="255"/>
                </a:cubicBezTo>
                <a:cubicBezTo>
                  <a:pt x="191" y="260"/>
                  <a:pt x="187" y="264"/>
                  <a:pt x="184" y="269"/>
                </a:cubicBezTo>
                <a:cubicBezTo>
                  <a:pt x="185" y="269"/>
                  <a:pt x="187" y="269"/>
                  <a:pt x="189" y="269"/>
                </a:cubicBezTo>
                <a:lnTo>
                  <a:pt x="189" y="269"/>
                </a:lnTo>
                <a:close/>
                <a:moveTo>
                  <a:pt x="68" y="369"/>
                </a:moveTo>
                <a:lnTo>
                  <a:pt x="68" y="369"/>
                </a:lnTo>
                <a:cubicBezTo>
                  <a:pt x="68" y="369"/>
                  <a:pt x="68" y="369"/>
                  <a:pt x="68" y="369"/>
                </a:cubicBezTo>
                <a:cubicBezTo>
                  <a:pt x="68" y="370"/>
                  <a:pt x="69" y="371"/>
                  <a:pt x="70" y="372"/>
                </a:cubicBezTo>
                <a:cubicBezTo>
                  <a:pt x="81" y="366"/>
                  <a:pt x="91" y="358"/>
                  <a:pt x="101" y="350"/>
                </a:cubicBezTo>
                <a:cubicBezTo>
                  <a:pt x="101" y="350"/>
                  <a:pt x="101" y="350"/>
                  <a:pt x="101" y="350"/>
                </a:cubicBezTo>
                <a:cubicBezTo>
                  <a:pt x="106" y="346"/>
                  <a:pt x="111" y="342"/>
                  <a:pt x="115" y="338"/>
                </a:cubicBezTo>
                <a:cubicBezTo>
                  <a:pt x="115" y="338"/>
                  <a:pt x="116" y="338"/>
                  <a:pt x="116" y="338"/>
                </a:cubicBezTo>
                <a:cubicBezTo>
                  <a:pt x="120" y="334"/>
                  <a:pt x="125" y="329"/>
                  <a:pt x="129" y="325"/>
                </a:cubicBezTo>
                <a:cubicBezTo>
                  <a:pt x="129" y="325"/>
                  <a:pt x="130" y="325"/>
                  <a:pt x="130" y="324"/>
                </a:cubicBezTo>
                <a:cubicBezTo>
                  <a:pt x="136" y="319"/>
                  <a:pt x="141" y="312"/>
                  <a:pt x="147" y="306"/>
                </a:cubicBezTo>
                <a:cubicBezTo>
                  <a:pt x="147" y="306"/>
                  <a:pt x="147" y="305"/>
                  <a:pt x="148" y="305"/>
                </a:cubicBezTo>
                <a:cubicBezTo>
                  <a:pt x="153" y="300"/>
                  <a:pt x="158" y="294"/>
                  <a:pt x="162" y="288"/>
                </a:cubicBezTo>
                <a:cubicBezTo>
                  <a:pt x="163" y="287"/>
                  <a:pt x="163" y="287"/>
                  <a:pt x="163" y="287"/>
                </a:cubicBezTo>
                <a:cubicBezTo>
                  <a:pt x="167" y="282"/>
                  <a:pt x="172" y="276"/>
                  <a:pt x="176" y="271"/>
                </a:cubicBezTo>
                <a:cubicBezTo>
                  <a:pt x="176" y="270"/>
                  <a:pt x="176" y="270"/>
                  <a:pt x="176" y="270"/>
                </a:cubicBezTo>
                <a:cubicBezTo>
                  <a:pt x="181" y="264"/>
                  <a:pt x="186" y="257"/>
                  <a:pt x="190" y="251"/>
                </a:cubicBezTo>
                <a:cubicBezTo>
                  <a:pt x="190" y="251"/>
                  <a:pt x="190" y="251"/>
                  <a:pt x="191" y="250"/>
                </a:cubicBezTo>
                <a:cubicBezTo>
                  <a:pt x="207" y="227"/>
                  <a:pt x="223" y="203"/>
                  <a:pt x="239" y="180"/>
                </a:cubicBezTo>
                <a:cubicBezTo>
                  <a:pt x="239" y="180"/>
                  <a:pt x="239" y="180"/>
                  <a:pt x="239" y="180"/>
                </a:cubicBezTo>
                <a:cubicBezTo>
                  <a:pt x="244" y="173"/>
                  <a:pt x="248" y="167"/>
                  <a:pt x="253" y="160"/>
                </a:cubicBezTo>
                <a:cubicBezTo>
                  <a:pt x="253" y="160"/>
                  <a:pt x="253" y="160"/>
                  <a:pt x="253" y="160"/>
                </a:cubicBezTo>
                <a:cubicBezTo>
                  <a:pt x="261" y="149"/>
                  <a:pt x="269" y="138"/>
                  <a:pt x="277" y="128"/>
                </a:cubicBezTo>
                <a:cubicBezTo>
                  <a:pt x="278" y="127"/>
                  <a:pt x="279" y="126"/>
                  <a:pt x="279" y="125"/>
                </a:cubicBezTo>
                <a:cubicBezTo>
                  <a:pt x="280" y="125"/>
                  <a:pt x="280" y="124"/>
                  <a:pt x="280" y="124"/>
                </a:cubicBezTo>
                <a:cubicBezTo>
                  <a:pt x="285" y="118"/>
                  <a:pt x="290" y="113"/>
                  <a:pt x="295" y="107"/>
                </a:cubicBezTo>
                <a:cubicBezTo>
                  <a:pt x="295" y="107"/>
                  <a:pt x="295" y="107"/>
                  <a:pt x="295" y="106"/>
                </a:cubicBezTo>
                <a:cubicBezTo>
                  <a:pt x="304" y="97"/>
                  <a:pt x="313" y="87"/>
                  <a:pt x="322" y="79"/>
                </a:cubicBezTo>
                <a:cubicBezTo>
                  <a:pt x="322" y="79"/>
                  <a:pt x="323" y="79"/>
                  <a:pt x="323" y="79"/>
                </a:cubicBezTo>
                <a:cubicBezTo>
                  <a:pt x="329" y="73"/>
                  <a:pt x="335" y="69"/>
                  <a:pt x="341" y="64"/>
                </a:cubicBezTo>
                <a:cubicBezTo>
                  <a:pt x="341" y="64"/>
                  <a:pt x="342" y="64"/>
                  <a:pt x="342" y="64"/>
                </a:cubicBezTo>
                <a:lnTo>
                  <a:pt x="343" y="63"/>
                </a:lnTo>
                <a:cubicBezTo>
                  <a:pt x="343" y="63"/>
                  <a:pt x="343" y="63"/>
                  <a:pt x="343" y="63"/>
                </a:cubicBezTo>
                <a:cubicBezTo>
                  <a:pt x="344" y="62"/>
                  <a:pt x="345" y="61"/>
                  <a:pt x="346" y="61"/>
                </a:cubicBezTo>
                <a:lnTo>
                  <a:pt x="340" y="45"/>
                </a:lnTo>
                <a:cubicBezTo>
                  <a:pt x="337" y="47"/>
                  <a:pt x="334" y="50"/>
                  <a:pt x="331" y="52"/>
                </a:cubicBezTo>
                <a:cubicBezTo>
                  <a:pt x="331" y="52"/>
                  <a:pt x="331" y="53"/>
                  <a:pt x="331" y="53"/>
                </a:cubicBezTo>
                <a:cubicBezTo>
                  <a:pt x="225" y="140"/>
                  <a:pt x="180" y="283"/>
                  <a:pt x="63" y="361"/>
                </a:cubicBezTo>
                <a:cubicBezTo>
                  <a:pt x="65" y="364"/>
                  <a:pt x="66" y="366"/>
                  <a:pt x="68" y="369"/>
                </a:cubicBezTo>
                <a:lnTo>
                  <a:pt x="68" y="369"/>
                </a:lnTo>
                <a:close/>
              </a:path>
            </a:pathLst>
          </a:custGeom>
          <a:noFill/>
          <a:ln w="1588">
            <a:noFill/>
            <a:prstDash val="solid"/>
          </a:ln>
        </p:spPr>
        <p:txBody>
          <a:bodyPr vert="horz" wrap="square" lIns="91440" tIns="45720" rIns="91440" bIns="45720" anchor="t"/>
          <a:lstStyle/>
          <a:p>
            <a:endParaRPr sz="4267"/>
          </a:p>
        </p:txBody>
      </p:sp>
      <p:sp>
        <p:nvSpPr>
          <p:cNvPr id="16" name="Freeform 12">
            <a:extLst>
              <a:ext uri="{FF2B5EF4-FFF2-40B4-BE49-F238E27FC236}">
                <a16:creationId xmlns:a16="http://schemas.microsoft.com/office/drawing/2014/main" id="{B8CBC970-FC0D-4723-B28A-D212B56428EB}"/>
              </a:ext>
            </a:extLst>
          </p:cNvPr>
          <p:cNvSpPr>
            <a:spLocks noGrp="1"/>
          </p:cNvSpPr>
          <p:nvPr/>
        </p:nvSpPr>
        <p:spPr>
          <a:xfrm>
            <a:off x="10237611" y="450933"/>
            <a:ext cx="438150" cy="514349"/>
          </a:xfrm>
          <a:custGeom>
            <a:avLst/>
            <a:gdLst>
              <a:gd name="T0" fmla="*/ 159 w 404"/>
              <a:gd name="T1" fmla="*/ 338 h 470"/>
              <a:gd name="T2" fmla="*/ 185 w 404"/>
              <a:gd name="T3" fmla="*/ 332 h 470"/>
              <a:gd name="T4" fmla="*/ 193 w 404"/>
              <a:gd name="T5" fmla="*/ 297 h 470"/>
              <a:gd name="T6" fmla="*/ 161 w 404"/>
              <a:gd name="T7" fmla="*/ 281 h 470"/>
              <a:gd name="T8" fmla="*/ 137 w 404"/>
              <a:gd name="T9" fmla="*/ 310 h 470"/>
              <a:gd name="T10" fmla="*/ 83 w 404"/>
              <a:gd name="T11" fmla="*/ 444 h 470"/>
              <a:gd name="T12" fmla="*/ 107 w 404"/>
              <a:gd name="T13" fmla="*/ 433 h 470"/>
              <a:gd name="T14" fmla="*/ 155 w 404"/>
              <a:gd name="T15" fmla="*/ 343 h 470"/>
              <a:gd name="T16" fmla="*/ 84 w 404"/>
              <a:gd name="T17" fmla="*/ 429 h 470"/>
              <a:gd name="T18" fmla="*/ 57 w 404"/>
              <a:gd name="T19" fmla="*/ 416 h 470"/>
              <a:gd name="T20" fmla="*/ 59 w 404"/>
              <a:gd name="T21" fmla="*/ 345 h 470"/>
              <a:gd name="T22" fmla="*/ 83 w 404"/>
              <a:gd name="T23" fmla="*/ 444 h 470"/>
              <a:gd name="T24" fmla="*/ 90 w 404"/>
              <a:gd name="T25" fmla="*/ 448 h 470"/>
              <a:gd name="T26" fmla="*/ 108 w 404"/>
              <a:gd name="T27" fmla="*/ 438 h 470"/>
              <a:gd name="T28" fmla="*/ 115 w 404"/>
              <a:gd name="T29" fmla="*/ 434 h 470"/>
              <a:gd name="T30" fmla="*/ 127 w 404"/>
              <a:gd name="T31" fmla="*/ 424 h 470"/>
              <a:gd name="T32" fmla="*/ 161 w 404"/>
              <a:gd name="T33" fmla="*/ 344 h 470"/>
              <a:gd name="T34" fmla="*/ 280 w 404"/>
              <a:gd name="T35" fmla="*/ 459 h 470"/>
              <a:gd name="T36" fmla="*/ 166 w 404"/>
              <a:gd name="T37" fmla="*/ 345 h 470"/>
              <a:gd name="T38" fmla="*/ 161 w 404"/>
              <a:gd name="T39" fmla="*/ 268 h 470"/>
              <a:gd name="T40" fmla="*/ 166 w 404"/>
              <a:gd name="T41" fmla="*/ 275 h 470"/>
              <a:gd name="T42" fmla="*/ 161 w 404"/>
              <a:gd name="T43" fmla="*/ 268 h 470"/>
              <a:gd name="T44" fmla="*/ 199 w 404"/>
              <a:gd name="T45" fmla="*/ 297 h 470"/>
              <a:gd name="T46" fmla="*/ 331 w 404"/>
              <a:gd name="T47" fmla="*/ 362 h 470"/>
              <a:gd name="T48" fmla="*/ 368 w 404"/>
              <a:gd name="T49" fmla="*/ 285 h 470"/>
              <a:gd name="T50" fmla="*/ 323 w 404"/>
              <a:gd name="T51" fmla="*/ 281 h 470"/>
              <a:gd name="T52" fmla="*/ 368 w 404"/>
              <a:gd name="T53" fmla="*/ 279 h 470"/>
              <a:gd name="T54" fmla="*/ 377 w 404"/>
              <a:gd name="T55" fmla="*/ 243 h 470"/>
              <a:gd name="T56" fmla="*/ 345 w 404"/>
              <a:gd name="T57" fmla="*/ 219 h 470"/>
              <a:gd name="T58" fmla="*/ 347 w 404"/>
              <a:gd name="T59" fmla="*/ 245 h 470"/>
              <a:gd name="T60" fmla="*/ 383 w 404"/>
              <a:gd name="T61" fmla="*/ 239 h 470"/>
              <a:gd name="T62" fmla="*/ 367 w 404"/>
              <a:gd name="T63" fmla="*/ 129 h 470"/>
              <a:gd name="T64" fmla="*/ 182 w 404"/>
              <a:gd name="T65" fmla="*/ 233 h 470"/>
              <a:gd name="T66" fmla="*/ 175 w 404"/>
              <a:gd name="T67" fmla="*/ 239 h 470"/>
              <a:gd name="T68" fmla="*/ 170 w 404"/>
              <a:gd name="T69" fmla="*/ 234 h 470"/>
              <a:gd name="T70" fmla="*/ 187 w 404"/>
              <a:gd name="T71" fmla="*/ 282 h 470"/>
              <a:gd name="T72" fmla="*/ 174 w 404"/>
              <a:gd name="T73" fmla="*/ 239 h 470"/>
              <a:gd name="T74" fmla="*/ 273 w 404"/>
              <a:gd name="T75" fmla="*/ 38 h 470"/>
              <a:gd name="T76" fmla="*/ 262 w 404"/>
              <a:gd name="T77" fmla="*/ 38 h 470"/>
              <a:gd name="T78" fmla="*/ 273 w 404"/>
              <a:gd name="T79" fmla="*/ 38 h 470"/>
              <a:gd name="T80" fmla="*/ 282 w 404"/>
              <a:gd name="T81" fmla="*/ 26 h 470"/>
              <a:gd name="T82" fmla="*/ 288 w 404"/>
              <a:gd name="T83" fmla="*/ 20 h 470"/>
              <a:gd name="T84" fmla="*/ 258 w 404"/>
              <a:gd name="T85" fmla="*/ 56 h 470"/>
              <a:gd name="T86" fmla="*/ 254 w 404"/>
              <a:gd name="T87" fmla="*/ 52 h 470"/>
              <a:gd name="T88" fmla="*/ 98 w 404"/>
              <a:gd name="T89" fmla="*/ 6 h 470"/>
              <a:gd name="T90" fmla="*/ 87 w 404"/>
              <a:gd name="T91" fmla="*/ 6 h 470"/>
              <a:gd name="T92" fmla="*/ 98 w 404"/>
              <a:gd name="T93" fmla="*/ 6 h 470"/>
            </a:gdLst>
            <a:ahLst/>
            <a:cxnLst/>
            <a:rect l="0" t="0" r="r" b="b"/>
            <a:pathLst>
              <a:path w="404" h="470">
                <a:moveTo>
                  <a:pt x="159" y="338"/>
                </a:moveTo>
                <a:lnTo>
                  <a:pt x="159" y="338"/>
                </a:lnTo>
                <a:cubicBezTo>
                  <a:pt x="159" y="338"/>
                  <a:pt x="159" y="338"/>
                  <a:pt x="159" y="338"/>
                </a:cubicBezTo>
                <a:cubicBezTo>
                  <a:pt x="161" y="339"/>
                  <a:pt x="164" y="339"/>
                  <a:pt x="166" y="339"/>
                </a:cubicBezTo>
                <a:cubicBezTo>
                  <a:pt x="173" y="339"/>
                  <a:pt x="180" y="337"/>
                  <a:pt x="185" y="332"/>
                </a:cubicBezTo>
                <a:cubicBezTo>
                  <a:pt x="185" y="332"/>
                  <a:pt x="185" y="332"/>
                  <a:pt x="185" y="332"/>
                </a:cubicBezTo>
                <a:cubicBezTo>
                  <a:pt x="192" y="327"/>
                  <a:pt x="196" y="319"/>
                  <a:pt x="196" y="310"/>
                </a:cubicBezTo>
                <a:cubicBezTo>
                  <a:pt x="196" y="305"/>
                  <a:pt x="195" y="301"/>
                  <a:pt x="193" y="298"/>
                </a:cubicBezTo>
                <a:cubicBezTo>
                  <a:pt x="193" y="297"/>
                  <a:pt x="193" y="297"/>
                  <a:pt x="193" y="297"/>
                </a:cubicBezTo>
                <a:cubicBezTo>
                  <a:pt x="188" y="287"/>
                  <a:pt x="178" y="281"/>
                  <a:pt x="166" y="281"/>
                </a:cubicBezTo>
                <a:cubicBezTo>
                  <a:pt x="165" y="281"/>
                  <a:pt x="163" y="281"/>
                  <a:pt x="162" y="281"/>
                </a:cubicBezTo>
                <a:lnTo>
                  <a:pt x="161" y="281"/>
                </a:lnTo>
                <a:cubicBezTo>
                  <a:pt x="156" y="282"/>
                  <a:pt x="151" y="284"/>
                  <a:pt x="147" y="288"/>
                </a:cubicBezTo>
                <a:lnTo>
                  <a:pt x="147" y="288"/>
                </a:lnTo>
                <a:cubicBezTo>
                  <a:pt x="141" y="293"/>
                  <a:pt x="137" y="301"/>
                  <a:pt x="137" y="310"/>
                </a:cubicBezTo>
                <a:cubicBezTo>
                  <a:pt x="137" y="323"/>
                  <a:pt x="146" y="335"/>
                  <a:pt x="159" y="338"/>
                </a:cubicBezTo>
                <a:lnTo>
                  <a:pt x="159" y="338"/>
                </a:lnTo>
                <a:close/>
                <a:moveTo>
                  <a:pt x="83" y="444"/>
                </a:moveTo>
                <a:lnTo>
                  <a:pt x="83" y="444"/>
                </a:lnTo>
                <a:cubicBezTo>
                  <a:pt x="91" y="441"/>
                  <a:pt x="99" y="438"/>
                  <a:pt x="106" y="433"/>
                </a:cubicBezTo>
                <a:cubicBezTo>
                  <a:pt x="106" y="433"/>
                  <a:pt x="106" y="433"/>
                  <a:pt x="107" y="433"/>
                </a:cubicBezTo>
                <a:cubicBezTo>
                  <a:pt x="113" y="429"/>
                  <a:pt x="119" y="424"/>
                  <a:pt x="124" y="419"/>
                </a:cubicBezTo>
                <a:cubicBezTo>
                  <a:pt x="124" y="419"/>
                  <a:pt x="124" y="419"/>
                  <a:pt x="124" y="419"/>
                </a:cubicBezTo>
                <a:cubicBezTo>
                  <a:pt x="149" y="394"/>
                  <a:pt x="156" y="361"/>
                  <a:pt x="155" y="343"/>
                </a:cubicBezTo>
                <a:cubicBezTo>
                  <a:pt x="150" y="341"/>
                  <a:pt x="144" y="338"/>
                  <a:pt x="140" y="333"/>
                </a:cubicBezTo>
                <a:cubicBezTo>
                  <a:pt x="143" y="366"/>
                  <a:pt x="133" y="405"/>
                  <a:pt x="86" y="429"/>
                </a:cubicBezTo>
                <a:cubicBezTo>
                  <a:pt x="85" y="429"/>
                  <a:pt x="85" y="429"/>
                  <a:pt x="84" y="429"/>
                </a:cubicBezTo>
                <a:cubicBezTo>
                  <a:pt x="84" y="429"/>
                  <a:pt x="83" y="429"/>
                  <a:pt x="83" y="429"/>
                </a:cubicBezTo>
                <a:cubicBezTo>
                  <a:pt x="75" y="426"/>
                  <a:pt x="66" y="422"/>
                  <a:pt x="59" y="417"/>
                </a:cubicBezTo>
                <a:cubicBezTo>
                  <a:pt x="58" y="416"/>
                  <a:pt x="58" y="416"/>
                  <a:pt x="57" y="416"/>
                </a:cubicBezTo>
                <a:cubicBezTo>
                  <a:pt x="51" y="411"/>
                  <a:pt x="45" y="405"/>
                  <a:pt x="41" y="398"/>
                </a:cubicBezTo>
                <a:cubicBezTo>
                  <a:pt x="41" y="397"/>
                  <a:pt x="41" y="397"/>
                  <a:pt x="40" y="397"/>
                </a:cubicBezTo>
                <a:cubicBezTo>
                  <a:pt x="31" y="381"/>
                  <a:pt x="33" y="361"/>
                  <a:pt x="59" y="345"/>
                </a:cubicBezTo>
                <a:cubicBezTo>
                  <a:pt x="58" y="341"/>
                  <a:pt x="56" y="337"/>
                  <a:pt x="54" y="333"/>
                </a:cubicBezTo>
                <a:cubicBezTo>
                  <a:pt x="0" y="370"/>
                  <a:pt x="22" y="416"/>
                  <a:pt x="83" y="444"/>
                </a:cubicBezTo>
                <a:lnTo>
                  <a:pt x="83" y="444"/>
                </a:lnTo>
                <a:close/>
                <a:moveTo>
                  <a:pt x="108" y="438"/>
                </a:moveTo>
                <a:lnTo>
                  <a:pt x="108" y="438"/>
                </a:lnTo>
                <a:cubicBezTo>
                  <a:pt x="103" y="442"/>
                  <a:pt x="97" y="445"/>
                  <a:pt x="90" y="448"/>
                </a:cubicBezTo>
                <a:cubicBezTo>
                  <a:pt x="122" y="461"/>
                  <a:pt x="164" y="470"/>
                  <a:pt x="208" y="469"/>
                </a:cubicBezTo>
                <a:cubicBezTo>
                  <a:pt x="182" y="459"/>
                  <a:pt x="133" y="443"/>
                  <a:pt x="108" y="438"/>
                </a:cubicBezTo>
                <a:lnTo>
                  <a:pt x="108" y="438"/>
                </a:lnTo>
                <a:close/>
                <a:moveTo>
                  <a:pt x="127" y="424"/>
                </a:moveTo>
                <a:lnTo>
                  <a:pt x="127" y="424"/>
                </a:lnTo>
                <a:cubicBezTo>
                  <a:pt x="123" y="428"/>
                  <a:pt x="119" y="431"/>
                  <a:pt x="115" y="434"/>
                </a:cubicBezTo>
                <a:cubicBezTo>
                  <a:pt x="146" y="441"/>
                  <a:pt x="202" y="459"/>
                  <a:pt x="222" y="468"/>
                </a:cubicBezTo>
                <a:cubicBezTo>
                  <a:pt x="234" y="468"/>
                  <a:pt x="246" y="466"/>
                  <a:pt x="258" y="464"/>
                </a:cubicBezTo>
                <a:cubicBezTo>
                  <a:pt x="224" y="453"/>
                  <a:pt x="157" y="432"/>
                  <a:pt x="127" y="424"/>
                </a:cubicBezTo>
                <a:lnTo>
                  <a:pt x="127" y="424"/>
                </a:lnTo>
                <a:close/>
                <a:moveTo>
                  <a:pt x="161" y="344"/>
                </a:moveTo>
                <a:lnTo>
                  <a:pt x="161" y="344"/>
                </a:lnTo>
                <a:cubicBezTo>
                  <a:pt x="161" y="363"/>
                  <a:pt x="154" y="395"/>
                  <a:pt x="131" y="420"/>
                </a:cubicBezTo>
                <a:cubicBezTo>
                  <a:pt x="166" y="428"/>
                  <a:pt x="241" y="452"/>
                  <a:pt x="269" y="462"/>
                </a:cubicBezTo>
                <a:cubicBezTo>
                  <a:pt x="273" y="461"/>
                  <a:pt x="277" y="460"/>
                  <a:pt x="280" y="459"/>
                </a:cubicBezTo>
                <a:cubicBezTo>
                  <a:pt x="276" y="437"/>
                  <a:pt x="276" y="405"/>
                  <a:pt x="287" y="370"/>
                </a:cubicBezTo>
                <a:cubicBezTo>
                  <a:pt x="256" y="368"/>
                  <a:pt x="220" y="358"/>
                  <a:pt x="187" y="338"/>
                </a:cubicBezTo>
                <a:cubicBezTo>
                  <a:pt x="181" y="342"/>
                  <a:pt x="174" y="345"/>
                  <a:pt x="166" y="345"/>
                </a:cubicBezTo>
                <a:cubicBezTo>
                  <a:pt x="164" y="345"/>
                  <a:pt x="163" y="345"/>
                  <a:pt x="161" y="344"/>
                </a:cubicBezTo>
                <a:lnTo>
                  <a:pt x="161" y="344"/>
                </a:lnTo>
                <a:close/>
                <a:moveTo>
                  <a:pt x="161" y="268"/>
                </a:moveTo>
                <a:lnTo>
                  <a:pt x="161" y="268"/>
                </a:lnTo>
                <a:cubicBezTo>
                  <a:pt x="161" y="271"/>
                  <a:pt x="162" y="273"/>
                  <a:pt x="163" y="275"/>
                </a:cubicBezTo>
                <a:cubicBezTo>
                  <a:pt x="164" y="275"/>
                  <a:pt x="165" y="275"/>
                  <a:pt x="166" y="275"/>
                </a:cubicBezTo>
                <a:cubicBezTo>
                  <a:pt x="172" y="275"/>
                  <a:pt x="177" y="276"/>
                  <a:pt x="182" y="279"/>
                </a:cubicBezTo>
                <a:cubicBezTo>
                  <a:pt x="185" y="263"/>
                  <a:pt x="170" y="257"/>
                  <a:pt x="161" y="268"/>
                </a:cubicBezTo>
                <a:lnTo>
                  <a:pt x="161" y="268"/>
                </a:lnTo>
                <a:close/>
                <a:moveTo>
                  <a:pt x="181" y="240"/>
                </a:moveTo>
                <a:lnTo>
                  <a:pt x="181" y="240"/>
                </a:lnTo>
                <a:cubicBezTo>
                  <a:pt x="206" y="246"/>
                  <a:pt x="214" y="278"/>
                  <a:pt x="199" y="297"/>
                </a:cubicBezTo>
                <a:cubicBezTo>
                  <a:pt x="200" y="301"/>
                  <a:pt x="201" y="305"/>
                  <a:pt x="201" y="310"/>
                </a:cubicBezTo>
                <a:cubicBezTo>
                  <a:pt x="201" y="319"/>
                  <a:pt x="197" y="328"/>
                  <a:pt x="191" y="334"/>
                </a:cubicBezTo>
                <a:cubicBezTo>
                  <a:pt x="240" y="364"/>
                  <a:pt x="295" y="369"/>
                  <a:pt x="331" y="362"/>
                </a:cubicBezTo>
                <a:cubicBezTo>
                  <a:pt x="369" y="354"/>
                  <a:pt x="382" y="333"/>
                  <a:pt x="359" y="312"/>
                </a:cubicBezTo>
                <a:cubicBezTo>
                  <a:pt x="354" y="308"/>
                  <a:pt x="366" y="297"/>
                  <a:pt x="374" y="296"/>
                </a:cubicBezTo>
                <a:cubicBezTo>
                  <a:pt x="375" y="291"/>
                  <a:pt x="373" y="287"/>
                  <a:pt x="368" y="285"/>
                </a:cubicBezTo>
                <a:cubicBezTo>
                  <a:pt x="357" y="284"/>
                  <a:pt x="338" y="290"/>
                  <a:pt x="325" y="293"/>
                </a:cubicBezTo>
                <a:cubicBezTo>
                  <a:pt x="325" y="295"/>
                  <a:pt x="321" y="296"/>
                  <a:pt x="320" y="293"/>
                </a:cubicBezTo>
                <a:cubicBezTo>
                  <a:pt x="319" y="289"/>
                  <a:pt x="322" y="283"/>
                  <a:pt x="323" y="281"/>
                </a:cubicBezTo>
                <a:cubicBezTo>
                  <a:pt x="325" y="277"/>
                  <a:pt x="329" y="280"/>
                  <a:pt x="328" y="283"/>
                </a:cubicBezTo>
                <a:cubicBezTo>
                  <a:pt x="327" y="284"/>
                  <a:pt x="327" y="285"/>
                  <a:pt x="326" y="287"/>
                </a:cubicBezTo>
                <a:cubicBezTo>
                  <a:pt x="339" y="284"/>
                  <a:pt x="356" y="278"/>
                  <a:pt x="368" y="279"/>
                </a:cubicBezTo>
                <a:cubicBezTo>
                  <a:pt x="371" y="277"/>
                  <a:pt x="379" y="271"/>
                  <a:pt x="378" y="267"/>
                </a:cubicBezTo>
                <a:cubicBezTo>
                  <a:pt x="377" y="266"/>
                  <a:pt x="376" y="265"/>
                  <a:pt x="375" y="263"/>
                </a:cubicBezTo>
                <a:cubicBezTo>
                  <a:pt x="369" y="255"/>
                  <a:pt x="371" y="249"/>
                  <a:pt x="377" y="243"/>
                </a:cubicBezTo>
                <a:cubicBezTo>
                  <a:pt x="367" y="242"/>
                  <a:pt x="355" y="243"/>
                  <a:pt x="349" y="250"/>
                </a:cubicBezTo>
                <a:cubicBezTo>
                  <a:pt x="345" y="255"/>
                  <a:pt x="338" y="243"/>
                  <a:pt x="338" y="242"/>
                </a:cubicBezTo>
                <a:cubicBezTo>
                  <a:pt x="335" y="236"/>
                  <a:pt x="335" y="228"/>
                  <a:pt x="345" y="219"/>
                </a:cubicBezTo>
                <a:cubicBezTo>
                  <a:pt x="347" y="216"/>
                  <a:pt x="351" y="221"/>
                  <a:pt x="349" y="223"/>
                </a:cubicBezTo>
                <a:cubicBezTo>
                  <a:pt x="341" y="230"/>
                  <a:pt x="339" y="237"/>
                  <a:pt x="346" y="244"/>
                </a:cubicBezTo>
                <a:lnTo>
                  <a:pt x="347" y="245"/>
                </a:lnTo>
                <a:cubicBezTo>
                  <a:pt x="357" y="237"/>
                  <a:pt x="371" y="236"/>
                  <a:pt x="383" y="239"/>
                </a:cubicBezTo>
                <a:lnTo>
                  <a:pt x="383" y="239"/>
                </a:lnTo>
                <a:lnTo>
                  <a:pt x="383" y="239"/>
                </a:lnTo>
                <a:cubicBezTo>
                  <a:pt x="404" y="237"/>
                  <a:pt x="403" y="229"/>
                  <a:pt x="397" y="213"/>
                </a:cubicBezTo>
                <a:cubicBezTo>
                  <a:pt x="395" y="207"/>
                  <a:pt x="392" y="200"/>
                  <a:pt x="389" y="191"/>
                </a:cubicBezTo>
                <a:cubicBezTo>
                  <a:pt x="384" y="180"/>
                  <a:pt x="376" y="155"/>
                  <a:pt x="367" y="129"/>
                </a:cubicBezTo>
                <a:cubicBezTo>
                  <a:pt x="343" y="119"/>
                  <a:pt x="308" y="125"/>
                  <a:pt x="282" y="137"/>
                </a:cubicBezTo>
                <a:cubicBezTo>
                  <a:pt x="275" y="147"/>
                  <a:pt x="266" y="156"/>
                  <a:pt x="252" y="165"/>
                </a:cubicBezTo>
                <a:cubicBezTo>
                  <a:pt x="246" y="202"/>
                  <a:pt x="216" y="229"/>
                  <a:pt x="182" y="233"/>
                </a:cubicBezTo>
                <a:lnTo>
                  <a:pt x="181" y="240"/>
                </a:lnTo>
                <a:lnTo>
                  <a:pt x="181" y="240"/>
                </a:lnTo>
                <a:close/>
                <a:moveTo>
                  <a:pt x="175" y="239"/>
                </a:moveTo>
                <a:lnTo>
                  <a:pt x="175" y="239"/>
                </a:lnTo>
                <a:lnTo>
                  <a:pt x="176" y="234"/>
                </a:lnTo>
                <a:cubicBezTo>
                  <a:pt x="174" y="234"/>
                  <a:pt x="172" y="234"/>
                  <a:pt x="170" y="234"/>
                </a:cubicBezTo>
                <a:cubicBezTo>
                  <a:pt x="166" y="239"/>
                  <a:pt x="162" y="244"/>
                  <a:pt x="158" y="249"/>
                </a:cubicBezTo>
                <a:cubicBezTo>
                  <a:pt x="158" y="253"/>
                  <a:pt x="158" y="258"/>
                  <a:pt x="159" y="261"/>
                </a:cubicBezTo>
                <a:cubicBezTo>
                  <a:pt x="171" y="252"/>
                  <a:pt x="194" y="258"/>
                  <a:pt x="187" y="282"/>
                </a:cubicBezTo>
                <a:cubicBezTo>
                  <a:pt x="190" y="284"/>
                  <a:pt x="193" y="287"/>
                  <a:pt x="196" y="291"/>
                </a:cubicBezTo>
                <a:cubicBezTo>
                  <a:pt x="208" y="274"/>
                  <a:pt x="198" y="245"/>
                  <a:pt x="173" y="245"/>
                </a:cubicBezTo>
                <a:cubicBezTo>
                  <a:pt x="170" y="244"/>
                  <a:pt x="170" y="239"/>
                  <a:pt x="174" y="239"/>
                </a:cubicBezTo>
                <a:cubicBezTo>
                  <a:pt x="174" y="239"/>
                  <a:pt x="175" y="239"/>
                  <a:pt x="175" y="239"/>
                </a:cubicBezTo>
                <a:lnTo>
                  <a:pt x="175" y="239"/>
                </a:lnTo>
                <a:close/>
                <a:moveTo>
                  <a:pt x="273" y="38"/>
                </a:moveTo>
                <a:lnTo>
                  <a:pt x="273" y="38"/>
                </a:lnTo>
                <a:cubicBezTo>
                  <a:pt x="273" y="41"/>
                  <a:pt x="270" y="43"/>
                  <a:pt x="268" y="43"/>
                </a:cubicBezTo>
                <a:cubicBezTo>
                  <a:pt x="265" y="43"/>
                  <a:pt x="262" y="41"/>
                  <a:pt x="262" y="38"/>
                </a:cubicBezTo>
                <a:cubicBezTo>
                  <a:pt x="262" y="35"/>
                  <a:pt x="265" y="33"/>
                  <a:pt x="268" y="33"/>
                </a:cubicBezTo>
                <a:cubicBezTo>
                  <a:pt x="270" y="33"/>
                  <a:pt x="273" y="35"/>
                  <a:pt x="273" y="38"/>
                </a:cubicBezTo>
                <a:lnTo>
                  <a:pt x="273" y="38"/>
                </a:lnTo>
                <a:close/>
                <a:moveTo>
                  <a:pt x="288" y="20"/>
                </a:moveTo>
                <a:lnTo>
                  <a:pt x="288" y="20"/>
                </a:lnTo>
                <a:cubicBezTo>
                  <a:pt x="288" y="24"/>
                  <a:pt x="285" y="26"/>
                  <a:pt x="282" y="26"/>
                </a:cubicBezTo>
                <a:cubicBezTo>
                  <a:pt x="279" y="26"/>
                  <a:pt x="276" y="24"/>
                  <a:pt x="276" y="20"/>
                </a:cubicBezTo>
                <a:cubicBezTo>
                  <a:pt x="276" y="17"/>
                  <a:pt x="279" y="15"/>
                  <a:pt x="282" y="15"/>
                </a:cubicBezTo>
                <a:cubicBezTo>
                  <a:pt x="285" y="15"/>
                  <a:pt x="288" y="17"/>
                  <a:pt x="288" y="20"/>
                </a:cubicBezTo>
                <a:lnTo>
                  <a:pt x="288" y="20"/>
                </a:lnTo>
                <a:close/>
                <a:moveTo>
                  <a:pt x="258" y="56"/>
                </a:moveTo>
                <a:lnTo>
                  <a:pt x="258" y="56"/>
                </a:lnTo>
                <a:cubicBezTo>
                  <a:pt x="258" y="59"/>
                  <a:pt x="256" y="61"/>
                  <a:pt x="254" y="61"/>
                </a:cubicBezTo>
                <a:cubicBezTo>
                  <a:pt x="251" y="61"/>
                  <a:pt x="249" y="59"/>
                  <a:pt x="249" y="56"/>
                </a:cubicBezTo>
                <a:cubicBezTo>
                  <a:pt x="249" y="54"/>
                  <a:pt x="251" y="52"/>
                  <a:pt x="254" y="52"/>
                </a:cubicBezTo>
                <a:cubicBezTo>
                  <a:pt x="256" y="52"/>
                  <a:pt x="258" y="54"/>
                  <a:pt x="258" y="56"/>
                </a:cubicBezTo>
                <a:lnTo>
                  <a:pt x="258" y="56"/>
                </a:lnTo>
                <a:close/>
                <a:moveTo>
                  <a:pt x="98" y="6"/>
                </a:moveTo>
                <a:lnTo>
                  <a:pt x="98" y="6"/>
                </a:lnTo>
                <a:cubicBezTo>
                  <a:pt x="98" y="9"/>
                  <a:pt x="95" y="12"/>
                  <a:pt x="92" y="12"/>
                </a:cubicBezTo>
                <a:cubicBezTo>
                  <a:pt x="89" y="12"/>
                  <a:pt x="87" y="9"/>
                  <a:pt x="87" y="6"/>
                </a:cubicBezTo>
                <a:cubicBezTo>
                  <a:pt x="87" y="3"/>
                  <a:pt x="89" y="0"/>
                  <a:pt x="92" y="0"/>
                </a:cubicBezTo>
                <a:cubicBezTo>
                  <a:pt x="95" y="0"/>
                  <a:pt x="98" y="3"/>
                  <a:pt x="98" y="6"/>
                </a:cubicBezTo>
                <a:lnTo>
                  <a:pt x="98" y="6"/>
                </a:lnTo>
                <a:close/>
              </a:path>
            </a:pathLst>
          </a:custGeom>
          <a:noFill/>
          <a:ln w="1588">
            <a:noFill/>
            <a:prstDash val="solid"/>
          </a:ln>
        </p:spPr>
        <p:txBody>
          <a:bodyPr vert="horz" wrap="square" lIns="91440" tIns="45720" rIns="91440" bIns="45720" anchor="t"/>
          <a:lstStyle/>
          <a:p>
            <a:endParaRPr sz="4267"/>
          </a:p>
        </p:txBody>
      </p:sp>
      <p:sp>
        <p:nvSpPr>
          <p:cNvPr id="17" name="Freeform 13">
            <a:extLst>
              <a:ext uri="{FF2B5EF4-FFF2-40B4-BE49-F238E27FC236}">
                <a16:creationId xmlns:a16="http://schemas.microsoft.com/office/drawing/2014/main" id="{4638EAF1-DC81-698A-E2F9-ED824E3D31DD}"/>
              </a:ext>
            </a:extLst>
          </p:cNvPr>
          <p:cNvSpPr>
            <a:spLocks noGrp="1"/>
          </p:cNvSpPr>
          <p:nvPr/>
        </p:nvSpPr>
        <p:spPr>
          <a:xfrm>
            <a:off x="10400594" y="613915"/>
            <a:ext cx="251884" cy="194733"/>
          </a:xfrm>
          <a:custGeom>
            <a:avLst/>
            <a:gdLst>
              <a:gd name="T0" fmla="*/ 15 w 232"/>
              <a:gd name="T1" fmla="*/ 172 h 178"/>
              <a:gd name="T2" fmla="*/ 15 w 232"/>
              <a:gd name="T3" fmla="*/ 172 h 178"/>
              <a:gd name="T4" fmla="*/ 25 w 232"/>
              <a:gd name="T5" fmla="*/ 162 h 178"/>
              <a:gd name="T6" fmla="*/ 15 w 232"/>
              <a:gd name="T7" fmla="*/ 152 h 178"/>
              <a:gd name="T8" fmla="*/ 5 w 232"/>
              <a:gd name="T9" fmla="*/ 162 h 178"/>
              <a:gd name="T10" fmla="*/ 15 w 232"/>
              <a:gd name="T11" fmla="*/ 172 h 178"/>
              <a:gd name="T12" fmla="*/ 15 w 232"/>
              <a:gd name="T13" fmla="*/ 172 h 178"/>
              <a:gd name="T14" fmla="*/ 15 w 232"/>
              <a:gd name="T15" fmla="*/ 178 h 178"/>
              <a:gd name="T16" fmla="*/ 15 w 232"/>
              <a:gd name="T17" fmla="*/ 178 h 178"/>
              <a:gd name="T18" fmla="*/ 0 w 232"/>
              <a:gd name="T19" fmla="*/ 162 h 178"/>
              <a:gd name="T20" fmla="*/ 15 w 232"/>
              <a:gd name="T21" fmla="*/ 146 h 178"/>
              <a:gd name="T22" fmla="*/ 31 w 232"/>
              <a:gd name="T23" fmla="*/ 162 h 178"/>
              <a:gd name="T24" fmla="*/ 15 w 232"/>
              <a:gd name="T25" fmla="*/ 178 h 178"/>
              <a:gd name="T26" fmla="*/ 15 w 232"/>
              <a:gd name="T27" fmla="*/ 178 h 178"/>
              <a:gd name="T28" fmla="*/ 232 w 232"/>
              <a:gd name="T29" fmla="*/ 91 h 178"/>
              <a:gd name="T30" fmla="*/ 232 w 232"/>
              <a:gd name="T31" fmla="*/ 91 h 178"/>
              <a:gd name="T32" fmla="*/ 232 w 232"/>
              <a:gd name="T33" fmla="*/ 91 h 178"/>
              <a:gd name="T34" fmla="*/ 232 w 232"/>
              <a:gd name="T35" fmla="*/ 91 h 178"/>
              <a:gd name="T36" fmla="*/ 232 w 232"/>
              <a:gd name="T37" fmla="*/ 91 h 178"/>
              <a:gd name="T38" fmla="*/ 232 w 232"/>
              <a:gd name="T39" fmla="*/ 91 h 178"/>
              <a:gd name="T40" fmla="*/ 149 w 232"/>
              <a:gd name="T41" fmla="*/ 27 h 178"/>
              <a:gd name="T42" fmla="*/ 149 w 232"/>
              <a:gd name="T43" fmla="*/ 27 h 178"/>
              <a:gd name="T44" fmla="*/ 147 w 232"/>
              <a:gd name="T45" fmla="*/ 11 h 178"/>
              <a:gd name="T46" fmla="*/ 124 w 232"/>
              <a:gd name="T47" fmla="*/ 23 h 178"/>
              <a:gd name="T48" fmla="*/ 135 w 232"/>
              <a:gd name="T49" fmla="*/ 26 h 178"/>
              <a:gd name="T50" fmla="*/ 149 w 232"/>
              <a:gd name="T51" fmla="*/ 27 h 178"/>
              <a:gd name="T52" fmla="*/ 149 w 232"/>
              <a:gd name="T53" fmla="*/ 27 h 178"/>
              <a:gd name="T54" fmla="*/ 153 w 232"/>
              <a:gd name="T55" fmla="*/ 9 h 178"/>
              <a:gd name="T56" fmla="*/ 153 w 232"/>
              <a:gd name="T57" fmla="*/ 9 h 178"/>
              <a:gd name="T58" fmla="*/ 155 w 232"/>
              <a:gd name="T59" fmla="*/ 28 h 178"/>
              <a:gd name="T60" fmla="*/ 166 w 232"/>
              <a:gd name="T61" fmla="*/ 27 h 178"/>
              <a:gd name="T62" fmla="*/ 163 w 232"/>
              <a:gd name="T63" fmla="*/ 17 h 178"/>
              <a:gd name="T64" fmla="*/ 164 w 232"/>
              <a:gd name="T65" fmla="*/ 7 h 178"/>
              <a:gd name="T66" fmla="*/ 153 w 232"/>
              <a:gd name="T67" fmla="*/ 9 h 178"/>
              <a:gd name="T68" fmla="*/ 153 w 232"/>
              <a:gd name="T69" fmla="*/ 9 h 178"/>
              <a:gd name="T70" fmla="*/ 177 w 232"/>
              <a:gd name="T71" fmla="*/ 1 h 178"/>
              <a:gd name="T72" fmla="*/ 177 w 232"/>
              <a:gd name="T73" fmla="*/ 1 h 178"/>
              <a:gd name="T74" fmla="*/ 187 w 232"/>
              <a:gd name="T75" fmla="*/ 1 h 178"/>
              <a:gd name="T76" fmla="*/ 190 w 232"/>
              <a:gd name="T77" fmla="*/ 4 h 178"/>
              <a:gd name="T78" fmla="*/ 182 w 232"/>
              <a:gd name="T79" fmla="*/ 10 h 178"/>
              <a:gd name="T80" fmla="*/ 183 w 232"/>
              <a:gd name="T81" fmla="*/ 15 h 178"/>
              <a:gd name="T82" fmla="*/ 175 w 232"/>
              <a:gd name="T83" fmla="*/ 32 h 178"/>
              <a:gd name="T84" fmla="*/ 175 w 232"/>
              <a:gd name="T85" fmla="*/ 32 h 178"/>
              <a:gd name="T86" fmla="*/ 154 w 232"/>
              <a:gd name="T87" fmla="*/ 33 h 178"/>
              <a:gd name="T88" fmla="*/ 152 w 232"/>
              <a:gd name="T89" fmla="*/ 33 h 178"/>
              <a:gd name="T90" fmla="*/ 119 w 232"/>
              <a:gd name="T91" fmla="*/ 27 h 178"/>
              <a:gd name="T92" fmla="*/ 119 w 232"/>
              <a:gd name="T93" fmla="*/ 27 h 178"/>
              <a:gd name="T94" fmla="*/ 114 w 232"/>
              <a:gd name="T95" fmla="*/ 24 h 178"/>
              <a:gd name="T96" fmla="*/ 116 w 232"/>
              <a:gd name="T97" fmla="*/ 22 h 178"/>
              <a:gd name="T98" fmla="*/ 117 w 232"/>
              <a:gd name="T99" fmla="*/ 21 h 178"/>
              <a:gd name="T100" fmla="*/ 177 w 232"/>
              <a:gd name="T101" fmla="*/ 1 h 178"/>
              <a:gd name="T102" fmla="*/ 177 w 232"/>
              <a:gd name="T103" fmla="*/ 1 h 178"/>
            </a:gdLst>
            <a:ahLst/>
            <a:cxnLst/>
            <a:rect l="0" t="0" r="r" b="b"/>
            <a:pathLst>
              <a:path w="232" h="178">
                <a:moveTo>
                  <a:pt x="15" y="172"/>
                </a:moveTo>
                <a:lnTo>
                  <a:pt x="15" y="172"/>
                </a:lnTo>
                <a:cubicBezTo>
                  <a:pt x="21" y="172"/>
                  <a:pt x="25" y="167"/>
                  <a:pt x="25" y="162"/>
                </a:cubicBezTo>
                <a:cubicBezTo>
                  <a:pt x="25" y="156"/>
                  <a:pt x="21" y="152"/>
                  <a:pt x="15" y="152"/>
                </a:cubicBezTo>
                <a:cubicBezTo>
                  <a:pt x="10" y="152"/>
                  <a:pt x="5" y="156"/>
                  <a:pt x="5" y="162"/>
                </a:cubicBezTo>
                <a:cubicBezTo>
                  <a:pt x="5" y="167"/>
                  <a:pt x="10" y="172"/>
                  <a:pt x="15" y="172"/>
                </a:cubicBezTo>
                <a:lnTo>
                  <a:pt x="15" y="172"/>
                </a:lnTo>
                <a:close/>
                <a:moveTo>
                  <a:pt x="15" y="178"/>
                </a:moveTo>
                <a:lnTo>
                  <a:pt x="15" y="178"/>
                </a:lnTo>
                <a:cubicBezTo>
                  <a:pt x="7" y="178"/>
                  <a:pt x="0" y="170"/>
                  <a:pt x="0" y="162"/>
                </a:cubicBezTo>
                <a:cubicBezTo>
                  <a:pt x="0" y="153"/>
                  <a:pt x="7" y="146"/>
                  <a:pt x="15" y="146"/>
                </a:cubicBezTo>
                <a:cubicBezTo>
                  <a:pt x="24" y="146"/>
                  <a:pt x="31" y="153"/>
                  <a:pt x="31" y="162"/>
                </a:cubicBezTo>
                <a:cubicBezTo>
                  <a:pt x="31" y="170"/>
                  <a:pt x="24" y="178"/>
                  <a:pt x="15" y="178"/>
                </a:cubicBezTo>
                <a:lnTo>
                  <a:pt x="15" y="178"/>
                </a:lnTo>
                <a:close/>
                <a:moveTo>
                  <a:pt x="232" y="91"/>
                </a:moveTo>
                <a:lnTo>
                  <a:pt x="232" y="91"/>
                </a:lnTo>
                <a:cubicBezTo>
                  <a:pt x="232" y="91"/>
                  <a:pt x="232" y="91"/>
                  <a:pt x="232" y="91"/>
                </a:cubicBezTo>
                <a:lnTo>
                  <a:pt x="232" y="91"/>
                </a:lnTo>
                <a:lnTo>
                  <a:pt x="232" y="91"/>
                </a:lnTo>
                <a:lnTo>
                  <a:pt x="232" y="91"/>
                </a:lnTo>
                <a:close/>
                <a:moveTo>
                  <a:pt x="149" y="27"/>
                </a:moveTo>
                <a:lnTo>
                  <a:pt x="149" y="27"/>
                </a:lnTo>
                <a:cubicBezTo>
                  <a:pt x="147" y="23"/>
                  <a:pt x="147" y="17"/>
                  <a:pt x="147" y="11"/>
                </a:cubicBezTo>
                <a:cubicBezTo>
                  <a:pt x="139" y="13"/>
                  <a:pt x="131" y="17"/>
                  <a:pt x="124" y="23"/>
                </a:cubicBezTo>
                <a:cubicBezTo>
                  <a:pt x="126" y="23"/>
                  <a:pt x="130" y="25"/>
                  <a:pt x="135" y="26"/>
                </a:cubicBezTo>
                <a:cubicBezTo>
                  <a:pt x="139" y="26"/>
                  <a:pt x="144" y="27"/>
                  <a:pt x="149" y="27"/>
                </a:cubicBezTo>
                <a:lnTo>
                  <a:pt x="149" y="27"/>
                </a:lnTo>
                <a:close/>
                <a:moveTo>
                  <a:pt x="153" y="9"/>
                </a:moveTo>
                <a:lnTo>
                  <a:pt x="153" y="9"/>
                </a:lnTo>
                <a:cubicBezTo>
                  <a:pt x="152" y="17"/>
                  <a:pt x="153" y="23"/>
                  <a:pt x="155" y="28"/>
                </a:cubicBezTo>
                <a:cubicBezTo>
                  <a:pt x="159" y="28"/>
                  <a:pt x="162" y="27"/>
                  <a:pt x="166" y="27"/>
                </a:cubicBezTo>
                <a:cubicBezTo>
                  <a:pt x="164" y="25"/>
                  <a:pt x="163" y="21"/>
                  <a:pt x="163" y="17"/>
                </a:cubicBezTo>
                <a:cubicBezTo>
                  <a:pt x="163" y="14"/>
                  <a:pt x="163" y="10"/>
                  <a:pt x="164" y="7"/>
                </a:cubicBezTo>
                <a:cubicBezTo>
                  <a:pt x="161" y="8"/>
                  <a:pt x="157" y="8"/>
                  <a:pt x="153" y="9"/>
                </a:cubicBezTo>
                <a:lnTo>
                  <a:pt x="153" y="9"/>
                </a:lnTo>
                <a:close/>
                <a:moveTo>
                  <a:pt x="177" y="1"/>
                </a:moveTo>
                <a:lnTo>
                  <a:pt x="177" y="1"/>
                </a:lnTo>
                <a:cubicBezTo>
                  <a:pt x="180" y="1"/>
                  <a:pt x="184" y="0"/>
                  <a:pt x="187" y="1"/>
                </a:cubicBezTo>
                <a:cubicBezTo>
                  <a:pt x="189" y="1"/>
                  <a:pt x="190" y="3"/>
                  <a:pt x="190" y="4"/>
                </a:cubicBezTo>
                <a:cubicBezTo>
                  <a:pt x="190" y="7"/>
                  <a:pt x="185" y="9"/>
                  <a:pt x="182" y="10"/>
                </a:cubicBezTo>
                <a:cubicBezTo>
                  <a:pt x="182" y="12"/>
                  <a:pt x="183" y="14"/>
                  <a:pt x="183" y="15"/>
                </a:cubicBezTo>
                <a:cubicBezTo>
                  <a:pt x="184" y="23"/>
                  <a:pt x="180" y="30"/>
                  <a:pt x="175" y="32"/>
                </a:cubicBezTo>
                <a:cubicBezTo>
                  <a:pt x="175" y="32"/>
                  <a:pt x="175" y="32"/>
                  <a:pt x="175" y="32"/>
                </a:cubicBezTo>
                <a:cubicBezTo>
                  <a:pt x="168" y="33"/>
                  <a:pt x="161" y="33"/>
                  <a:pt x="154" y="33"/>
                </a:cubicBezTo>
                <a:cubicBezTo>
                  <a:pt x="153" y="33"/>
                  <a:pt x="153" y="33"/>
                  <a:pt x="152" y="33"/>
                </a:cubicBezTo>
                <a:cubicBezTo>
                  <a:pt x="141" y="33"/>
                  <a:pt x="129" y="31"/>
                  <a:pt x="119" y="27"/>
                </a:cubicBezTo>
                <a:cubicBezTo>
                  <a:pt x="119" y="27"/>
                  <a:pt x="119" y="27"/>
                  <a:pt x="119" y="27"/>
                </a:cubicBezTo>
                <a:cubicBezTo>
                  <a:pt x="116" y="30"/>
                  <a:pt x="112" y="27"/>
                  <a:pt x="114" y="24"/>
                </a:cubicBezTo>
                <a:cubicBezTo>
                  <a:pt x="114" y="24"/>
                  <a:pt x="115" y="23"/>
                  <a:pt x="116" y="22"/>
                </a:cubicBezTo>
                <a:cubicBezTo>
                  <a:pt x="116" y="22"/>
                  <a:pt x="117" y="21"/>
                  <a:pt x="117" y="21"/>
                </a:cubicBezTo>
                <a:cubicBezTo>
                  <a:pt x="123" y="15"/>
                  <a:pt x="142" y="1"/>
                  <a:pt x="177" y="1"/>
                </a:cubicBezTo>
                <a:lnTo>
                  <a:pt x="177" y="1"/>
                </a:lnTo>
                <a:close/>
              </a:path>
            </a:pathLst>
          </a:custGeom>
          <a:noFill/>
          <a:ln w="1588">
            <a:noFill/>
            <a:prstDash val="solid"/>
          </a:ln>
        </p:spPr>
        <p:txBody>
          <a:bodyPr vert="horz" wrap="square" lIns="91440" tIns="45720" rIns="91440" bIns="45720" anchor="t"/>
          <a:lstStyle/>
          <a:p>
            <a:endParaRPr sz="4267"/>
          </a:p>
        </p:txBody>
      </p:sp>
      <p:sp>
        <p:nvSpPr>
          <p:cNvPr id="18" name="Freeform 14">
            <a:extLst>
              <a:ext uri="{FF2B5EF4-FFF2-40B4-BE49-F238E27FC236}">
                <a16:creationId xmlns:a16="http://schemas.microsoft.com/office/drawing/2014/main" id="{7FD520B6-32AC-A196-05E4-28829C4F09CE}"/>
              </a:ext>
            </a:extLst>
          </p:cNvPr>
          <p:cNvSpPr>
            <a:spLocks noGrp="1"/>
          </p:cNvSpPr>
          <p:nvPr/>
        </p:nvSpPr>
        <p:spPr>
          <a:xfrm>
            <a:off x="10809111" y="378966"/>
            <a:ext cx="1066800" cy="514349"/>
          </a:xfrm>
          <a:custGeom>
            <a:avLst/>
            <a:gdLst>
              <a:gd name="T0" fmla="*/ 44 w 986"/>
              <a:gd name="T1" fmla="*/ 12 h 469"/>
              <a:gd name="T2" fmla="*/ 100 w 986"/>
              <a:gd name="T3" fmla="*/ 110 h 469"/>
              <a:gd name="T4" fmla="*/ 112 w 986"/>
              <a:gd name="T5" fmla="*/ 49 h 469"/>
              <a:gd name="T6" fmla="*/ 238 w 986"/>
              <a:gd name="T7" fmla="*/ 9 h 469"/>
              <a:gd name="T8" fmla="*/ 265 w 986"/>
              <a:gd name="T9" fmla="*/ 94 h 469"/>
              <a:gd name="T10" fmla="*/ 297 w 986"/>
              <a:gd name="T11" fmla="*/ 110 h 469"/>
              <a:gd name="T12" fmla="*/ 368 w 986"/>
              <a:gd name="T13" fmla="*/ 2 h 469"/>
              <a:gd name="T14" fmla="*/ 431 w 986"/>
              <a:gd name="T15" fmla="*/ 0 h 469"/>
              <a:gd name="T16" fmla="*/ 506 w 986"/>
              <a:gd name="T17" fmla="*/ 2 h 469"/>
              <a:gd name="T18" fmla="*/ 562 w 986"/>
              <a:gd name="T19" fmla="*/ 110 h 469"/>
              <a:gd name="T20" fmla="*/ 595 w 986"/>
              <a:gd name="T21" fmla="*/ 104 h 469"/>
              <a:gd name="T22" fmla="*/ 653 w 986"/>
              <a:gd name="T23" fmla="*/ 16 h 469"/>
              <a:gd name="T24" fmla="*/ 623 w 986"/>
              <a:gd name="T25" fmla="*/ 103 h 469"/>
              <a:gd name="T26" fmla="*/ 741 w 986"/>
              <a:gd name="T27" fmla="*/ 112 h 469"/>
              <a:gd name="T28" fmla="*/ 805 w 986"/>
              <a:gd name="T29" fmla="*/ 2 h 469"/>
              <a:gd name="T30" fmla="*/ 887 w 986"/>
              <a:gd name="T31" fmla="*/ 110 h 469"/>
              <a:gd name="T32" fmla="*/ 805 w 986"/>
              <a:gd name="T33" fmla="*/ 2 h 469"/>
              <a:gd name="T34" fmla="*/ 938 w 986"/>
              <a:gd name="T35" fmla="*/ 59 h 469"/>
              <a:gd name="T36" fmla="*/ 926 w 986"/>
              <a:gd name="T37" fmla="*/ 2 h 469"/>
              <a:gd name="T38" fmla="*/ 54 w 986"/>
              <a:gd name="T39" fmla="*/ 281 h 469"/>
              <a:gd name="T40" fmla="*/ 96 w 986"/>
              <a:gd name="T41" fmla="*/ 251 h 469"/>
              <a:gd name="T42" fmla="*/ 205 w 986"/>
              <a:gd name="T43" fmla="*/ 291 h 469"/>
              <a:gd name="T44" fmla="*/ 256 w 986"/>
              <a:gd name="T45" fmla="*/ 288 h 469"/>
              <a:gd name="T46" fmla="*/ 303 w 986"/>
              <a:gd name="T47" fmla="*/ 179 h 469"/>
              <a:gd name="T48" fmla="*/ 303 w 986"/>
              <a:gd name="T49" fmla="*/ 179 h 469"/>
              <a:gd name="T50" fmla="*/ 421 w 986"/>
              <a:gd name="T51" fmla="*/ 278 h 469"/>
              <a:gd name="T52" fmla="*/ 467 w 986"/>
              <a:gd name="T53" fmla="*/ 180 h 469"/>
              <a:gd name="T54" fmla="*/ 525 w 986"/>
              <a:gd name="T55" fmla="*/ 190 h 469"/>
              <a:gd name="T56" fmla="*/ 495 w 986"/>
              <a:gd name="T57" fmla="*/ 288 h 469"/>
              <a:gd name="T58" fmla="*/ 575 w 986"/>
              <a:gd name="T59" fmla="*/ 285 h 469"/>
              <a:gd name="T60" fmla="*/ 618 w 986"/>
              <a:gd name="T61" fmla="*/ 282 h 469"/>
              <a:gd name="T62" fmla="*/ 620 w 986"/>
              <a:gd name="T63" fmla="*/ 227 h 469"/>
              <a:gd name="T64" fmla="*/ 625 w 986"/>
              <a:gd name="T65" fmla="*/ 241 h 469"/>
              <a:gd name="T66" fmla="*/ 697 w 986"/>
              <a:gd name="T67" fmla="*/ 180 h 469"/>
              <a:gd name="T68" fmla="*/ 752 w 986"/>
              <a:gd name="T69" fmla="*/ 288 h 469"/>
              <a:gd name="T70" fmla="*/ 851 w 986"/>
              <a:gd name="T71" fmla="*/ 191 h 469"/>
              <a:gd name="T72" fmla="*/ 900 w 986"/>
              <a:gd name="T73" fmla="*/ 287 h 469"/>
              <a:gd name="T74" fmla="*/ 888 w 986"/>
              <a:gd name="T75" fmla="*/ 291 h 469"/>
              <a:gd name="T76" fmla="*/ 871 w 986"/>
              <a:gd name="T77" fmla="*/ 174 h 469"/>
              <a:gd name="T78" fmla="*/ 820 w 986"/>
              <a:gd name="T79" fmla="*/ 188 h 469"/>
              <a:gd name="T80" fmla="*/ 954 w 986"/>
              <a:gd name="T81" fmla="*/ 190 h 469"/>
              <a:gd name="T82" fmla="*/ 25 w 986"/>
              <a:gd name="T83" fmla="*/ 457 h 469"/>
              <a:gd name="T84" fmla="*/ 46 w 986"/>
              <a:gd name="T85" fmla="*/ 359 h 469"/>
              <a:gd name="T86" fmla="*/ 171 w 986"/>
              <a:gd name="T87" fmla="*/ 369 h 469"/>
              <a:gd name="T88" fmla="*/ 220 w 986"/>
              <a:gd name="T89" fmla="*/ 465 h 469"/>
              <a:gd name="T90" fmla="*/ 208 w 986"/>
              <a:gd name="T91" fmla="*/ 469 h 469"/>
              <a:gd name="T92" fmla="*/ 278 w 986"/>
              <a:gd name="T93" fmla="*/ 368 h 469"/>
              <a:gd name="T94" fmla="*/ 249 w 986"/>
              <a:gd name="T95" fmla="*/ 467 h 469"/>
              <a:gd name="T96" fmla="*/ 328 w 986"/>
              <a:gd name="T97" fmla="*/ 463 h 469"/>
              <a:gd name="T98" fmla="*/ 394 w 986"/>
              <a:gd name="T99" fmla="*/ 359 h 469"/>
              <a:gd name="T100" fmla="*/ 429 w 986"/>
              <a:gd name="T101" fmla="*/ 466 h 469"/>
              <a:gd name="T102" fmla="*/ 394 w 986"/>
              <a:gd name="T103" fmla="*/ 359 h 469"/>
              <a:gd name="T104" fmla="*/ 579 w 986"/>
              <a:gd name="T105" fmla="*/ 438 h 469"/>
              <a:gd name="T106" fmla="*/ 551 w 986"/>
              <a:gd name="T107" fmla="*/ 357 h 469"/>
              <a:gd name="T108" fmla="*/ 599 w 986"/>
              <a:gd name="T109" fmla="*/ 359 h 469"/>
              <a:gd name="T110" fmla="*/ 675 w 986"/>
              <a:gd name="T111" fmla="*/ 359 h 469"/>
              <a:gd name="T112" fmla="*/ 731 w 986"/>
              <a:gd name="T113" fmla="*/ 370 h 469"/>
              <a:gd name="T114" fmla="*/ 693 w 986"/>
              <a:gd name="T115" fmla="*/ 469 h 469"/>
              <a:gd name="T116" fmla="*/ 832 w 986"/>
              <a:gd name="T117" fmla="*/ 457 h 469"/>
              <a:gd name="T118" fmla="*/ 837 w 986"/>
              <a:gd name="T119" fmla="*/ 359 h 469"/>
              <a:gd name="T120" fmla="*/ 837 w 986"/>
              <a:gd name="T121" fmla="*/ 359 h 469"/>
              <a:gd name="T122" fmla="*/ 954 w 986"/>
              <a:gd name="T123" fmla="*/ 369 h 469"/>
            </a:gdLst>
            <a:ahLst/>
            <a:cxnLst/>
            <a:rect l="0" t="0" r="r" b="b"/>
            <a:pathLst>
              <a:path w="986" h="469">
                <a:moveTo>
                  <a:pt x="0" y="2"/>
                </a:moveTo>
                <a:lnTo>
                  <a:pt x="0" y="2"/>
                </a:lnTo>
                <a:lnTo>
                  <a:pt x="0" y="12"/>
                </a:lnTo>
                <a:lnTo>
                  <a:pt x="32" y="12"/>
                </a:lnTo>
                <a:lnTo>
                  <a:pt x="32" y="110"/>
                </a:lnTo>
                <a:lnTo>
                  <a:pt x="44" y="110"/>
                </a:lnTo>
                <a:lnTo>
                  <a:pt x="44" y="12"/>
                </a:lnTo>
                <a:lnTo>
                  <a:pt x="76" y="12"/>
                </a:lnTo>
                <a:lnTo>
                  <a:pt x="76" y="2"/>
                </a:lnTo>
                <a:lnTo>
                  <a:pt x="0" y="2"/>
                </a:lnTo>
                <a:lnTo>
                  <a:pt x="0" y="2"/>
                </a:lnTo>
                <a:close/>
                <a:moveTo>
                  <a:pt x="100" y="2"/>
                </a:moveTo>
                <a:lnTo>
                  <a:pt x="100" y="2"/>
                </a:lnTo>
                <a:lnTo>
                  <a:pt x="100" y="110"/>
                </a:lnTo>
                <a:lnTo>
                  <a:pt x="158" y="110"/>
                </a:lnTo>
                <a:lnTo>
                  <a:pt x="158" y="100"/>
                </a:lnTo>
                <a:lnTo>
                  <a:pt x="112" y="100"/>
                </a:lnTo>
                <a:lnTo>
                  <a:pt x="112" y="59"/>
                </a:lnTo>
                <a:lnTo>
                  <a:pt x="154" y="59"/>
                </a:lnTo>
                <a:lnTo>
                  <a:pt x="154" y="49"/>
                </a:lnTo>
                <a:lnTo>
                  <a:pt x="112" y="49"/>
                </a:lnTo>
                <a:lnTo>
                  <a:pt x="112" y="12"/>
                </a:lnTo>
                <a:lnTo>
                  <a:pt x="158" y="12"/>
                </a:lnTo>
                <a:lnTo>
                  <a:pt x="158" y="2"/>
                </a:lnTo>
                <a:lnTo>
                  <a:pt x="100" y="2"/>
                </a:lnTo>
                <a:lnTo>
                  <a:pt x="100" y="2"/>
                </a:lnTo>
                <a:close/>
                <a:moveTo>
                  <a:pt x="238" y="9"/>
                </a:moveTo>
                <a:lnTo>
                  <a:pt x="238" y="9"/>
                </a:lnTo>
                <a:cubicBezTo>
                  <a:pt x="248" y="9"/>
                  <a:pt x="257" y="11"/>
                  <a:pt x="266" y="17"/>
                </a:cubicBezTo>
                <a:lnTo>
                  <a:pt x="270" y="8"/>
                </a:lnTo>
                <a:cubicBezTo>
                  <a:pt x="260" y="3"/>
                  <a:pt x="250" y="0"/>
                  <a:pt x="238" y="0"/>
                </a:cubicBezTo>
                <a:cubicBezTo>
                  <a:pt x="206" y="0"/>
                  <a:pt x="181" y="23"/>
                  <a:pt x="181" y="56"/>
                </a:cubicBezTo>
                <a:cubicBezTo>
                  <a:pt x="181" y="91"/>
                  <a:pt x="206" y="112"/>
                  <a:pt x="238" y="112"/>
                </a:cubicBezTo>
                <a:cubicBezTo>
                  <a:pt x="248" y="112"/>
                  <a:pt x="260" y="107"/>
                  <a:pt x="270" y="102"/>
                </a:cubicBezTo>
                <a:lnTo>
                  <a:pt x="265" y="94"/>
                </a:lnTo>
                <a:cubicBezTo>
                  <a:pt x="257" y="99"/>
                  <a:pt x="247" y="102"/>
                  <a:pt x="238" y="102"/>
                </a:cubicBezTo>
                <a:cubicBezTo>
                  <a:pt x="211" y="102"/>
                  <a:pt x="193" y="82"/>
                  <a:pt x="193" y="56"/>
                </a:cubicBezTo>
                <a:cubicBezTo>
                  <a:pt x="193" y="30"/>
                  <a:pt x="211" y="9"/>
                  <a:pt x="238" y="9"/>
                </a:cubicBezTo>
                <a:lnTo>
                  <a:pt x="238" y="9"/>
                </a:lnTo>
                <a:close/>
                <a:moveTo>
                  <a:pt x="297" y="2"/>
                </a:moveTo>
                <a:lnTo>
                  <a:pt x="297" y="2"/>
                </a:lnTo>
                <a:lnTo>
                  <a:pt x="297" y="110"/>
                </a:lnTo>
                <a:lnTo>
                  <a:pt x="309" y="110"/>
                </a:lnTo>
                <a:lnTo>
                  <a:pt x="309" y="58"/>
                </a:lnTo>
                <a:lnTo>
                  <a:pt x="368" y="58"/>
                </a:lnTo>
                <a:lnTo>
                  <a:pt x="368" y="110"/>
                </a:lnTo>
                <a:lnTo>
                  <a:pt x="380" y="110"/>
                </a:lnTo>
                <a:lnTo>
                  <a:pt x="380" y="2"/>
                </a:lnTo>
                <a:lnTo>
                  <a:pt x="368" y="2"/>
                </a:lnTo>
                <a:lnTo>
                  <a:pt x="368" y="49"/>
                </a:lnTo>
                <a:lnTo>
                  <a:pt x="309" y="49"/>
                </a:lnTo>
                <a:lnTo>
                  <a:pt x="309" y="2"/>
                </a:lnTo>
                <a:lnTo>
                  <a:pt x="297" y="2"/>
                </a:lnTo>
                <a:lnTo>
                  <a:pt x="297" y="2"/>
                </a:lnTo>
                <a:close/>
                <a:moveTo>
                  <a:pt x="431" y="0"/>
                </a:moveTo>
                <a:lnTo>
                  <a:pt x="431" y="0"/>
                </a:lnTo>
                <a:lnTo>
                  <a:pt x="418" y="3"/>
                </a:lnTo>
                <a:lnTo>
                  <a:pt x="418" y="110"/>
                </a:lnTo>
                <a:lnTo>
                  <a:pt x="430" y="110"/>
                </a:lnTo>
                <a:lnTo>
                  <a:pt x="430" y="18"/>
                </a:lnTo>
                <a:lnTo>
                  <a:pt x="493" y="112"/>
                </a:lnTo>
                <a:lnTo>
                  <a:pt x="506" y="109"/>
                </a:lnTo>
                <a:lnTo>
                  <a:pt x="506" y="2"/>
                </a:lnTo>
                <a:lnTo>
                  <a:pt x="495" y="2"/>
                </a:lnTo>
                <a:lnTo>
                  <a:pt x="495" y="95"/>
                </a:lnTo>
                <a:lnTo>
                  <a:pt x="431" y="0"/>
                </a:lnTo>
                <a:lnTo>
                  <a:pt x="431" y="0"/>
                </a:lnTo>
                <a:close/>
                <a:moveTo>
                  <a:pt x="550" y="110"/>
                </a:moveTo>
                <a:lnTo>
                  <a:pt x="550" y="110"/>
                </a:lnTo>
                <a:lnTo>
                  <a:pt x="562" y="110"/>
                </a:lnTo>
                <a:lnTo>
                  <a:pt x="562" y="2"/>
                </a:lnTo>
                <a:lnTo>
                  <a:pt x="550" y="2"/>
                </a:lnTo>
                <a:lnTo>
                  <a:pt x="550" y="110"/>
                </a:lnTo>
                <a:close/>
                <a:moveTo>
                  <a:pt x="623" y="103"/>
                </a:moveTo>
                <a:lnTo>
                  <a:pt x="623" y="103"/>
                </a:lnTo>
                <a:cubicBezTo>
                  <a:pt x="615" y="103"/>
                  <a:pt x="606" y="100"/>
                  <a:pt x="600" y="96"/>
                </a:cubicBezTo>
                <a:lnTo>
                  <a:pt x="595" y="104"/>
                </a:lnTo>
                <a:cubicBezTo>
                  <a:pt x="604" y="109"/>
                  <a:pt x="613" y="112"/>
                  <a:pt x="624" y="112"/>
                </a:cubicBezTo>
                <a:cubicBezTo>
                  <a:pt x="647" y="112"/>
                  <a:pt x="658" y="97"/>
                  <a:pt x="658" y="81"/>
                </a:cubicBezTo>
                <a:cubicBezTo>
                  <a:pt x="658" y="65"/>
                  <a:pt x="646" y="58"/>
                  <a:pt x="634" y="52"/>
                </a:cubicBezTo>
                <a:lnTo>
                  <a:pt x="625" y="48"/>
                </a:lnTo>
                <a:cubicBezTo>
                  <a:pt x="617" y="44"/>
                  <a:pt x="609" y="39"/>
                  <a:pt x="609" y="28"/>
                </a:cubicBezTo>
                <a:cubicBezTo>
                  <a:pt x="609" y="14"/>
                  <a:pt x="620" y="8"/>
                  <a:pt x="630" y="8"/>
                </a:cubicBezTo>
                <a:cubicBezTo>
                  <a:pt x="640" y="8"/>
                  <a:pt x="647" y="12"/>
                  <a:pt x="653" y="16"/>
                </a:cubicBezTo>
                <a:lnTo>
                  <a:pt x="657" y="8"/>
                </a:lnTo>
                <a:cubicBezTo>
                  <a:pt x="649" y="3"/>
                  <a:pt x="640" y="0"/>
                  <a:pt x="630" y="0"/>
                </a:cubicBezTo>
                <a:cubicBezTo>
                  <a:pt x="611" y="0"/>
                  <a:pt x="598" y="11"/>
                  <a:pt x="598" y="28"/>
                </a:cubicBezTo>
                <a:cubicBezTo>
                  <a:pt x="598" y="50"/>
                  <a:pt x="614" y="54"/>
                  <a:pt x="630" y="62"/>
                </a:cubicBezTo>
                <a:cubicBezTo>
                  <a:pt x="639" y="66"/>
                  <a:pt x="646" y="71"/>
                  <a:pt x="646" y="82"/>
                </a:cubicBezTo>
                <a:cubicBezTo>
                  <a:pt x="646" y="95"/>
                  <a:pt x="636" y="103"/>
                  <a:pt x="623" y="103"/>
                </a:cubicBezTo>
                <a:lnTo>
                  <a:pt x="623" y="103"/>
                </a:lnTo>
                <a:close/>
                <a:moveTo>
                  <a:pt x="741" y="9"/>
                </a:moveTo>
                <a:lnTo>
                  <a:pt x="741" y="9"/>
                </a:lnTo>
                <a:cubicBezTo>
                  <a:pt x="752" y="9"/>
                  <a:pt x="761" y="11"/>
                  <a:pt x="769" y="17"/>
                </a:cubicBezTo>
                <a:lnTo>
                  <a:pt x="774" y="8"/>
                </a:lnTo>
                <a:cubicBezTo>
                  <a:pt x="764" y="3"/>
                  <a:pt x="754" y="0"/>
                  <a:pt x="741" y="0"/>
                </a:cubicBezTo>
                <a:cubicBezTo>
                  <a:pt x="709" y="0"/>
                  <a:pt x="684" y="23"/>
                  <a:pt x="684" y="56"/>
                </a:cubicBezTo>
                <a:cubicBezTo>
                  <a:pt x="684" y="91"/>
                  <a:pt x="709" y="112"/>
                  <a:pt x="741" y="112"/>
                </a:cubicBezTo>
                <a:cubicBezTo>
                  <a:pt x="752" y="112"/>
                  <a:pt x="764" y="107"/>
                  <a:pt x="773" y="102"/>
                </a:cubicBezTo>
                <a:lnTo>
                  <a:pt x="769" y="94"/>
                </a:lnTo>
                <a:cubicBezTo>
                  <a:pt x="761" y="99"/>
                  <a:pt x="751" y="102"/>
                  <a:pt x="741" y="102"/>
                </a:cubicBezTo>
                <a:cubicBezTo>
                  <a:pt x="715" y="102"/>
                  <a:pt x="697" y="82"/>
                  <a:pt x="697" y="56"/>
                </a:cubicBezTo>
                <a:cubicBezTo>
                  <a:pt x="697" y="30"/>
                  <a:pt x="715" y="9"/>
                  <a:pt x="741" y="9"/>
                </a:cubicBezTo>
                <a:lnTo>
                  <a:pt x="741" y="9"/>
                </a:lnTo>
                <a:close/>
                <a:moveTo>
                  <a:pt x="805" y="2"/>
                </a:moveTo>
                <a:lnTo>
                  <a:pt x="805" y="2"/>
                </a:lnTo>
                <a:lnTo>
                  <a:pt x="805" y="110"/>
                </a:lnTo>
                <a:lnTo>
                  <a:pt x="817" y="110"/>
                </a:lnTo>
                <a:lnTo>
                  <a:pt x="817" y="58"/>
                </a:lnTo>
                <a:lnTo>
                  <a:pt x="875" y="58"/>
                </a:lnTo>
                <a:lnTo>
                  <a:pt x="875" y="110"/>
                </a:lnTo>
                <a:lnTo>
                  <a:pt x="887" y="110"/>
                </a:lnTo>
                <a:lnTo>
                  <a:pt x="887" y="2"/>
                </a:lnTo>
                <a:lnTo>
                  <a:pt x="875" y="2"/>
                </a:lnTo>
                <a:lnTo>
                  <a:pt x="875" y="49"/>
                </a:lnTo>
                <a:lnTo>
                  <a:pt x="817" y="49"/>
                </a:lnTo>
                <a:lnTo>
                  <a:pt x="817" y="2"/>
                </a:lnTo>
                <a:lnTo>
                  <a:pt x="805" y="2"/>
                </a:lnTo>
                <a:lnTo>
                  <a:pt x="805" y="2"/>
                </a:lnTo>
                <a:close/>
                <a:moveTo>
                  <a:pt x="926" y="2"/>
                </a:moveTo>
                <a:lnTo>
                  <a:pt x="926" y="2"/>
                </a:lnTo>
                <a:lnTo>
                  <a:pt x="926" y="110"/>
                </a:lnTo>
                <a:lnTo>
                  <a:pt x="984" y="110"/>
                </a:lnTo>
                <a:lnTo>
                  <a:pt x="984" y="100"/>
                </a:lnTo>
                <a:lnTo>
                  <a:pt x="938" y="100"/>
                </a:lnTo>
                <a:lnTo>
                  <a:pt x="938" y="59"/>
                </a:lnTo>
                <a:lnTo>
                  <a:pt x="980" y="59"/>
                </a:lnTo>
                <a:lnTo>
                  <a:pt x="980" y="49"/>
                </a:lnTo>
                <a:lnTo>
                  <a:pt x="938" y="49"/>
                </a:lnTo>
                <a:lnTo>
                  <a:pt x="938" y="12"/>
                </a:lnTo>
                <a:lnTo>
                  <a:pt x="984" y="12"/>
                </a:lnTo>
                <a:lnTo>
                  <a:pt x="984" y="2"/>
                </a:lnTo>
                <a:lnTo>
                  <a:pt x="926" y="2"/>
                </a:lnTo>
                <a:lnTo>
                  <a:pt x="926" y="2"/>
                </a:lnTo>
                <a:close/>
                <a:moveTo>
                  <a:pt x="96" y="251"/>
                </a:moveTo>
                <a:lnTo>
                  <a:pt x="96" y="251"/>
                </a:lnTo>
                <a:lnTo>
                  <a:pt x="96" y="180"/>
                </a:lnTo>
                <a:lnTo>
                  <a:pt x="84" y="180"/>
                </a:lnTo>
                <a:lnTo>
                  <a:pt x="84" y="249"/>
                </a:lnTo>
                <a:cubicBezTo>
                  <a:pt x="84" y="274"/>
                  <a:pt x="73" y="281"/>
                  <a:pt x="54" y="281"/>
                </a:cubicBezTo>
                <a:cubicBezTo>
                  <a:pt x="34" y="281"/>
                  <a:pt x="25" y="270"/>
                  <a:pt x="25" y="249"/>
                </a:cubicBezTo>
                <a:lnTo>
                  <a:pt x="25" y="180"/>
                </a:lnTo>
                <a:lnTo>
                  <a:pt x="13" y="180"/>
                </a:lnTo>
                <a:lnTo>
                  <a:pt x="13" y="252"/>
                </a:lnTo>
                <a:cubicBezTo>
                  <a:pt x="13" y="277"/>
                  <a:pt x="27" y="290"/>
                  <a:pt x="54" y="290"/>
                </a:cubicBezTo>
                <a:cubicBezTo>
                  <a:pt x="74" y="290"/>
                  <a:pt x="96" y="284"/>
                  <a:pt x="96" y="251"/>
                </a:cubicBezTo>
                <a:lnTo>
                  <a:pt x="96" y="251"/>
                </a:lnTo>
                <a:close/>
                <a:moveTo>
                  <a:pt x="143" y="178"/>
                </a:moveTo>
                <a:lnTo>
                  <a:pt x="143" y="178"/>
                </a:lnTo>
                <a:lnTo>
                  <a:pt x="130" y="181"/>
                </a:lnTo>
                <a:lnTo>
                  <a:pt x="130" y="288"/>
                </a:lnTo>
                <a:lnTo>
                  <a:pt x="142" y="288"/>
                </a:lnTo>
                <a:lnTo>
                  <a:pt x="142" y="196"/>
                </a:lnTo>
                <a:lnTo>
                  <a:pt x="205" y="291"/>
                </a:lnTo>
                <a:lnTo>
                  <a:pt x="218" y="287"/>
                </a:lnTo>
                <a:lnTo>
                  <a:pt x="218" y="181"/>
                </a:lnTo>
                <a:lnTo>
                  <a:pt x="207" y="181"/>
                </a:lnTo>
                <a:lnTo>
                  <a:pt x="206" y="273"/>
                </a:lnTo>
                <a:lnTo>
                  <a:pt x="143" y="178"/>
                </a:lnTo>
                <a:lnTo>
                  <a:pt x="143" y="178"/>
                </a:lnTo>
                <a:close/>
                <a:moveTo>
                  <a:pt x="256" y="288"/>
                </a:moveTo>
                <a:lnTo>
                  <a:pt x="256" y="288"/>
                </a:lnTo>
                <a:lnTo>
                  <a:pt x="268" y="288"/>
                </a:lnTo>
                <a:lnTo>
                  <a:pt x="268" y="180"/>
                </a:lnTo>
                <a:lnTo>
                  <a:pt x="256" y="180"/>
                </a:lnTo>
                <a:lnTo>
                  <a:pt x="256" y="288"/>
                </a:lnTo>
                <a:close/>
                <a:moveTo>
                  <a:pt x="303" y="179"/>
                </a:moveTo>
                <a:lnTo>
                  <a:pt x="303" y="179"/>
                </a:lnTo>
                <a:lnTo>
                  <a:pt x="291" y="183"/>
                </a:lnTo>
                <a:lnTo>
                  <a:pt x="332" y="288"/>
                </a:lnTo>
                <a:lnTo>
                  <a:pt x="344" y="288"/>
                </a:lnTo>
                <a:lnTo>
                  <a:pt x="385" y="183"/>
                </a:lnTo>
                <a:lnTo>
                  <a:pt x="374" y="179"/>
                </a:lnTo>
                <a:lnTo>
                  <a:pt x="338" y="275"/>
                </a:lnTo>
                <a:lnTo>
                  <a:pt x="303" y="179"/>
                </a:lnTo>
                <a:lnTo>
                  <a:pt x="303" y="179"/>
                </a:lnTo>
                <a:close/>
                <a:moveTo>
                  <a:pt x="409" y="180"/>
                </a:moveTo>
                <a:lnTo>
                  <a:pt x="409" y="180"/>
                </a:lnTo>
                <a:lnTo>
                  <a:pt x="409" y="288"/>
                </a:lnTo>
                <a:lnTo>
                  <a:pt x="467" y="288"/>
                </a:lnTo>
                <a:lnTo>
                  <a:pt x="467" y="278"/>
                </a:lnTo>
                <a:lnTo>
                  <a:pt x="421" y="278"/>
                </a:lnTo>
                <a:lnTo>
                  <a:pt x="421" y="237"/>
                </a:lnTo>
                <a:lnTo>
                  <a:pt x="463" y="237"/>
                </a:lnTo>
                <a:lnTo>
                  <a:pt x="463" y="227"/>
                </a:lnTo>
                <a:lnTo>
                  <a:pt x="421" y="227"/>
                </a:lnTo>
                <a:lnTo>
                  <a:pt x="421" y="190"/>
                </a:lnTo>
                <a:lnTo>
                  <a:pt x="467" y="190"/>
                </a:lnTo>
                <a:lnTo>
                  <a:pt x="467" y="180"/>
                </a:lnTo>
                <a:lnTo>
                  <a:pt x="409" y="180"/>
                </a:lnTo>
                <a:lnTo>
                  <a:pt x="409" y="180"/>
                </a:lnTo>
                <a:close/>
                <a:moveTo>
                  <a:pt x="522" y="233"/>
                </a:moveTo>
                <a:lnTo>
                  <a:pt x="522" y="233"/>
                </a:lnTo>
                <a:lnTo>
                  <a:pt x="508" y="233"/>
                </a:lnTo>
                <a:lnTo>
                  <a:pt x="508" y="190"/>
                </a:lnTo>
                <a:lnTo>
                  <a:pt x="525" y="190"/>
                </a:lnTo>
                <a:cubicBezTo>
                  <a:pt x="543" y="190"/>
                  <a:pt x="549" y="199"/>
                  <a:pt x="549" y="211"/>
                </a:cubicBezTo>
                <a:cubicBezTo>
                  <a:pt x="549" y="228"/>
                  <a:pt x="536" y="233"/>
                  <a:pt x="522" y="233"/>
                </a:cubicBezTo>
                <a:lnTo>
                  <a:pt x="522" y="233"/>
                </a:lnTo>
                <a:close/>
                <a:moveTo>
                  <a:pt x="528" y="181"/>
                </a:moveTo>
                <a:lnTo>
                  <a:pt x="528" y="181"/>
                </a:lnTo>
                <a:lnTo>
                  <a:pt x="495" y="180"/>
                </a:lnTo>
                <a:lnTo>
                  <a:pt x="495" y="288"/>
                </a:lnTo>
                <a:lnTo>
                  <a:pt x="508" y="288"/>
                </a:lnTo>
                <a:lnTo>
                  <a:pt x="508" y="242"/>
                </a:lnTo>
                <a:lnTo>
                  <a:pt x="517" y="242"/>
                </a:lnTo>
                <a:cubicBezTo>
                  <a:pt x="525" y="242"/>
                  <a:pt x="530" y="245"/>
                  <a:pt x="534" y="251"/>
                </a:cubicBezTo>
                <a:lnTo>
                  <a:pt x="539" y="257"/>
                </a:lnTo>
                <a:lnTo>
                  <a:pt x="564" y="291"/>
                </a:lnTo>
                <a:lnTo>
                  <a:pt x="575" y="285"/>
                </a:lnTo>
                <a:lnTo>
                  <a:pt x="553" y="256"/>
                </a:lnTo>
                <a:cubicBezTo>
                  <a:pt x="549" y="251"/>
                  <a:pt x="543" y="241"/>
                  <a:pt x="537" y="240"/>
                </a:cubicBezTo>
                <a:lnTo>
                  <a:pt x="537" y="237"/>
                </a:lnTo>
                <a:cubicBezTo>
                  <a:pt x="551" y="235"/>
                  <a:pt x="560" y="227"/>
                  <a:pt x="560" y="209"/>
                </a:cubicBezTo>
                <a:cubicBezTo>
                  <a:pt x="560" y="192"/>
                  <a:pt x="548" y="181"/>
                  <a:pt x="528" y="181"/>
                </a:cubicBezTo>
                <a:lnTo>
                  <a:pt x="528" y="181"/>
                </a:lnTo>
                <a:close/>
                <a:moveTo>
                  <a:pt x="618" y="282"/>
                </a:moveTo>
                <a:lnTo>
                  <a:pt x="618" y="282"/>
                </a:lnTo>
                <a:cubicBezTo>
                  <a:pt x="609" y="282"/>
                  <a:pt x="601" y="279"/>
                  <a:pt x="595" y="275"/>
                </a:cubicBezTo>
                <a:lnTo>
                  <a:pt x="590" y="283"/>
                </a:lnTo>
                <a:cubicBezTo>
                  <a:pt x="599" y="288"/>
                  <a:pt x="607" y="291"/>
                  <a:pt x="618" y="291"/>
                </a:cubicBezTo>
                <a:cubicBezTo>
                  <a:pt x="642" y="291"/>
                  <a:pt x="653" y="276"/>
                  <a:pt x="653" y="260"/>
                </a:cubicBezTo>
                <a:cubicBezTo>
                  <a:pt x="653" y="244"/>
                  <a:pt x="641" y="237"/>
                  <a:pt x="629" y="231"/>
                </a:cubicBezTo>
                <a:lnTo>
                  <a:pt x="620" y="227"/>
                </a:lnTo>
                <a:cubicBezTo>
                  <a:pt x="612" y="223"/>
                  <a:pt x="604" y="218"/>
                  <a:pt x="604" y="207"/>
                </a:cubicBezTo>
                <a:cubicBezTo>
                  <a:pt x="604" y="193"/>
                  <a:pt x="615" y="187"/>
                  <a:pt x="625" y="187"/>
                </a:cubicBezTo>
                <a:cubicBezTo>
                  <a:pt x="635" y="187"/>
                  <a:pt x="642" y="191"/>
                  <a:pt x="648" y="195"/>
                </a:cubicBezTo>
                <a:lnTo>
                  <a:pt x="652" y="187"/>
                </a:lnTo>
                <a:cubicBezTo>
                  <a:pt x="644" y="182"/>
                  <a:pt x="634" y="179"/>
                  <a:pt x="624" y="179"/>
                </a:cubicBezTo>
                <a:cubicBezTo>
                  <a:pt x="605" y="179"/>
                  <a:pt x="592" y="190"/>
                  <a:pt x="592" y="207"/>
                </a:cubicBezTo>
                <a:cubicBezTo>
                  <a:pt x="592" y="229"/>
                  <a:pt x="609" y="233"/>
                  <a:pt x="625" y="241"/>
                </a:cubicBezTo>
                <a:cubicBezTo>
                  <a:pt x="633" y="245"/>
                  <a:pt x="640" y="250"/>
                  <a:pt x="640" y="261"/>
                </a:cubicBezTo>
                <a:cubicBezTo>
                  <a:pt x="640" y="274"/>
                  <a:pt x="631" y="282"/>
                  <a:pt x="618" y="282"/>
                </a:cubicBezTo>
                <a:lnTo>
                  <a:pt x="618" y="282"/>
                </a:lnTo>
                <a:close/>
                <a:moveTo>
                  <a:pt x="685" y="288"/>
                </a:moveTo>
                <a:lnTo>
                  <a:pt x="685" y="288"/>
                </a:lnTo>
                <a:lnTo>
                  <a:pt x="697" y="288"/>
                </a:lnTo>
                <a:lnTo>
                  <a:pt x="697" y="180"/>
                </a:lnTo>
                <a:lnTo>
                  <a:pt x="685" y="180"/>
                </a:lnTo>
                <a:lnTo>
                  <a:pt x="685" y="288"/>
                </a:lnTo>
                <a:close/>
                <a:moveTo>
                  <a:pt x="721" y="180"/>
                </a:moveTo>
                <a:lnTo>
                  <a:pt x="721" y="180"/>
                </a:lnTo>
                <a:lnTo>
                  <a:pt x="721" y="190"/>
                </a:lnTo>
                <a:lnTo>
                  <a:pt x="752" y="190"/>
                </a:lnTo>
                <a:lnTo>
                  <a:pt x="752" y="288"/>
                </a:lnTo>
                <a:lnTo>
                  <a:pt x="764" y="288"/>
                </a:lnTo>
                <a:lnTo>
                  <a:pt x="764" y="190"/>
                </a:lnTo>
                <a:lnTo>
                  <a:pt x="796" y="190"/>
                </a:lnTo>
                <a:lnTo>
                  <a:pt x="796" y="180"/>
                </a:lnTo>
                <a:lnTo>
                  <a:pt x="721" y="180"/>
                </a:lnTo>
                <a:lnTo>
                  <a:pt x="721" y="180"/>
                </a:lnTo>
                <a:close/>
                <a:moveTo>
                  <a:pt x="851" y="191"/>
                </a:moveTo>
                <a:lnTo>
                  <a:pt x="851" y="191"/>
                </a:lnTo>
                <a:lnTo>
                  <a:pt x="870" y="245"/>
                </a:lnTo>
                <a:lnTo>
                  <a:pt x="830" y="245"/>
                </a:lnTo>
                <a:lnTo>
                  <a:pt x="851" y="191"/>
                </a:lnTo>
                <a:lnTo>
                  <a:pt x="851" y="191"/>
                </a:lnTo>
                <a:close/>
                <a:moveTo>
                  <a:pt x="900" y="287"/>
                </a:moveTo>
                <a:lnTo>
                  <a:pt x="900" y="287"/>
                </a:lnTo>
                <a:lnTo>
                  <a:pt x="857" y="180"/>
                </a:lnTo>
                <a:lnTo>
                  <a:pt x="844" y="180"/>
                </a:lnTo>
                <a:lnTo>
                  <a:pt x="800" y="287"/>
                </a:lnTo>
                <a:lnTo>
                  <a:pt x="812" y="291"/>
                </a:lnTo>
                <a:lnTo>
                  <a:pt x="827" y="253"/>
                </a:lnTo>
                <a:lnTo>
                  <a:pt x="874" y="253"/>
                </a:lnTo>
                <a:lnTo>
                  <a:pt x="888" y="291"/>
                </a:lnTo>
                <a:lnTo>
                  <a:pt x="900" y="287"/>
                </a:lnTo>
                <a:lnTo>
                  <a:pt x="900" y="287"/>
                </a:lnTo>
                <a:close/>
                <a:moveTo>
                  <a:pt x="871" y="188"/>
                </a:moveTo>
                <a:lnTo>
                  <a:pt x="871" y="188"/>
                </a:lnTo>
                <a:lnTo>
                  <a:pt x="882" y="188"/>
                </a:lnTo>
                <a:lnTo>
                  <a:pt x="882" y="174"/>
                </a:lnTo>
                <a:lnTo>
                  <a:pt x="871" y="174"/>
                </a:lnTo>
                <a:lnTo>
                  <a:pt x="871" y="188"/>
                </a:lnTo>
                <a:close/>
                <a:moveTo>
                  <a:pt x="820" y="188"/>
                </a:moveTo>
                <a:lnTo>
                  <a:pt x="820" y="188"/>
                </a:lnTo>
                <a:lnTo>
                  <a:pt x="831" y="188"/>
                </a:lnTo>
                <a:lnTo>
                  <a:pt x="831" y="174"/>
                </a:lnTo>
                <a:lnTo>
                  <a:pt x="820" y="174"/>
                </a:lnTo>
                <a:lnTo>
                  <a:pt x="820" y="188"/>
                </a:lnTo>
                <a:close/>
                <a:moveTo>
                  <a:pt x="911" y="180"/>
                </a:moveTo>
                <a:lnTo>
                  <a:pt x="911" y="180"/>
                </a:lnTo>
                <a:lnTo>
                  <a:pt x="911" y="190"/>
                </a:lnTo>
                <a:lnTo>
                  <a:pt x="942" y="190"/>
                </a:lnTo>
                <a:lnTo>
                  <a:pt x="942" y="288"/>
                </a:lnTo>
                <a:lnTo>
                  <a:pt x="954" y="288"/>
                </a:lnTo>
                <a:lnTo>
                  <a:pt x="954" y="190"/>
                </a:lnTo>
                <a:lnTo>
                  <a:pt x="986" y="190"/>
                </a:lnTo>
                <a:lnTo>
                  <a:pt x="986" y="180"/>
                </a:lnTo>
                <a:lnTo>
                  <a:pt x="911" y="180"/>
                </a:lnTo>
                <a:lnTo>
                  <a:pt x="911" y="180"/>
                </a:lnTo>
                <a:close/>
                <a:moveTo>
                  <a:pt x="41" y="457"/>
                </a:moveTo>
                <a:lnTo>
                  <a:pt x="41" y="457"/>
                </a:lnTo>
                <a:lnTo>
                  <a:pt x="25" y="457"/>
                </a:lnTo>
                <a:lnTo>
                  <a:pt x="25" y="368"/>
                </a:lnTo>
                <a:lnTo>
                  <a:pt x="43" y="368"/>
                </a:lnTo>
                <a:cubicBezTo>
                  <a:pt x="73" y="368"/>
                  <a:pt x="93" y="383"/>
                  <a:pt x="93" y="412"/>
                </a:cubicBezTo>
                <a:cubicBezTo>
                  <a:pt x="93" y="440"/>
                  <a:pt x="73" y="457"/>
                  <a:pt x="41" y="457"/>
                </a:cubicBezTo>
                <a:lnTo>
                  <a:pt x="41" y="457"/>
                </a:lnTo>
                <a:close/>
                <a:moveTo>
                  <a:pt x="46" y="359"/>
                </a:moveTo>
                <a:lnTo>
                  <a:pt x="46" y="359"/>
                </a:lnTo>
                <a:lnTo>
                  <a:pt x="13" y="359"/>
                </a:lnTo>
                <a:lnTo>
                  <a:pt x="13" y="466"/>
                </a:lnTo>
                <a:lnTo>
                  <a:pt x="42" y="466"/>
                </a:lnTo>
                <a:cubicBezTo>
                  <a:pt x="79" y="466"/>
                  <a:pt x="104" y="448"/>
                  <a:pt x="104" y="411"/>
                </a:cubicBezTo>
                <a:cubicBezTo>
                  <a:pt x="104" y="385"/>
                  <a:pt x="89" y="359"/>
                  <a:pt x="46" y="359"/>
                </a:cubicBezTo>
                <a:lnTo>
                  <a:pt x="46" y="359"/>
                </a:lnTo>
                <a:close/>
                <a:moveTo>
                  <a:pt x="171" y="369"/>
                </a:moveTo>
                <a:lnTo>
                  <a:pt x="171" y="369"/>
                </a:lnTo>
                <a:lnTo>
                  <a:pt x="191" y="423"/>
                </a:lnTo>
                <a:lnTo>
                  <a:pt x="150" y="423"/>
                </a:lnTo>
                <a:lnTo>
                  <a:pt x="171" y="369"/>
                </a:lnTo>
                <a:lnTo>
                  <a:pt x="171" y="369"/>
                </a:lnTo>
                <a:close/>
                <a:moveTo>
                  <a:pt x="220" y="465"/>
                </a:moveTo>
                <a:lnTo>
                  <a:pt x="220" y="465"/>
                </a:lnTo>
                <a:lnTo>
                  <a:pt x="177" y="359"/>
                </a:lnTo>
                <a:lnTo>
                  <a:pt x="165" y="359"/>
                </a:lnTo>
                <a:lnTo>
                  <a:pt x="121" y="465"/>
                </a:lnTo>
                <a:lnTo>
                  <a:pt x="133" y="469"/>
                </a:lnTo>
                <a:lnTo>
                  <a:pt x="147" y="432"/>
                </a:lnTo>
                <a:lnTo>
                  <a:pt x="194" y="432"/>
                </a:lnTo>
                <a:lnTo>
                  <a:pt x="208" y="469"/>
                </a:lnTo>
                <a:lnTo>
                  <a:pt x="220" y="465"/>
                </a:lnTo>
                <a:lnTo>
                  <a:pt x="220" y="465"/>
                </a:lnTo>
                <a:close/>
                <a:moveTo>
                  <a:pt x="275" y="411"/>
                </a:moveTo>
                <a:lnTo>
                  <a:pt x="275" y="411"/>
                </a:lnTo>
                <a:lnTo>
                  <a:pt x="261" y="411"/>
                </a:lnTo>
                <a:lnTo>
                  <a:pt x="261" y="368"/>
                </a:lnTo>
                <a:lnTo>
                  <a:pt x="278" y="368"/>
                </a:lnTo>
                <a:cubicBezTo>
                  <a:pt x="297" y="368"/>
                  <a:pt x="302" y="377"/>
                  <a:pt x="302" y="389"/>
                </a:cubicBezTo>
                <a:cubicBezTo>
                  <a:pt x="302" y="407"/>
                  <a:pt x="289" y="411"/>
                  <a:pt x="275" y="411"/>
                </a:cubicBezTo>
                <a:lnTo>
                  <a:pt x="275" y="411"/>
                </a:lnTo>
                <a:close/>
                <a:moveTo>
                  <a:pt x="281" y="359"/>
                </a:moveTo>
                <a:lnTo>
                  <a:pt x="281" y="359"/>
                </a:lnTo>
                <a:lnTo>
                  <a:pt x="249" y="359"/>
                </a:lnTo>
                <a:lnTo>
                  <a:pt x="249" y="467"/>
                </a:lnTo>
                <a:lnTo>
                  <a:pt x="261" y="467"/>
                </a:lnTo>
                <a:lnTo>
                  <a:pt x="261" y="420"/>
                </a:lnTo>
                <a:lnTo>
                  <a:pt x="271" y="420"/>
                </a:lnTo>
                <a:cubicBezTo>
                  <a:pt x="279" y="420"/>
                  <a:pt x="283" y="423"/>
                  <a:pt x="287" y="429"/>
                </a:cubicBezTo>
                <a:lnTo>
                  <a:pt x="292" y="435"/>
                </a:lnTo>
                <a:lnTo>
                  <a:pt x="317" y="469"/>
                </a:lnTo>
                <a:lnTo>
                  <a:pt x="328" y="463"/>
                </a:lnTo>
                <a:lnTo>
                  <a:pt x="306" y="435"/>
                </a:lnTo>
                <a:cubicBezTo>
                  <a:pt x="302" y="429"/>
                  <a:pt x="297" y="419"/>
                  <a:pt x="290" y="418"/>
                </a:cubicBezTo>
                <a:lnTo>
                  <a:pt x="290" y="415"/>
                </a:lnTo>
                <a:cubicBezTo>
                  <a:pt x="305" y="413"/>
                  <a:pt x="313" y="405"/>
                  <a:pt x="313" y="387"/>
                </a:cubicBezTo>
                <a:cubicBezTo>
                  <a:pt x="313" y="370"/>
                  <a:pt x="301" y="359"/>
                  <a:pt x="281" y="359"/>
                </a:cubicBezTo>
                <a:lnTo>
                  <a:pt x="281" y="359"/>
                </a:lnTo>
                <a:close/>
                <a:moveTo>
                  <a:pt x="394" y="359"/>
                </a:moveTo>
                <a:lnTo>
                  <a:pt x="394" y="359"/>
                </a:lnTo>
                <a:lnTo>
                  <a:pt x="381" y="359"/>
                </a:lnTo>
                <a:lnTo>
                  <a:pt x="351" y="465"/>
                </a:lnTo>
                <a:lnTo>
                  <a:pt x="362" y="468"/>
                </a:lnTo>
                <a:lnTo>
                  <a:pt x="388" y="375"/>
                </a:lnTo>
                <a:lnTo>
                  <a:pt x="415" y="466"/>
                </a:lnTo>
                <a:lnTo>
                  <a:pt x="429" y="466"/>
                </a:lnTo>
                <a:lnTo>
                  <a:pt x="457" y="375"/>
                </a:lnTo>
                <a:lnTo>
                  <a:pt x="482" y="468"/>
                </a:lnTo>
                <a:lnTo>
                  <a:pt x="493" y="465"/>
                </a:lnTo>
                <a:lnTo>
                  <a:pt x="463" y="359"/>
                </a:lnTo>
                <a:lnTo>
                  <a:pt x="450" y="359"/>
                </a:lnTo>
                <a:lnTo>
                  <a:pt x="422" y="453"/>
                </a:lnTo>
                <a:lnTo>
                  <a:pt x="394" y="359"/>
                </a:lnTo>
                <a:lnTo>
                  <a:pt x="394" y="359"/>
                </a:lnTo>
                <a:close/>
                <a:moveTo>
                  <a:pt x="544" y="460"/>
                </a:moveTo>
                <a:lnTo>
                  <a:pt x="544" y="460"/>
                </a:lnTo>
                <a:cubicBezTo>
                  <a:pt x="536" y="460"/>
                  <a:pt x="527" y="457"/>
                  <a:pt x="521" y="453"/>
                </a:cubicBezTo>
                <a:lnTo>
                  <a:pt x="517" y="461"/>
                </a:lnTo>
                <a:cubicBezTo>
                  <a:pt x="525" y="466"/>
                  <a:pt x="534" y="468"/>
                  <a:pt x="545" y="468"/>
                </a:cubicBezTo>
                <a:cubicBezTo>
                  <a:pt x="569" y="468"/>
                  <a:pt x="579" y="454"/>
                  <a:pt x="579" y="438"/>
                </a:cubicBezTo>
                <a:cubicBezTo>
                  <a:pt x="579" y="422"/>
                  <a:pt x="568" y="415"/>
                  <a:pt x="555" y="409"/>
                </a:cubicBezTo>
                <a:lnTo>
                  <a:pt x="546" y="405"/>
                </a:lnTo>
                <a:cubicBezTo>
                  <a:pt x="539" y="401"/>
                  <a:pt x="530" y="395"/>
                  <a:pt x="530" y="385"/>
                </a:cubicBezTo>
                <a:cubicBezTo>
                  <a:pt x="530" y="371"/>
                  <a:pt x="542" y="365"/>
                  <a:pt x="552" y="365"/>
                </a:cubicBezTo>
                <a:cubicBezTo>
                  <a:pt x="562" y="365"/>
                  <a:pt x="568" y="369"/>
                  <a:pt x="574" y="373"/>
                </a:cubicBezTo>
                <a:lnTo>
                  <a:pt x="579" y="365"/>
                </a:lnTo>
                <a:cubicBezTo>
                  <a:pt x="570" y="360"/>
                  <a:pt x="561" y="357"/>
                  <a:pt x="551" y="357"/>
                </a:cubicBezTo>
                <a:cubicBezTo>
                  <a:pt x="532" y="357"/>
                  <a:pt x="519" y="368"/>
                  <a:pt x="519" y="384"/>
                </a:cubicBezTo>
                <a:cubicBezTo>
                  <a:pt x="519" y="407"/>
                  <a:pt x="535" y="411"/>
                  <a:pt x="551" y="419"/>
                </a:cubicBezTo>
                <a:cubicBezTo>
                  <a:pt x="560" y="423"/>
                  <a:pt x="567" y="428"/>
                  <a:pt x="567" y="439"/>
                </a:cubicBezTo>
                <a:cubicBezTo>
                  <a:pt x="567" y="452"/>
                  <a:pt x="558" y="460"/>
                  <a:pt x="544" y="460"/>
                </a:cubicBezTo>
                <a:lnTo>
                  <a:pt x="544" y="460"/>
                </a:lnTo>
                <a:close/>
                <a:moveTo>
                  <a:pt x="599" y="359"/>
                </a:moveTo>
                <a:lnTo>
                  <a:pt x="599" y="359"/>
                </a:lnTo>
                <a:lnTo>
                  <a:pt x="599" y="369"/>
                </a:lnTo>
                <a:lnTo>
                  <a:pt x="631" y="369"/>
                </a:lnTo>
                <a:lnTo>
                  <a:pt x="631" y="466"/>
                </a:lnTo>
                <a:lnTo>
                  <a:pt x="643" y="466"/>
                </a:lnTo>
                <a:lnTo>
                  <a:pt x="643" y="369"/>
                </a:lnTo>
                <a:lnTo>
                  <a:pt x="675" y="369"/>
                </a:lnTo>
                <a:lnTo>
                  <a:pt x="675" y="359"/>
                </a:lnTo>
                <a:lnTo>
                  <a:pt x="599" y="359"/>
                </a:lnTo>
                <a:lnTo>
                  <a:pt x="599" y="359"/>
                </a:lnTo>
                <a:close/>
                <a:moveTo>
                  <a:pt x="731" y="370"/>
                </a:moveTo>
                <a:lnTo>
                  <a:pt x="731" y="370"/>
                </a:lnTo>
                <a:lnTo>
                  <a:pt x="751" y="423"/>
                </a:lnTo>
                <a:lnTo>
                  <a:pt x="710" y="423"/>
                </a:lnTo>
                <a:lnTo>
                  <a:pt x="731" y="370"/>
                </a:lnTo>
                <a:lnTo>
                  <a:pt x="731" y="370"/>
                </a:lnTo>
                <a:close/>
                <a:moveTo>
                  <a:pt x="780" y="465"/>
                </a:moveTo>
                <a:lnTo>
                  <a:pt x="780" y="465"/>
                </a:lnTo>
                <a:lnTo>
                  <a:pt x="737" y="359"/>
                </a:lnTo>
                <a:lnTo>
                  <a:pt x="725" y="359"/>
                </a:lnTo>
                <a:lnTo>
                  <a:pt x="681" y="465"/>
                </a:lnTo>
                <a:lnTo>
                  <a:pt x="693" y="469"/>
                </a:lnTo>
                <a:lnTo>
                  <a:pt x="707" y="432"/>
                </a:lnTo>
                <a:lnTo>
                  <a:pt x="754" y="432"/>
                </a:lnTo>
                <a:lnTo>
                  <a:pt x="768" y="469"/>
                </a:lnTo>
                <a:lnTo>
                  <a:pt x="780" y="465"/>
                </a:lnTo>
                <a:lnTo>
                  <a:pt x="780" y="465"/>
                </a:lnTo>
                <a:close/>
                <a:moveTo>
                  <a:pt x="832" y="457"/>
                </a:moveTo>
                <a:lnTo>
                  <a:pt x="832" y="457"/>
                </a:lnTo>
                <a:lnTo>
                  <a:pt x="817" y="457"/>
                </a:lnTo>
                <a:lnTo>
                  <a:pt x="817" y="368"/>
                </a:lnTo>
                <a:lnTo>
                  <a:pt x="835" y="368"/>
                </a:lnTo>
                <a:cubicBezTo>
                  <a:pt x="865" y="368"/>
                  <a:pt x="884" y="383"/>
                  <a:pt x="884" y="412"/>
                </a:cubicBezTo>
                <a:cubicBezTo>
                  <a:pt x="884" y="440"/>
                  <a:pt x="864" y="457"/>
                  <a:pt x="832" y="457"/>
                </a:cubicBezTo>
                <a:lnTo>
                  <a:pt x="832" y="457"/>
                </a:lnTo>
                <a:close/>
                <a:moveTo>
                  <a:pt x="837" y="359"/>
                </a:moveTo>
                <a:lnTo>
                  <a:pt x="837" y="359"/>
                </a:lnTo>
                <a:lnTo>
                  <a:pt x="804" y="359"/>
                </a:lnTo>
                <a:lnTo>
                  <a:pt x="804" y="466"/>
                </a:lnTo>
                <a:lnTo>
                  <a:pt x="834" y="466"/>
                </a:lnTo>
                <a:cubicBezTo>
                  <a:pt x="871" y="466"/>
                  <a:pt x="896" y="448"/>
                  <a:pt x="896" y="411"/>
                </a:cubicBezTo>
                <a:cubicBezTo>
                  <a:pt x="896" y="385"/>
                  <a:pt x="881" y="359"/>
                  <a:pt x="837" y="359"/>
                </a:cubicBezTo>
                <a:lnTo>
                  <a:pt x="837" y="359"/>
                </a:lnTo>
                <a:close/>
                <a:moveTo>
                  <a:pt x="910" y="359"/>
                </a:moveTo>
                <a:lnTo>
                  <a:pt x="910" y="359"/>
                </a:lnTo>
                <a:lnTo>
                  <a:pt x="910" y="369"/>
                </a:lnTo>
                <a:lnTo>
                  <a:pt x="942" y="369"/>
                </a:lnTo>
                <a:lnTo>
                  <a:pt x="942" y="466"/>
                </a:lnTo>
                <a:lnTo>
                  <a:pt x="954" y="466"/>
                </a:lnTo>
                <a:lnTo>
                  <a:pt x="954" y="369"/>
                </a:lnTo>
                <a:lnTo>
                  <a:pt x="986" y="369"/>
                </a:lnTo>
                <a:lnTo>
                  <a:pt x="986" y="359"/>
                </a:lnTo>
                <a:lnTo>
                  <a:pt x="910" y="359"/>
                </a:lnTo>
                <a:close/>
              </a:path>
            </a:pathLst>
          </a:custGeom>
          <a:solidFill>
            <a:srgbClr val="000000"/>
          </a:solidFill>
          <a:ln w="0">
            <a:noFill/>
            <a:prstDash val="solid"/>
          </a:ln>
        </p:spPr>
        <p:txBody>
          <a:bodyPr vert="horz" wrap="square" lIns="91440" tIns="45720" rIns="91440" bIns="45720" anchor="t"/>
          <a:lstStyle/>
          <a:p>
            <a:endParaRPr sz="4267"/>
          </a:p>
        </p:txBody>
      </p:sp>
      <p:sp>
        <p:nvSpPr>
          <p:cNvPr id="21" name="Datumsplatzhalter 20">
            <a:extLst>
              <a:ext uri="{FF2B5EF4-FFF2-40B4-BE49-F238E27FC236}">
                <a16:creationId xmlns:a16="http://schemas.microsoft.com/office/drawing/2014/main" id="{AF9F05BC-ECE1-ED71-B285-6224B2166FAD}"/>
              </a:ext>
            </a:extLst>
          </p:cNvPr>
          <p:cNvSpPr>
            <a:spLocks noGrp="1"/>
          </p:cNvSpPr>
          <p:nvPr>
            <p:ph type="dt" idx="2"/>
          </p:nvPr>
        </p:nvSpPr>
        <p:spPr>
          <a:xfrm>
            <a:off x="360000" y="6558140"/>
            <a:ext cx="1439993" cy="180000"/>
          </a:xfrm>
          <a:prstGeom prst="rect">
            <a:avLst/>
          </a:prstGeom>
        </p:spPr>
        <p:txBody>
          <a:bodyPr vert="horz" lIns="0" tIns="45720" rIns="91440" bIns="45720" anchor="b"/>
          <a:lstStyle>
            <a:lvl1pPr algn="l">
              <a:buNone/>
              <a:defRPr sz="800" spc="80" baseline="0">
                <a:solidFill>
                  <a:schemeClr val="tx1">
                    <a:tint val="75000"/>
                  </a:schemeClr>
                </a:solidFill>
              </a:defRPr>
            </a:lvl1pPr>
          </a:lstStyle>
          <a:p>
            <a:fld id="{BD786294-496B-43CC-AAD9-6D12554B34CC}" type="datetime1">
              <a:t>30.08.26</a:t>
            </a:fld>
            <a:endParaRPr/>
          </a:p>
        </p:txBody>
      </p:sp>
      <p:sp>
        <p:nvSpPr>
          <p:cNvPr id="22" name="Fußzeilenplatzhalter 21">
            <a:extLst>
              <a:ext uri="{FF2B5EF4-FFF2-40B4-BE49-F238E27FC236}">
                <a16:creationId xmlns:a16="http://schemas.microsoft.com/office/drawing/2014/main" id="{3419663B-FA1A-D2AC-6FFB-FEF3AE171BA2}"/>
              </a:ext>
            </a:extLst>
          </p:cNvPr>
          <p:cNvSpPr>
            <a:spLocks noGrp="1"/>
          </p:cNvSpPr>
          <p:nvPr>
            <p:ph type="ftr" idx="3"/>
          </p:nvPr>
        </p:nvSpPr>
        <p:spPr>
          <a:xfrm>
            <a:off x="360000" y="359999"/>
            <a:ext cx="8976000" cy="190800"/>
          </a:xfrm>
          <a:prstGeom prst="rect">
            <a:avLst/>
          </a:prstGeom>
        </p:spPr>
        <p:txBody>
          <a:bodyPr vert="horz" lIns="0" tIns="0" rIns="0" bIns="0" anchor="t"/>
          <a:lstStyle>
            <a:lvl1pPr algn="l">
              <a:buNone/>
              <a:defRPr sz="1000" cap="all" spc="200" baseline="0">
                <a:solidFill>
                  <a:schemeClr val="tx1"/>
                </a:solidFill>
                <a:latin typeface="+mj-lt"/>
                <a:ea typeface="+mj-lt"/>
                <a:cs typeface="+mj-lt"/>
              </a:defRPr>
            </a:lvl1pPr>
          </a:lstStyle>
          <a:p>
            <a:r>
              <a:t>TITEL / AUTOR</a:t>
            </a:r>
          </a:p>
        </p:txBody>
      </p:sp>
      <p:sp>
        <p:nvSpPr>
          <p:cNvPr id="23" name="Foliennummernplatzhalter 22">
            <a:extLst>
              <a:ext uri="{FF2B5EF4-FFF2-40B4-BE49-F238E27FC236}">
                <a16:creationId xmlns:a16="http://schemas.microsoft.com/office/drawing/2014/main" id="{146D37BF-C929-35EB-9D31-617A9D8FE496}"/>
              </a:ext>
            </a:extLst>
          </p:cNvPr>
          <p:cNvSpPr>
            <a:spLocks noGrp="1"/>
          </p:cNvSpPr>
          <p:nvPr>
            <p:ph type="sldNum" idx="4"/>
          </p:nvPr>
        </p:nvSpPr>
        <p:spPr>
          <a:xfrm>
            <a:off x="10417905" y="6558140"/>
            <a:ext cx="1462304" cy="180000"/>
          </a:xfrm>
          <a:prstGeom prst="rect">
            <a:avLst/>
          </a:prstGeom>
        </p:spPr>
        <p:txBody>
          <a:bodyPr vert="horz" lIns="91440" tIns="45720" rIns="0" bIns="45720" anchor="b"/>
          <a:lstStyle>
            <a:lvl1pPr algn="r">
              <a:buNone/>
              <a:defRPr sz="800">
                <a:solidFill>
                  <a:schemeClr val="tx1">
                    <a:tint val="75000"/>
                  </a:schemeClr>
                </a:solidFill>
              </a:defRPr>
            </a:lvl1pPr>
          </a:lstStyle>
          <a:p>
            <a:fld id="{DD2F4C09-65E4-4AD7-8D55-83CBD210ED85}" type="slidenum">
              <a:t>‹#›</a:t>
            </a:fld>
            <a:endParaRPr/>
          </a:p>
        </p:txBody>
      </p:sp>
      <p:sp>
        <p:nvSpPr>
          <p:cNvPr id="5" name="Fußzeilenplatzhalter 21">
            <a:extLst>
              <a:ext uri="{FF2B5EF4-FFF2-40B4-BE49-F238E27FC236}">
                <a16:creationId xmlns:a16="http://schemas.microsoft.com/office/drawing/2014/main" id="{7D283BE2-FBCB-712B-618D-52A485BD70FD}"/>
              </a:ext>
            </a:extLst>
          </p:cNvPr>
          <p:cNvSpPr>
            <a:spLocks noGrp="1"/>
          </p:cNvSpPr>
          <p:nvPr/>
        </p:nvSpPr>
        <p:spPr>
          <a:xfrm>
            <a:off x="2134800" y="6563539"/>
            <a:ext cx="7920000" cy="180000"/>
          </a:xfrm>
          <a:prstGeom prst="rect">
            <a:avLst/>
          </a:prstGeom>
        </p:spPr>
        <p:txBody>
          <a:bodyPr vert="horz" lIns="91440" tIns="45720" rIns="91440" bIns="45720" anchor="b"/>
          <a:lstStyle>
            <a:lvl1pPr marL="0" algn="ctr" defTabSz="914400">
              <a:buNone/>
              <a:defRPr sz="800" kern="1200" spc="40" baseline="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t>Hardware for Artificial Intelligence</a:t>
            </a:r>
          </a:p>
        </p:txBody>
      </p:sp>
      <p:sp>
        <p:nvSpPr>
          <p:cNvPr id="4" name="Textfeld 3">
            <a:extLst>
              <a:ext uri="{FF2B5EF4-FFF2-40B4-BE49-F238E27FC236}">
                <a16:creationId xmlns:a16="http://schemas.microsoft.com/office/drawing/2014/main" id="{2464CF79-8FDD-5303-2D83-D41AB90816E0}"/>
              </a:ext>
            </a:extLst>
          </p:cNvPr>
          <p:cNvSpPr>
            <a:spLocks noGrp="1"/>
          </p:cNvSpPr>
          <p:nvPr/>
        </p:nvSpPr>
        <p:spPr>
          <a:xfrm>
            <a:off x="8256000" y="1629000"/>
            <a:ext cx="1080000" cy="369332"/>
          </a:xfrm>
          <a:prstGeom prst="rect">
            <a:avLst/>
          </a:prstGeom>
          <a:noFill/>
        </p:spPr>
        <p:txBody>
          <a:bodyPr wrap="square">
            <a:spAutoFit/>
          </a:body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a:lnSpc>
          <a:spcPct val="80000"/>
        </a:lnSpc>
        <a:spcBef>
          <a:spcPct val="0"/>
        </a:spcBef>
        <a:buNone/>
        <a:defRPr sz="4200" kern="1200" cap="all" baseline="0">
          <a:solidFill>
            <a:schemeClr val="tx1"/>
          </a:solidFill>
          <a:latin typeface="Arial Black"/>
          <a:ea typeface="Arial Black"/>
          <a:cs typeface="Arial Black"/>
        </a:defRPr>
      </a:lvl1pPr>
    </p:titleStyle>
    <p:bodyStyle>
      <a:lvl1pPr marL="228600" indent="-228600" algn="l" defTabSz="914400">
        <a:lnSpc>
          <a:spcPct val="100000"/>
        </a:lnSpc>
        <a:spcBef>
          <a:spcPts val="1000"/>
        </a:spcBef>
        <a:buFont typeface="Wingdings"/>
        <a:buChar char="§"/>
        <a:defRPr sz="2000" kern="1200" spc="40" baseline="0">
          <a:solidFill>
            <a:schemeClr val="tx1"/>
          </a:solidFill>
          <a:latin typeface="+mn-lt"/>
          <a:ea typeface="+mn-lt"/>
          <a:cs typeface="+mn-lt"/>
        </a:defRPr>
      </a:lvl1pPr>
      <a:lvl2pPr marL="685800" indent="-228600" algn="l" defTabSz="914400">
        <a:lnSpc>
          <a:spcPct val="100000"/>
        </a:lnSpc>
        <a:spcBef>
          <a:spcPts val="500"/>
        </a:spcBef>
        <a:buFont typeface="Wingdings"/>
        <a:buChar char="§"/>
        <a:defRPr sz="1800" kern="1200" spc="40" baseline="0">
          <a:solidFill>
            <a:schemeClr val="tx1"/>
          </a:solidFill>
          <a:latin typeface="+mn-lt"/>
          <a:ea typeface="+mn-lt"/>
          <a:cs typeface="+mn-lt"/>
        </a:defRPr>
      </a:lvl2pPr>
      <a:lvl3pPr marL="1143000" indent="-228600" algn="l" defTabSz="914400">
        <a:lnSpc>
          <a:spcPct val="100000"/>
        </a:lnSpc>
        <a:spcBef>
          <a:spcPts val="500"/>
        </a:spcBef>
        <a:buFont typeface="Wingdings"/>
        <a:buChar char="§"/>
        <a:defRPr sz="1800" kern="1200" spc="40" baseline="0">
          <a:solidFill>
            <a:schemeClr val="tx1"/>
          </a:solidFill>
          <a:latin typeface="+mn-lt"/>
          <a:ea typeface="+mn-lt"/>
          <a:cs typeface="+mn-lt"/>
        </a:defRPr>
      </a:lvl3pPr>
      <a:lvl4pPr marL="1600200" indent="-228600" algn="l" defTabSz="914400">
        <a:lnSpc>
          <a:spcPct val="100000"/>
        </a:lnSpc>
        <a:spcBef>
          <a:spcPts val="500"/>
        </a:spcBef>
        <a:buFont typeface="Wingdings"/>
        <a:buChar char="§"/>
        <a:defRPr sz="1800" kern="1200" spc="40" baseline="0">
          <a:solidFill>
            <a:schemeClr val="tx1"/>
          </a:solidFill>
          <a:latin typeface="+mn-lt"/>
          <a:ea typeface="+mn-lt"/>
          <a:cs typeface="+mn-lt"/>
        </a:defRPr>
      </a:lvl4pPr>
      <a:lvl5pPr marL="2057400" indent="-228600" algn="l" defTabSz="914400">
        <a:lnSpc>
          <a:spcPct val="100000"/>
        </a:lnSpc>
        <a:spcBef>
          <a:spcPts val="500"/>
        </a:spcBef>
        <a:buFont typeface="Wingdings"/>
        <a:buChar char="§"/>
        <a:defRPr sz="1800" kern="1200" spc="40" baseline="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image" Target="../media/image4.svg"/><Relationship Id="rId5" Type="http://schemas.openxmlformats.org/officeDocument/2006/relationships/diagramQuickStyle" Target="../diagrams/quickStyle1.xml"/><Relationship Id="rId10" Type="http://schemas.openxmlformats.org/officeDocument/2006/relationships/image" Target="../media/image3.png"/><Relationship Id="rId4" Type="http://schemas.openxmlformats.org/officeDocument/2006/relationships/diagramLayout" Target="../diagrams/layout1.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3D62D7-BAFC-3808-8E2D-56CF029321C3}"/>
              </a:ext>
            </a:extLst>
          </p:cNvPr>
          <p:cNvSpPr>
            <a:spLocks noGrp="1"/>
          </p:cNvSpPr>
          <p:nvPr>
            <p:ph type="title"/>
          </p:nvPr>
        </p:nvSpPr>
        <p:spPr>
          <a:xfrm>
            <a:off x="323850" y="914400"/>
            <a:ext cx="8858250" cy="819150"/>
          </a:xfrm>
        </p:spPr>
        <p:txBody>
          <a:bodyPr lIns="0" tIns="0" rIns="0" bIns="0" anchor="t">
            <a:noAutofit/>
          </a:bodyPr>
          <a:lstStyle/>
          <a:p>
            <a:pPr marL="0" indent="0" algn="l">
              <a:lnSpc>
                <a:spcPct val="88000"/>
              </a:lnSpc>
              <a:buNone/>
              <a:defRPr sz="3000" b="1">
                <a:solidFill>
                  <a:srgbClr val="000000"/>
                </a:solidFill>
                <a:latin typeface="Arial Black"/>
                <a:ea typeface="Arial Black"/>
                <a:cs typeface="Arial Black"/>
              </a:defRPr>
            </a:pPr>
            <a:r>
              <a:rPr sz="3200" b="1" dirty="0">
                <a:solidFill>
                  <a:srgbClr val="000000"/>
                </a:solidFill>
                <a:latin typeface="Times New Roman" panose="02020603050405020304" pitchFamily="18" charset="0"/>
                <a:cs typeface="Times New Roman" panose="02020603050405020304" pitchFamily="18" charset="0"/>
              </a:rPr>
              <a:t>SANZI: LOCAL DEPLOYMENT OF </a:t>
            </a:r>
            <a:r>
              <a:rPr lang="de-DE" sz="3200" b="1" dirty="0">
                <a:solidFill>
                  <a:srgbClr val="000000"/>
                </a:solidFill>
                <a:latin typeface="Times New Roman" panose="02020603050405020304" pitchFamily="18" charset="0"/>
                <a:cs typeface="Times New Roman" panose="02020603050405020304" pitchFamily="18" charset="0"/>
              </a:rPr>
              <a:t>TINY</a:t>
            </a:r>
            <a:r>
              <a:rPr sz="3200" b="1" dirty="0">
                <a:solidFill>
                  <a:srgbClr val="000000"/>
                </a:solidFill>
                <a:latin typeface="Times New Roman" panose="02020603050405020304" pitchFamily="18" charset="0"/>
                <a:cs typeface="Times New Roman" panose="02020603050405020304" pitchFamily="18" charset="0"/>
              </a:rPr>
              <a:t>
LANGUAGE MODELS ON AN APPLE M1</a:t>
            </a:r>
          </a:p>
        </p:txBody>
      </p:sp>
      <p:sp>
        <p:nvSpPr>
          <p:cNvPr id="5" name="灯片编号占位符 4">
            <a:extLst>
              <a:ext uri="{FF2B5EF4-FFF2-40B4-BE49-F238E27FC236}">
                <a16:creationId xmlns:a16="http://schemas.microsoft.com/office/drawing/2014/main" id="{26DDCDAA-BB86-4D16-B70D-41640323B462}"/>
              </a:ext>
            </a:extLst>
          </p:cNvPr>
          <p:cNvSpPr>
            <a:spLocks noGrp="1"/>
          </p:cNvSpPr>
          <p:nvPr>
            <p:ph type="sldNum" idx="12"/>
          </p:nvPr>
        </p:nvSpPr>
        <p:spPr/>
        <p:txBody>
          <a:bodyPr/>
          <a:lstStyle/>
          <a:p>
            <a:fld id="{AD75FED6-38D0-DE9C-92C0-6E7FA635581C}" type="slidenum">
              <a:rPr>
                <a:latin typeface="Times New Roman" panose="02020603050405020304" pitchFamily="18" charset="0"/>
                <a:cs typeface="Times New Roman" panose="02020603050405020304" pitchFamily="18" charset="0"/>
              </a:rPr>
              <a:t>1</a:t>
            </a:fld>
            <a:endParaRPr>
              <a:latin typeface="Times New Roman" panose="02020603050405020304" pitchFamily="18" charset="0"/>
              <a:cs typeface="Times New Roman" panose="02020603050405020304" pitchFamily="18" charset="0"/>
            </a:endParaRPr>
          </a:p>
        </p:txBody>
      </p:sp>
      <p:sp>
        <p:nvSpPr>
          <p:cNvPr id="6" name="SANZI subtitle">
            <a:extLst>
              <a:ext uri="{FF2B5EF4-FFF2-40B4-BE49-F238E27FC236}">
                <a16:creationId xmlns:a16="http://schemas.microsoft.com/office/drawing/2014/main" id="{E6CF610E-4E48-4C4E-8049-E08F42A5221B}"/>
              </a:ext>
            </a:extLst>
          </p:cNvPr>
          <p:cNvSpPr>
            <a:spLocks noGrp="1"/>
          </p:cNvSpPr>
          <p:nvPr/>
        </p:nvSpPr>
        <p:spPr>
          <a:xfrm>
            <a:off x="323850" y="1714500"/>
            <a:ext cx="6667500" cy="323850"/>
          </a:xfrm>
          <a:prstGeom prst="rect">
            <a:avLst/>
          </a:prstGeom>
          <a:noFill/>
          <a:ln w="0">
            <a:noFill/>
            <a:prstDash val="solid"/>
          </a:ln>
        </p:spPr>
        <p:txBody>
          <a:bodyPr lIns="0" tIns="0" rIns="0" bIns="0" anchor="t">
            <a:noAutofit/>
          </a:bodyPr>
          <a:lstStyle/>
          <a:p>
            <a:pPr marL="0" indent="0" algn="l">
              <a:lnSpc>
                <a:spcPct val="100000"/>
              </a:lnSpc>
              <a:buNone/>
              <a:defRPr sz="1875" i="1">
                <a:solidFill>
                  <a:srgbClr val="000000"/>
                </a:solidFill>
                <a:latin typeface="Times New Roman"/>
                <a:ea typeface="Times New Roman"/>
                <a:cs typeface="Times New Roman"/>
              </a:defRPr>
            </a:pPr>
            <a:r>
              <a:rPr dirty="0">
                <a:solidFill>
                  <a:srgbClr val="000000"/>
                </a:solidFill>
                <a:latin typeface="Times New Roman" panose="02020603050405020304" pitchFamily="18" charset="0"/>
                <a:ea typeface="Times New Roman"/>
                <a:cs typeface="Times New Roman" panose="02020603050405020304" pitchFamily="18" charset="0"/>
              </a:rPr>
              <a:t>LOCAL LLM INFERENCE ON MACBOOK AIR (M1)</a:t>
            </a:r>
          </a:p>
        </p:txBody>
      </p:sp>
      <p:sp>
        <p:nvSpPr>
          <p:cNvPr id="8" name="Presenter details">
            <a:extLst>
              <a:ext uri="{FF2B5EF4-FFF2-40B4-BE49-F238E27FC236}">
                <a16:creationId xmlns:a16="http://schemas.microsoft.com/office/drawing/2014/main" id="{3F28DF69-C06F-4175-A1B5-D60623832284}"/>
              </a:ext>
            </a:extLst>
          </p:cNvPr>
          <p:cNvSpPr>
            <a:spLocks noGrp="1"/>
          </p:cNvSpPr>
          <p:nvPr/>
        </p:nvSpPr>
        <p:spPr>
          <a:xfrm>
            <a:off x="361950" y="4663284"/>
            <a:ext cx="4953000" cy="1000125"/>
          </a:xfrm>
          <a:prstGeom prst="rect">
            <a:avLst/>
          </a:prstGeom>
          <a:noFill/>
          <a:ln w="0">
            <a:noFill/>
            <a:prstDash val="solid"/>
          </a:ln>
        </p:spPr>
        <p:txBody>
          <a:bodyPr lIns="0" tIns="0" rIns="0" bIns="0" anchor="t">
            <a:noAutofit/>
          </a:bodyPr>
          <a:lstStyle/>
          <a:p>
            <a:pPr marL="0" indent="0" algn="l">
              <a:lnSpc>
                <a:spcPct val="100000"/>
              </a:lnSpc>
              <a:spcAft>
                <a:spcPts val="28"/>
              </a:spcAft>
              <a:buNone/>
              <a:defRPr sz="1950">
                <a:solidFill>
                  <a:srgbClr val="000000"/>
                </a:solidFill>
                <a:latin typeface="Times New Roman"/>
                <a:ea typeface="Times New Roman"/>
                <a:cs typeface="Times New Roman"/>
              </a:defRPr>
            </a:pPr>
            <a:r>
              <a:rPr sz="2000" b="1" dirty="0">
                <a:solidFill>
                  <a:srgbClr val="000000"/>
                </a:solidFill>
                <a:latin typeface="Times New Roman" panose="02020603050405020304" pitchFamily="18" charset="0"/>
                <a:ea typeface="Times New Roman"/>
                <a:cs typeface="Times New Roman" panose="02020603050405020304" pitchFamily="18" charset="0"/>
              </a:rPr>
              <a:t>Presented by:</a:t>
            </a:r>
          </a:p>
          <a:p>
            <a:pPr marL="0" indent="0" algn="l">
              <a:lnSpc>
                <a:spcPct val="100000"/>
              </a:lnSpc>
              <a:buNone/>
              <a:defRPr sz="1950">
                <a:solidFill>
                  <a:srgbClr val="000000"/>
                </a:solidFill>
                <a:latin typeface="Times New Roman"/>
                <a:ea typeface="Times New Roman"/>
                <a:cs typeface="Times New Roman"/>
              </a:defRPr>
            </a:pPr>
            <a:r>
              <a:rPr sz="2000" dirty="0">
                <a:solidFill>
                  <a:srgbClr val="000000"/>
                </a:solidFill>
                <a:latin typeface="Times New Roman" panose="02020603050405020304" pitchFamily="18" charset="0"/>
                <a:ea typeface="Times New Roman"/>
                <a:cs typeface="Times New Roman" panose="02020603050405020304" pitchFamily="18" charset="0"/>
              </a:rPr>
              <a:t>Muhammad Hasan Al Banna</a:t>
            </a:r>
          </a:p>
          <a:p>
            <a:pPr marL="0" indent="0" algn="l">
              <a:lnSpc>
                <a:spcPct val="100000"/>
              </a:lnSpc>
              <a:buNone/>
              <a:defRPr sz="1950">
                <a:solidFill>
                  <a:srgbClr val="000000"/>
                </a:solidFill>
                <a:latin typeface="Times New Roman"/>
                <a:ea typeface="Times New Roman"/>
                <a:cs typeface="Times New Roman"/>
              </a:defRPr>
            </a:pPr>
            <a:r>
              <a:rPr sz="2000" dirty="0">
                <a:solidFill>
                  <a:srgbClr val="000000"/>
                </a:solidFill>
                <a:latin typeface="Times New Roman" panose="02020603050405020304" pitchFamily="18" charset="0"/>
                <a:ea typeface="Times New Roman"/>
                <a:cs typeface="Times New Roman" panose="02020603050405020304" pitchFamily="18" charset="0"/>
              </a:rPr>
              <a:t>Matriculation no: 2951869</a:t>
            </a:r>
          </a:p>
        </p:txBody>
      </p:sp>
      <p:sp>
        <p:nvSpPr>
          <p:cNvPr id="9" name="Project supervisor">
            <a:extLst>
              <a:ext uri="{FF2B5EF4-FFF2-40B4-BE49-F238E27FC236}">
                <a16:creationId xmlns:a16="http://schemas.microsoft.com/office/drawing/2014/main" id="{4733A8D9-DE98-4A48-90AE-ED81A182F17A}"/>
              </a:ext>
            </a:extLst>
          </p:cNvPr>
          <p:cNvSpPr>
            <a:spLocks noGrp="1"/>
          </p:cNvSpPr>
          <p:nvPr/>
        </p:nvSpPr>
        <p:spPr>
          <a:xfrm>
            <a:off x="361950" y="5958876"/>
            <a:ext cx="4953000" cy="361950"/>
          </a:xfrm>
          <a:prstGeom prst="rect">
            <a:avLst/>
          </a:prstGeom>
          <a:noFill/>
          <a:ln w="0">
            <a:noFill/>
            <a:prstDash val="solid"/>
          </a:ln>
        </p:spPr>
        <p:txBody>
          <a:bodyPr lIns="0" tIns="0" rIns="0" bIns="0" anchor="t">
            <a:noAutofit/>
          </a:bodyPr>
          <a:lstStyle/>
          <a:p>
            <a:pPr marL="0" indent="0" algn="l">
              <a:lnSpc>
                <a:spcPct val="100000"/>
              </a:lnSpc>
              <a:buNone/>
              <a:defRPr sz="1950">
                <a:solidFill>
                  <a:srgbClr val="000000"/>
                </a:solidFill>
                <a:latin typeface="Times New Roman"/>
                <a:ea typeface="Times New Roman"/>
                <a:cs typeface="Times New Roman"/>
              </a:defRPr>
            </a:pPr>
            <a:r>
              <a:rPr sz="2000" dirty="0">
                <a:solidFill>
                  <a:srgbClr val="000000"/>
                </a:solidFill>
                <a:latin typeface="Times New Roman" panose="02020603050405020304" pitchFamily="18" charset="0"/>
                <a:ea typeface="Times New Roman"/>
                <a:cs typeface="Times New Roman" panose="02020603050405020304" pitchFamily="18" charset="0"/>
              </a:rPr>
              <a:t>Project Supervisor: M.Sc. </a:t>
            </a:r>
            <a:r>
              <a:rPr sz="2000" dirty="0" err="1">
                <a:solidFill>
                  <a:srgbClr val="000000"/>
                </a:solidFill>
                <a:latin typeface="Times New Roman" panose="02020603050405020304" pitchFamily="18" charset="0"/>
                <a:ea typeface="Times New Roman"/>
                <a:cs typeface="Times New Roman" panose="02020603050405020304" pitchFamily="18" charset="0"/>
              </a:rPr>
              <a:t>Jingcun</a:t>
            </a:r>
            <a:r>
              <a:rPr sz="2000" dirty="0">
                <a:solidFill>
                  <a:srgbClr val="000000"/>
                </a:solidFill>
                <a:latin typeface="Times New Roman" panose="02020603050405020304" pitchFamily="18" charset="0"/>
                <a:ea typeface="Times New Roman"/>
                <a:cs typeface="Times New Roman" panose="02020603050405020304" pitchFamily="18" charset="0"/>
              </a:rPr>
              <a:t> Wang</a:t>
            </a:r>
          </a:p>
        </p:txBody>
      </p:sp>
      <p:sp>
        <p:nvSpPr>
          <p:cNvPr id="10" name="Presentation date">
            <a:extLst>
              <a:ext uri="{FF2B5EF4-FFF2-40B4-BE49-F238E27FC236}">
                <a16:creationId xmlns:a16="http://schemas.microsoft.com/office/drawing/2014/main" id="{D1223CF5-B21E-41AF-BAAE-5D6D4FC24435}"/>
              </a:ext>
            </a:extLst>
          </p:cNvPr>
          <p:cNvSpPr>
            <a:spLocks noGrp="1"/>
          </p:cNvSpPr>
          <p:nvPr/>
        </p:nvSpPr>
        <p:spPr>
          <a:xfrm>
            <a:off x="361950" y="6572250"/>
            <a:ext cx="952500" cy="152400"/>
          </a:xfrm>
          <a:prstGeom prst="rect">
            <a:avLst/>
          </a:prstGeom>
          <a:noFill/>
          <a:ln w="0">
            <a:noFill/>
            <a:prstDash val="solid"/>
          </a:ln>
        </p:spPr>
        <p:txBody>
          <a:bodyPr lIns="0" tIns="0" rIns="0" bIns="0" anchor="t">
            <a:noAutofit/>
          </a:bodyPr>
          <a:lstStyle/>
          <a:p>
            <a:pPr marL="0" indent="0" algn="l">
              <a:buNone/>
              <a:defRPr sz="825">
                <a:solidFill>
                  <a:srgbClr val="8A8A8A"/>
                </a:solidFill>
                <a:latin typeface="Arial"/>
                <a:ea typeface="Arial"/>
                <a:cs typeface="Arial"/>
              </a:defRPr>
            </a:pPr>
            <a:r>
              <a:rPr sz="825">
                <a:solidFill>
                  <a:srgbClr val="8A8A8A"/>
                </a:solidFill>
                <a:latin typeface="Times New Roman" panose="02020603050405020304" pitchFamily="18" charset="0"/>
                <a:ea typeface="Arial"/>
                <a:cs typeface="Times New Roman" panose="02020603050405020304" pitchFamily="18" charset="0"/>
              </a:rPr>
              <a:t>30.06.2026</a:t>
            </a:r>
          </a:p>
        </p:txBody>
      </p:sp>
      <p:sp>
        <p:nvSpPr>
          <p:cNvPr id="3" name="TextBox 2">
            <a:extLst>
              <a:ext uri="{FF2B5EF4-FFF2-40B4-BE49-F238E27FC236}">
                <a16:creationId xmlns:a16="http://schemas.microsoft.com/office/drawing/2014/main" id="{27427CB4-50F1-4A2A-F59E-51ED361D872A}"/>
              </a:ext>
            </a:extLst>
          </p:cNvPr>
          <p:cNvSpPr txBox="1"/>
          <p:nvPr/>
        </p:nvSpPr>
        <p:spPr>
          <a:xfrm>
            <a:off x="1366836" y="8067674"/>
            <a:ext cx="9769163" cy="954107"/>
          </a:xfrm>
          <a:prstGeom prst="rect">
            <a:avLst/>
          </a:prstGeom>
          <a:noFill/>
        </p:spPr>
        <p:txBody>
          <a:bodyPr wrap="square" rtlCol="0">
            <a:spAutoFit/>
          </a:bodyPr>
          <a:lstStyle/>
          <a:p>
            <a:endParaRPr lang="en-DE" sz="2000" b="1" dirty="0">
              <a:latin typeface="Times New Roman" panose="02020603050405020304" pitchFamily="18" charset="0"/>
              <a:cs typeface="Times New Roman" panose="02020603050405020304" pitchFamily="18" charset="0"/>
            </a:endParaRPr>
          </a:p>
          <a:p>
            <a:r>
              <a:rPr lang="en-DE" dirty="0">
                <a:latin typeface="Times New Roman" panose="02020603050405020304" pitchFamily="18" charset="0"/>
                <a:cs typeface="Times New Roman" panose="02020603050405020304" pitchFamily="18" charset="0"/>
              </a:rPr>
              <a:t>:, without using Ollama or llama.cpp. </a:t>
            </a:r>
          </a:p>
          <a:p>
            <a:r>
              <a:rPr lang="en-DE" dirty="0">
                <a:latin typeface="Times New Roman" panose="02020603050405020304" pitchFamily="18" charset="0"/>
                <a:cs typeface="Times New Roman" panose="02020603050405020304" pitchFamily="18" charset="0"/>
              </a:rPr>
              <a:t>:</a:t>
            </a:r>
            <a:r>
              <a:rPr lang="en-GB" dirty="0">
                <a:latin typeface="Times New Roman" panose="02020603050405020304" pitchFamily="18" charset="0"/>
                <a:cs typeface="Times New Roman" panose="02020603050405020304" pitchFamily="18" charset="0"/>
              </a:rPr>
              <a:t>.</a:t>
            </a:r>
            <a:endParaRPr lang="en-DE" dirty="0">
              <a:latin typeface="Times New Roman" panose="02020603050405020304" pitchFamily="18" charset="0"/>
              <a:cs typeface="Times New Roman" panose="02020603050405020304" pitchFamily="18" charset="0"/>
            </a:endParaRPr>
          </a:p>
        </p:txBody>
      </p:sp>
      <p:graphicFrame>
        <p:nvGraphicFramePr>
          <p:cNvPr id="14" name="Diagram 13">
            <a:extLst>
              <a:ext uri="{FF2B5EF4-FFF2-40B4-BE49-F238E27FC236}">
                <a16:creationId xmlns:a16="http://schemas.microsoft.com/office/drawing/2014/main" id="{B286A8F4-2392-A5DD-4ECA-C01A962C3171}"/>
              </a:ext>
            </a:extLst>
          </p:cNvPr>
          <p:cNvGraphicFramePr/>
          <p:nvPr>
            <p:extLst>
              <p:ext uri="{D42A27DB-BD31-4B8C-83A1-F6EECF244321}">
                <p14:modId xmlns:p14="http://schemas.microsoft.com/office/powerpoint/2010/main" val="3190808510"/>
              </p:ext>
            </p:extLst>
          </p:nvPr>
        </p:nvGraphicFramePr>
        <p:xfrm>
          <a:off x="5829789" y="3467039"/>
          <a:ext cx="6050420" cy="31096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TextBox 15">
            <a:extLst>
              <a:ext uri="{FF2B5EF4-FFF2-40B4-BE49-F238E27FC236}">
                <a16:creationId xmlns:a16="http://schemas.microsoft.com/office/drawing/2014/main" id="{CDDD62CD-A704-73DC-ED62-680F2A8B9E16}"/>
              </a:ext>
            </a:extLst>
          </p:cNvPr>
          <p:cNvSpPr txBox="1"/>
          <p:nvPr/>
        </p:nvSpPr>
        <p:spPr>
          <a:xfrm>
            <a:off x="6551967" y="2453046"/>
            <a:ext cx="4536501" cy="523220"/>
          </a:xfrm>
          <a:prstGeom prst="rect">
            <a:avLst/>
          </a:prstGeom>
          <a:noFill/>
        </p:spPr>
        <p:txBody>
          <a:bodyPr wrap="square" rtlCol="0">
            <a:spAutoFit/>
          </a:bodyPr>
          <a:lstStyle/>
          <a:p>
            <a:r>
              <a:rPr lang="en-DE" sz="2800" b="1" dirty="0">
                <a:latin typeface="Times New Roman" panose="02020603050405020304" pitchFamily="18" charset="0"/>
                <a:cs typeface="Times New Roman" panose="02020603050405020304" pitchFamily="18" charset="0"/>
              </a:rPr>
              <a:t>PROJECT AT A GLANCE</a:t>
            </a:r>
            <a:endParaRPr lang="en-DE" sz="2800" dirty="0">
              <a:latin typeface="Times New Roman" panose="02020603050405020304" pitchFamily="18" charset="0"/>
              <a:cs typeface="Times New Roman" panose="02020603050405020304" pitchFamily="18" charset="0"/>
            </a:endParaRPr>
          </a:p>
        </p:txBody>
      </p:sp>
      <p:sp>
        <p:nvSpPr>
          <p:cNvPr id="7" name="Two Local Models card">
            <a:extLst>
              <a:ext uri="{FF2B5EF4-FFF2-40B4-BE49-F238E27FC236}">
                <a16:creationId xmlns:a16="http://schemas.microsoft.com/office/drawing/2014/main" id="{D1B8EA4C-A95E-58EF-D687-595713F1E808}"/>
              </a:ext>
            </a:extLst>
          </p:cNvPr>
          <p:cNvSpPr>
            <a:spLocks noGrp="1"/>
          </p:cNvSpPr>
          <p:nvPr/>
        </p:nvSpPr>
        <p:spPr>
          <a:xfrm>
            <a:off x="5829788" y="2397462"/>
            <a:ext cx="6026211" cy="634388"/>
          </a:xfrm>
          <a:prstGeom prst="roundRect">
            <a:avLst>
              <a:gd name="adj" fmla="val 4167"/>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541422D6-6FFF-26EE-797E-6FEAF5F74CFC}"/>
              </a:ext>
            </a:extLst>
          </p:cNvPr>
          <p:cNvPicPr>
            <a:picLocks noChangeAspect="1"/>
          </p:cNvPicPr>
          <p:nvPr/>
        </p:nvPicPr>
        <p:blipFill>
          <a:blip r:embed="rId8"/>
          <a:stretch>
            <a:fillRect/>
          </a:stretch>
        </p:blipFill>
        <p:spPr>
          <a:xfrm>
            <a:off x="6019503" y="3349667"/>
            <a:ext cx="1248034" cy="585616"/>
          </a:xfrm>
          <a:prstGeom prst="rect">
            <a:avLst/>
          </a:prstGeom>
        </p:spPr>
      </p:pic>
      <p:pic>
        <p:nvPicPr>
          <p:cNvPr id="17" name="Picture 16">
            <a:extLst>
              <a:ext uri="{FF2B5EF4-FFF2-40B4-BE49-F238E27FC236}">
                <a16:creationId xmlns:a16="http://schemas.microsoft.com/office/drawing/2014/main" id="{089F79DA-8887-19FC-56E6-2D689C5C9078}"/>
              </a:ext>
            </a:extLst>
          </p:cNvPr>
          <p:cNvPicPr>
            <a:picLocks noChangeAspect="1"/>
          </p:cNvPicPr>
          <p:nvPr/>
        </p:nvPicPr>
        <p:blipFill>
          <a:blip r:embed="rId9"/>
          <a:stretch>
            <a:fillRect/>
          </a:stretch>
        </p:blipFill>
        <p:spPr>
          <a:xfrm>
            <a:off x="8451751" y="3429000"/>
            <a:ext cx="773849" cy="585616"/>
          </a:xfrm>
          <a:prstGeom prst="rect">
            <a:avLst/>
          </a:prstGeom>
        </p:spPr>
      </p:pic>
      <p:pic>
        <p:nvPicPr>
          <p:cNvPr id="18" name="Picture 17">
            <a:extLst>
              <a:ext uri="{FF2B5EF4-FFF2-40B4-BE49-F238E27FC236}">
                <a16:creationId xmlns:a16="http://schemas.microsoft.com/office/drawing/2014/main" id="{88E0DB12-C637-8609-805D-E3E8DE78711B}"/>
              </a:ext>
            </a:extLst>
          </p:cNvPr>
          <p:cNvPicPr>
            <a:picLocks noChangeAspect="1"/>
          </p:cNvPicPr>
          <p:nvPr/>
        </p:nvPicPr>
        <p:blipFill>
          <a:blip r:embed="rId10"/>
          <a:srcRect l="8" r="8"/>
          <a:stretch>
            <a:fillRect/>
          </a:stretch>
        </p:blipFill>
        <p:spPr>
          <a:xfrm>
            <a:off x="361950" y="2533650"/>
            <a:ext cx="2143125" cy="1800225"/>
          </a:xfrm>
          <a:prstGeom prst="rect">
            <a:avLst/>
          </a:prstGeom>
        </p:spPr>
      </p:pic>
      <p:pic>
        <p:nvPicPr>
          <p:cNvPr id="12" name="Graphic 11" descr="Processor outline">
            <a:extLst>
              <a:ext uri="{FF2B5EF4-FFF2-40B4-BE49-F238E27FC236}">
                <a16:creationId xmlns:a16="http://schemas.microsoft.com/office/drawing/2014/main" id="{0F44074F-0D3A-F0B9-F2D2-7140E930CAC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416000" y="3402566"/>
            <a:ext cx="773849" cy="593778"/>
          </a:xfrm>
          <a:prstGeom prst="rect">
            <a:avLst/>
          </a:prstGeom>
        </p:spPr>
      </p:pic>
    </p:spTree>
    <p:extLst>
      <p:ext uri="{BB962C8B-B14F-4D97-AF65-F5344CB8AC3E}">
        <p14:creationId xmlns:p14="http://schemas.microsoft.com/office/powerpoint/2010/main" val="211996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0009-4ECA-306A-DE8A-ACB57510EAF2}"/>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70DC1F02-6242-7802-8C11-32D3770AB0F0}"/>
              </a:ext>
            </a:extLst>
          </p:cNvPr>
          <p:cNvSpPr>
            <a:spLocks noGrp="1"/>
          </p:cNvSpPr>
          <p:nvPr>
            <p:ph type="title"/>
          </p:nvPr>
        </p:nvSpPr>
        <p:spPr>
          <a:xfrm>
            <a:off x="381000" y="419100"/>
            <a:ext cx="7810500" cy="666750"/>
          </a:xfrm>
        </p:spPr>
        <p:txBody>
          <a:bodyPr lIns="0" tIns="0" rIns="0" bIns="0" anchor="t">
            <a:noAutofit/>
          </a:bodyPr>
          <a:lstStyle/>
          <a:p>
            <a:pPr marL="0" indent="0" algn="l">
              <a:buNone/>
              <a:defRPr sz="360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PRESENTATION ROADMAP</a:t>
            </a:r>
          </a:p>
        </p:txBody>
      </p:sp>
      <p:sp>
        <p:nvSpPr>
          <p:cNvPr id="15" name="灯片编号占位符 4">
            <a:extLst>
              <a:ext uri="{FF2B5EF4-FFF2-40B4-BE49-F238E27FC236}">
                <a16:creationId xmlns:a16="http://schemas.microsoft.com/office/drawing/2014/main" id="{F83F162A-C7C0-4A14-3E9F-E4D2F435E727}"/>
              </a:ext>
            </a:extLst>
          </p:cNvPr>
          <p:cNvSpPr>
            <a:spLocks noGrp="1"/>
          </p:cNvSpPr>
          <p:nvPr>
            <p:ph type="sldNum" idx="12"/>
          </p:nvPr>
        </p:nvSpPr>
        <p:spPr>
          <a:xfrm>
            <a:off x="10417905" y="6558140"/>
            <a:ext cx="1462304" cy="180000"/>
          </a:xfrm>
        </p:spPr>
        <p:txBody>
          <a:bodyPr/>
          <a:lstStyle/>
          <a:p>
            <a:fld id="{E2598689-54C9-18A7-3A19-ED76AA08988F}" type="slidenum">
              <a:rPr>
                <a:latin typeface="Times New Roman" panose="02020603050405020304" pitchFamily="18" charset="0"/>
                <a:cs typeface="Times New Roman" panose="02020603050405020304" pitchFamily="18" charset="0"/>
              </a:rPr>
              <a:t>2</a:t>
            </a:fld>
            <a:endParaRPr>
              <a:latin typeface="Times New Roman" panose="02020603050405020304" pitchFamily="18" charset="0"/>
              <a:cs typeface="Times New Roman" panose="02020603050405020304" pitchFamily="18" charset="0"/>
            </a:endParaRPr>
          </a:p>
        </p:txBody>
      </p:sp>
      <p:sp>
        <p:nvSpPr>
          <p:cNvPr id="19" name="Roadmap journey line">
            <a:extLst>
              <a:ext uri="{FF2B5EF4-FFF2-40B4-BE49-F238E27FC236}">
                <a16:creationId xmlns:a16="http://schemas.microsoft.com/office/drawing/2014/main" id="{6408C4E8-0F4D-2814-C507-5F68CE7220BA}"/>
              </a:ext>
            </a:extLst>
          </p:cNvPr>
          <p:cNvSpPr>
            <a:spLocks noGrp="1"/>
          </p:cNvSpPr>
          <p:nvPr/>
        </p:nvSpPr>
        <p:spPr>
          <a:xfrm>
            <a:off x="1056000" y="3771901"/>
            <a:ext cx="9334500" cy="57150"/>
          </a:xfrm>
          <a:prstGeom prst="roundRect">
            <a:avLst>
              <a:gd name="adj" fmla="val 50000"/>
            </a:avLst>
          </a:prstGeom>
          <a:solidFill>
            <a:srgbClr val="D9DEE7"/>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0" name="Roadmap direction arrow">
            <a:extLst>
              <a:ext uri="{FF2B5EF4-FFF2-40B4-BE49-F238E27FC236}">
                <a16:creationId xmlns:a16="http://schemas.microsoft.com/office/drawing/2014/main" id="{A7A9B769-2373-3EE3-8B60-57E8C51C0706}"/>
              </a:ext>
            </a:extLst>
          </p:cNvPr>
          <p:cNvSpPr>
            <a:spLocks noGrp="1"/>
          </p:cNvSpPr>
          <p:nvPr/>
        </p:nvSpPr>
        <p:spPr>
          <a:xfrm>
            <a:off x="10723875" y="3543301"/>
            <a:ext cx="476250" cy="476250"/>
          </a:xfrm>
          <a:prstGeom prst="rect">
            <a:avLst/>
          </a:prstGeom>
          <a:noFill/>
          <a:ln w="0">
            <a:noFill/>
            <a:prstDash val="solid"/>
          </a:ln>
        </p:spPr>
        <p:txBody>
          <a:bodyPr lIns="0" tIns="0" rIns="0" bIns="0" anchor="ctr">
            <a:noAutofit/>
          </a:bodyPr>
          <a:lstStyle/>
          <a:p>
            <a:pPr algn="ctr">
              <a:buNone/>
              <a:defRPr sz="2550" b="1">
                <a:solidFill>
                  <a:srgbClr val="9AA3B2"/>
                </a:solidFill>
                <a:latin typeface="Arial"/>
                <a:ea typeface="Arial"/>
                <a:cs typeface="Arial"/>
              </a:defRPr>
            </a:pPr>
            <a:r>
              <a:rPr sz="2550" b="1">
                <a:solidFill>
                  <a:srgbClr val="9AA3B2"/>
                </a:solidFill>
                <a:latin typeface="Times New Roman" panose="02020603050405020304" pitchFamily="18" charset="0"/>
                <a:ea typeface="Arial"/>
                <a:cs typeface="Times New Roman" panose="02020603050405020304" pitchFamily="18" charset="0"/>
              </a:rPr>
              <a:t>→</a:t>
            </a:r>
          </a:p>
        </p:txBody>
      </p:sp>
      <p:sp>
        <p:nvSpPr>
          <p:cNvPr id="21" name="Stage 1 guide">
            <a:extLst>
              <a:ext uri="{FF2B5EF4-FFF2-40B4-BE49-F238E27FC236}">
                <a16:creationId xmlns:a16="http://schemas.microsoft.com/office/drawing/2014/main" id="{521A8F89-8306-25AA-3AE4-F2FBB7F2F0C8}"/>
              </a:ext>
            </a:extLst>
          </p:cNvPr>
          <p:cNvSpPr>
            <a:spLocks noGrp="1"/>
          </p:cNvSpPr>
          <p:nvPr/>
        </p:nvSpPr>
        <p:spPr>
          <a:xfrm>
            <a:off x="1036950" y="3276601"/>
            <a:ext cx="38100" cy="228600"/>
          </a:xfrm>
          <a:prstGeom prst="roundRect">
            <a:avLst>
              <a:gd name="adj" fmla="val 50000"/>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3" name="Stage 1 keyword">
            <a:extLst>
              <a:ext uri="{FF2B5EF4-FFF2-40B4-BE49-F238E27FC236}">
                <a16:creationId xmlns:a16="http://schemas.microsoft.com/office/drawing/2014/main" id="{837F8B38-2C96-B662-6122-2EF1535E087D}"/>
              </a:ext>
            </a:extLst>
          </p:cNvPr>
          <p:cNvSpPr>
            <a:spLocks noGrp="1"/>
          </p:cNvSpPr>
          <p:nvPr/>
        </p:nvSpPr>
        <p:spPr>
          <a:xfrm>
            <a:off x="142875" y="1676400"/>
            <a:ext cx="2000250" cy="228600"/>
          </a:xfrm>
          <a:prstGeom prst="rect">
            <a:avLst/>
          </a:prstGeom>
          <a:noFill/>
          <a:ln w="0">
            <a:noFill/>
            <a:prstDash val="solid"/>
          </a:ln>
        </p:spPr>
        <p:txBody>
          <a:bodyPr lIns="0" tIns="0" rIns="0" bIns="0" anchor="ctr">
            <a:noAutofit/>
          </a:bodyPr>
          <a:lstStyle/>
          <a:p>
            <a:pPr algn="ctr">
              <a:buNone/>
              <a:defRPr sz="1050" b="1">
                <a:solidFill>
                  <a:srgbClr val="2563EB"/>
                </a:solidFill>
                <a:latin typeface="Arial"/>
                <a:ea typeface="Arial"/>
                <a:cs typeface="Arial"/>
              </a:defRPr>
            </a:pPr>
            <a:r>
              <a:rPr sz="1050" b="1" dirty="0">
                <a:solidFill>
                  <a:srgbClr val="2563EB"/>
                </a:solidFill>
                <a:latin typeface="Times New Roman" panose="02020603050405020304" pitchFamily="18" charset="0"/>
                <a:ea typeface="Arial"/>
                <a:cs typeface="Times New Roman" panose="02020603050405020304" pitchFamily="18" charset="0"/>
              </a:rPr>
              <a:t>WHY</a:t>
            </a:r>
          </a:p>
        </p:txBody>
      </p:sp>
      <p:sp>
        <p:nvSpPr>
          <p:cNvPr id="24" name="Stage 1 title">
            <a:extLst>
              <a:ext uri="{FF2B5EF4-FFF2-40B4-BE49-F238E27FC236}">
                <a16:creationId xmlns:a16="http://schemas.microsoft.com/office/drawing/2014/main" id="{FAD70BC7-9E84-75CD-B09A-7FB38BF90A97}"/>
              </a:ext>
            </a:extLst>
          </p:cNvPr>
          <p:cNvSpPr>
            <a:spLocks noGrp="1"/>
          </p:cNvSpPr>
          <p:nvPr/>
        </p:nvSpPr>
        <p:spPr>
          <a:xfrm>
            <a:off x="142875" y="1943100"/>
            <a:ext cx="2000250" cy="590550"/>
          </a:xfrm>
          <a:prstGeom prst="rect">
            <a:avLst/>
          </a:prstGeom>
          <a:noFill/>
          <a:ln w="0">
            <a:noFill/>
            <a:prstDash val="solid"/>
          </a:ln>
        </p:spPr>
        <p:txBody>
          <a:bodyPr lIns="0" tIns="0" rIns="0" bIns="0" anchor="t">
            <a:noAutofit/>
          </a:bodyPr>
          <a:lstStyle/>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Problem &amp;</a:t>
            </a:r>
          </a:p>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Objective</a:t>
            </a:r>
          </a:p>
        </p:txBody>
      </p:sp>
      <p:sp>
        <p:nvSpPr>
          <p:cNvPr id="25" name="Stage 1 detail">
            <a:extLst>
              <a:ext uri="{FF2B5EF4-FFF2-40B4-BE49-F238E27FC236}">
                <a16:creationId xmlns:a16="http://schemas.microsoft.com/office/drawing/2014/main" id="{CDFB8E3B-7770-83D6-1CD4-03438EED8081}"/>
              </a:ext>
            </a:extLst>
          </p:cNvPr>
          <p:cNvSpPr>
            <a:spLocks noGrp="1"/>
          </p:cNvSpPr>
          <p:nvPr/>
        </p:nvSpPr>
        <p:spPr>
          <a:xfrm>
            <a:off x="95250" y="2552700"/>
            <a:ext cx="2095500" cy="476250"/>
          </a:xfrm>
          <a:prstGeom prst="rect">
            <a:avLst/>
          </a:prstGeom>
          <a:noFill/>
          <a:ln w="0">
            <a:noFill/>
            <a:prstDash val="solid"/>
          </a:ln>
        </p:spPr>
        <p:txBody>
          <a:bodyPr lIns="0" tIns="0" rIns="0" bIns="0" anchor="t">
            <a:noAutofit/>
          </a:bodyPr>
          <a:lstStyle/>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Why local LLMs on</a:t>
            </a:r>
          </a:p>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limited hardware?</a:t>
            </a:r>
          </a:p>
        </p:txBody>
      </p:sp>
      <p:sp>
        <p:nvSpPr>
          <p:cNvPr id="26" name="Stage 1 node">
            <a:extLst>
              <a:ext uri="{FF2B5EF4-FFF2-40B4-BE49-F238E27FC236}">
                <a16:creationId xmlns:a16="http://schemas.microsoft.com/office/drawing/2014/main" id="{69CB921B-4582-AA83-54A5-438E4E56CFB1}"/>
              </a:ext>
            </a:extLst>
          </p:cNvPr>
          <p:cNvSpPr>
            <a:spLocks noGrp="1"/>
          </p:cNvSpPr>
          <p:nvPr/>
        </p:nvSpPr>
        <p:spPr>
          <a:xfrm>
            <a:off x="713100" y="3457576"/>
            <a:ext cx="685800" cy="685800"/>
          </a:xfrm>
          <a:prstGeom prst="ellipse">
            <a:avLst/>
          </a:prstGeom>
          <a:solidFill>
            <a:srgbClr val="2563EB"/>
          </a:solidFill>
          <a:ln w="47625">
            <a:solidFill>
              <a:srgbClr val="FFFFFF"/>
            </a:solidFill>
            <a:prstDash val="solid"/>
          </a:ln>
        </p:spPr>
        <p:txBody>
          <a:bodyPr lIns="0" tIns="0" rIns="0" bIns="0" anchor="ctr">
            <a:noAutofit/>
          </a:bodyPr>
          <a:lstStyle/>
          <a:p>
            <a:pPr algn="ctr">
              <a:buNone/>
              <a:defRPr sz="2100" b="1">
                <a:solidFill>
                  <a:srgbClr val="FFFFFF"/>
                </a:solidFill>
                <a:latin typeface="Arial"/>
                <a:ea typeface="Arial"/>
                <a:cs typeface="Arial"/>
              </a:defRPr>
            </a:pPr>
            <a:r>
              <a:rPr sz="2100" b="1">
                <a:solidFill>
                  <a:srgbClr val="FFFFFF"/>
                </a:solidFill>
                <a:latin typeface="Times New Roman" panose="02020603050405020304" pitchFamily="18" charset="0"/>
                <a:ea typeface="Arial"/>
                <a:cs typeface="Times New Roman" panose="02020603050405020304" pitchFamily="18" charset="0"/>
              </a:rPr>
              <a:t>1</a:t>
            </a:r>
          </a:p>
        </p:txBody>
      </p:sp>
      <p:sp>
        <p:nvSpPr>
          <p:cNvPr id="27" name="Stage 2 guide">
            <a:extLst>
              <a:ext uri="{FF2B5EF4-FFF2-40B4-BE49-F238E27FC236}">
                <a16:creationId xmlns:a16="http://schemas.microsoft.com/office/drawing/2014/main" id="{E9130E8A-ECF0-1F6D-3D32-749B9D84EA33}"/>
              </a:ext>
            </a:extLst>
          </p:cNvPr>
          <p:cNvSpPr>
            <a:spLocks noGrp="1"/>
          </p:cNvSpPr>
          <p:nvPr/>
        </p:nvSpPr>
        <p:spPr>
          <a:xfrm>
            <a:off x="3370575" y="4152901"/>
            <a:ext cx="38100" cy="247650"/>
          </a:xfrm>
          <a:prstGeom prst="roundRect">
            <a:avLst>
              <a:gd name="adj" fmla="val 50000"/>
            </a:avLst>
          </a:prstGeom>
          <a:solidFill>
            <a:srgbClr val="7C3AED"/>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8" name="Stage 2 keyword">
            <a:extLst>
              <a:ext uri="{FF2B5EF4-FFF2-40B4-BE49-F238E27FC236}">
                <a16:creationId xmlns:a16="http://schemas.microsoft.com/office/drawing/2014/main" id="{D644B7F2-20E8-13CA-1A41-76F4F2F5C98A}"/>
              </a:ext>
            </a:extLst>
          </p:cNvPr>
          <p:cNvSpPr>
            <a:spLocks noGrp="1"/>
          </p:cNvSpPr>
          <p:nvPr/>
        </p:nvSpPr>
        <p:spPr>
          <a:xfrm>
            <a:off x="2389500" y="4514851"/>
            <a:ext cx="2000250" cy="228600"/>
          </a:xfrm>
          <a:prstGeom prst="rect">
            <a:avLst/>
          </a:prstGeom>
          <a:noFill/>
          <a:ln w="0">
            <a:noFill/>
            <a:prstDash val="solid"/>
          </a:ln>
        </p:spPr>
        <p:txBody>
          <a:bodyPr lIns="0" tIns="0" rIns="0" bIns="0" anchor="ctr">
            <a:noAutofit/>
          </a:bodyPr>
          <a:lstStyle/>
          <a:p>
            <a:pPr algn="ctr">
              <a:buNone/>
              <a:defRPr sz="1050" b="1">
                <a:solidFill>
                  <a:srgbClr val="7C3AED"/>
                </a:solidFill>
                <a:latin typeface="Arial"/>
                <a:ea typeface="Arial"/>
                <a:cs typeface="Arial"/>
              </a:defRPr>
            </a:pPr>
            <a:r>
              <a:rPr sz="1050" b="1">
                <a:solidFill>
                  <a:srgbClr val="7C3AED"/>
                </a:solidFill>
                <a:latin typeface="Times New Roman" panose="02020603050405020304" pitchFamily="18" charset="0"/>
                <a:ea typeface="Arial"/>
                <a:cs typeface="Times New Roman" panose="02020603050405020304" pitchFamily="18" charset="0"/>
              </a:rPr>
              <a:t>WHAT</a:t>
            </a:r>
          </a:p>
        </p:txBody>
      </p:sp>
      <p:sp>
        <p:nvSpPr>
          <p:cNvPr id="29" name="Stage 2 title">
            <a:extLst>
              <a:ext uri="{FF2B5EF4-FFF2-40B4-BE49-F238E27FC236}">
                <a16:creationId xmlns:a16="http://schemas.microsoft.com/office/drawing/2014/main" id="{D3894007-5903-AD3C-A8C1-839D7F5AE452}"/>
              </a:ext>
            </a:extLst>
          </p:cNvPr>
          <p:cNvSpPr>
            <a:spLocks noGrp="1"/>
          </p:cNvSpPr>
          <p:nvPr/>
        </p:nvSpPr>
        <p:spPr>
          <a:xfrm>
            <a:off x="2389500" y="4781551"/>
            <a:ext cx="2000250" cy="590550"/>
          </a:xfrm>
          <a:prstGeom prst="rect">
            <a:avLst/>
          </a:prstGeom>
          <a:noFill/>
          <a:ln w="0">
            <a:noFill/>
            <a:prstDash val="solid"/>
          </a:ln>
        </p:spPr>
        <p:txBody>
          <a:bodyPr lIns="0" tIns="0" rIns="0" bIns="0" anchor="t">
            <a:noAutofit/>
          </a:bodyPr>
          <a:lstStyle/>
          <a:p>
            <a:pPr algn="ctr">
              <a:lnSpc>
                <a:spcPct val="95000"/>
              </a:lnSpc>
              <a:buNone/>
              <a:defRPr sz="1650" b="1">
                <a:solidFill>
                  <a:srgbClr val="111827"/>
                </a:solidFill>
                <a:latin typeface="Arial"/>
                <a:ea typeface="Arial"/>
                <a:cs typeface="Arial"/>
              </a:defRPr>
            </a:pPr>
            <a:r>
              <a:rPr sz="1650" b="1" dirty="0">
                <a:solidFill>
                  <a:srgbClr val="111827"/>
                </a:solidFill>
                <a:latin typeface="Times New Roman" panose="02020603050405020304" pitchFamily="18" charset="0"/>
                <a:ea typeface="Arial"/>
                <a:cs typeface="Times New Roman" panose="02020603050405020304" pitchFamily="18" charset="0"/>
              </a:rPr>
              <a:t>What SANZI</a:t>
            </a:r>
          </a:p>
          <a:p>
            <a:pPr algn="ctr">
              <a:lnSpc>
                <a:spcPct val="95000"/>
              </a:lnSpc>
              <a:buNone/>
              <a:defRPr sz="1650" b="1">
                <a:solidFill>
                  <a:srgbClr val="111827"/>
                </a:solidFill>
                <a:latin typeface="Arial"/>
                <a:ea typeface="Arial"/>
                <a:cs typeface="Arial"/>
              </a:defRPr>
            </a:pPr>
            <a:r>
              <a:rPr sz="1650" b="1" dirty="0">
                <a:solidFill>
                  <a:srgbClr val="111827"/>
                </a:solidFill>
                <a:latin typeface="Times New Roman" panose="02020603050405020304" pitchFamily="18" charset="0"/>
                <a:ea typeface="Arial"/>
                <a:cs typeface="Times New Roman" panose="02020603050405020304" pitchFamily="18" charset="0"/>
              </a:rPr>
              <a:t>Delivers</a:t>
            </a:r>
          </a:p>
        </p:txBody>
      </p:sp>
      <p:sp>
        <p:nvSpPr>
          <p:cNvPr id="30" name="Stage 2 detail">
            <a:extLst>
              <a:ext uri="{FF2B5EF4-FFF2-40B4-BE49-F238E27FC236}">
                <a16:creationId xmlns:a16="http://schemas.microsoft.com/office/drawing/2014/main" id="{A1E914EB-3EFD-744A-CE12-5172EE5416AA}"/>
              </a:ext>
            </a:extLst>
          </p:cNvPr>
          <p:cNvSpPr>
            <a:spLocks noGrp="1"/>
          </p:cNvSpPr>
          <p:nvPr/>
        </p:nvSpPr>
        <p:spPr>
          <a:xfrm>
            <a:off x="2341875" y="5391151"/>
            <a:ext cx="2095500" cy="476250"/>
          </a:xfrm>
          <a:prstGeom prst="rect">
            <a:avLst/>
          </a:prstGeom>
          <a:noFill/>
          <a:ln w="0">
            <a:noFill/>
            <a:prstDash val="solid"/>
          </a:ln>
        </p:spPr>
        <p:txBody>
          <a:bodyPr lIns="0" tIns="0" rIns="0" bIns="0" anchor="t">
            <a:noAutofit/>
          </a:bodyPr>
          <a:lstStyle/>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Models • CLI • GUI</a:t>
            </a:r>
          </a:p>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configurable controls</a:t>
            </a:r>
          </a:p>
        </p:txBody>
      </p:sp>
      <p:sp>
        <p:nvSpPr>
          <p:cNvPr id="31" name="Stage 2 node">
            <a:extLst>
              <a:ext uri="{FF2B5EF4-FFF2-40B4-BE49-F238E27FC236}">
                <a16:creationId xmlns:a16="http://schemas.microsoft.com/office/drawing/2014/main" id="{54AED04C-5E46-606D-5BB6-B3A50916152A}"/>
              </a:ext>
            </a:extLst>
          </p:cNvPr>
          <p:cNvSpPr>
            <a:spLocks noGrp="1"/>
          </p:cNvSpPr>
          <p:nvPr/>
        </p:nvSpPr>
        <p:spPr>
          <a:xfrm>
            <a:off x="3046725" y="3457576"/>
            <a:ext cx="685800" cy="685800"/>
          </a:xfrm>
          <a:prstGeom prst="ellipse">
            <a:avLst/>
          </a:prstGeom>
          <a:solidFill>
            <a:srgbClr val="7C3AED"/>
          </a:solidFill>
          <a:ln w="47625">
            <a:solidFill>
              <a:srgbClr val="FFFFFF"/>
            </a:solidFill>
            <a:prstDash val="solid"/>
          </a:ln>
        </p:spPr>
        <p:txBody>
          <a:bodyPr lIns="0" tIns="0" rIns="0" bIns="0" anchor="ctr">
            <a:noAutofit/>
          </a:bodyPr>
          <a:lstStyle/>
          <a:p>
            <a:pPr algn="ctr">
              <a:buNone/>
              <a:defRPr sz="2100" b="1">
                <a:solidFill>
                  <a:srgbClr val="FFFFFF"/>
                </a:solidFill>
                <a:latin typeface="Arial"/>
                <a:ea typeface="Arial"/>
                <a:cs typeface="Arial"/>
              </a:defRPr>
            </a:pPr>
            <a:r>
              <a:rPr sz="2100" b="1">
                <a:solidFill>
                  <a:srgbClr val="FFFFFF"/>
                </a:solidFill>
                <a:latin typeface="Times New Roman" panose="02020603050405020304" pitchFamily="18" charset="0"/>
                <a:ea typeface="Arial"/>
                <a:cs typeface="Times New Roman" panose="02020603050405020304" pitchFamily="18" charset="0"/>
              </a:rPr>
              <a:t>2</a:t>
            </a:r>
          </a:p>
        </p:txBody>
      </p:sp>
      <p:sp>
        <p:nvSpPr>
          <p:cNvPr id="32" name="Stage 3 guide">
            <a:extLst>
              <a:ext uri="{FF2B5EF4-FFF2-40B4-BE49-F238E27FC236}">
                <a16:creationId xmlns:a16="http://schemas.microsoft.com/office/drawing/2014/main" id="{04BBD94A-ACE3-E84F-2614-3FDB4997E39E}"/>
              </a:ext>
            </a:extLst>
          </p:cNvPr>
          <p:cNvSpPr>
            <a:spLocks noGrp="1"/>
          </p:cNvSpPr>
          <p:nvPr/>
        </p:nvSpPr>
        <p:spPr>
          <a:xfrm>
            <a:off x="5704200" y="3276601"/>
            <a:ext cx="38100" cy="228600"/>
          </a:xfrm>
          <a:prstGeom prst="roundRect">
            <a:avLst>
              <a:gd name="adj" fmla="val 50000"/>
            </a:avLst>
          </a:prstGeom>
          <a:solidFill>
            <a:srgbClr val="008A72"/>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3" name="Stage 3 keyword">
            <a:extLst>
              <a:ext uri="{FF2B5EF4-FFF2-40B4-BE49-F238E27FC236}">
                <a16:creationId xmlns:a16="http://schemas.microsoft.com/office/drawing/2014/main" id="{A4F13AE8-A824-BA30-95B5-80076A9D009A}"/>
              </a:ext>
            </a:extLst>
          </p:cNvPr>
          <p:cNvSpPr>
            <a:spLocks noGrp="1"/>
          </p:cNvSpPr>
          <p:nvPr/>
        </p:nvSpPr>
        <p:spPr>
          <a:xfrm>
            <a:off x="4810125" y="1676400"/>
            <a:ext cx="2000250" cy="228600"/>
          </a:xfrm>
          <a:prstGeom prst="rect">
            <a:avLst/>
          </a:prstGeom>
          <a:noFill/>
          <a:ln w="0">
            <a:noFill/>
            <a:prstDash val="solid"/>
          </a:ln>
        </p:spPr>
        <p:txBody>
          <a:bodyPr lIns="0" tIns="0" rIns="0" bIns="0" anchor="ctr">
            <a:noAutofit/>
          </a:bodyPr>
          <a:lstStyle/>
          <a:p>
            <a:pPr algn="ctr">
              <a:buNone/>
              <a:defRPr sz="1050" b="1">
                <a:solidFill>
                  <a:srgbClr val="008A72"/>
                </a:solidFill>
                <a:latin typeface="Arial"/>
                <a:ea typeface="Arial"/>
                <a:cs typeface="Arial"/>
              </a:defRPr>
            </a:pPr>
            <a:r>
              <a:rPr sz="1050" b="1" dirty="0">
                <a:solidFill>
                  <a:srgbClr val="008A72"/>
                </a:solidFill>
                <a:latin typeface="Times New Roman" panose="02020603050405020304" pitchFamily="18" charset="0"/>
                <a:ea typeface="Arial"/>
                <a:cs typeface="Times New Roman" panose="02020603050405020304" pitchFamily="18" charset="0"/>
              </a:rPr>
              <a:t>HOW</a:t>
            </a:r>
          </a:p>
        </p:txBody>
      </p:sp>
      <p:sp>
        <p:nvSpPr>
          <p:cNvPr id="34" name="Stage 3 title">
            <a:extLst>
              <a:ext uri="{FF2B5EF4-FFF2-40B4-BE49-F238E27FC236}">
                <a16:creationId xmlns:a16="http://schemas.microsoft.com/office/drawing/2014/main" id="{B99AA672-019A-E164-CECC-49AFA919E8F4}"/>
              </a:ext>
            </a:extLst>
          </p:cNvPr>
          <p:cNvSpPr>
            <a:spLocks noGrp="1"/>
          </p:cNvSpPr>
          <p:nvPr/>
        </p:nvSpPr>
        <p:spPr>
          <a:xfrm>
            <a:off x="4810125" y="1943100"/>
            <a:ext cx="2000250" cy="590550"/>
          </a:xfrm>
          <a:prstGeom prst="rect">
            <a:avLst/>
          </a:prstGeom>
          <a:noFill/>
          <a:ln w="0">
            <a:noFill/>
            <a:prstDash val="solid"/>
          </a:ln>
        </p:spPr>
        <p:txBody>
          <a:bodyPr lIns="0" tIns="0" rIns="0" bIns="0" anchor="t">
            <a:noAutofit/>
          </a:bodyPr>
          <a:lstStyle/>
          <a:p>
            <a:pPr algn="ctr">
              <a:lnSpc>
                <a:spcPct val="95000"/>
              </a:lnSpc>
              <a:buNone/>
              <a:defRPr sz="1650" b="1">
                <a:solidFill>
                  <a:srgbClr val="111827"/>
                </a:solidFill>
                <a:latin typeface="Arial"/>
                <a:ea typeface="Arial"/>
                <a:cs typeface="Arial"/>
              </a:defRPr>
            </a:pPr>
            <a:r>
              <a:rPr sz="1650" b="1" dirty="0">
                <a:solidFill>
                  <a:srgbClr val="111827"/>
                </a:solidFill>
                <a:latin typeface="Times New Roman" panose="02020603050405020304" pitchFamily="18" charset="0"/>
                <a:ea typeface="Arial"/>
                <a:cs typeface="Times New Roman" panose="02020603050405020304" pitchFamily="18" charset="0"/>
              </a:rPr>
              <a:t>Architecture &amp;</a:t>
            </a:r>
          </a:p>
          <a:p>
            <a:pPr algn="ctr">
              <a:lnSpc>
                <a:spcPct val="95000"/>
              </a:lnSpc>
              <a:buNone/>
              <a:defRPr sz="1650" b="1">
                <a:solidFill>
                  <a:srgbClr val="111827"/>
                </a:solidFill>
                <a:latin typeface="Arial"/>
                <a:ea typeface="Arial"/>
                <a:cs typeface="Arial"/>
              </a:defRPr>
            </a:pPr>
            <a:r>
              <a:rPr sz="1650" b="1" dirty="0">
                <a:solidFill>
                  <a:srgbClr val="111827"/>
                </a:solidFill>
                <a:latin typeface="Times New Roman" panose="02020603050405020304" pitchFamily="18" charset="0"/>
                <a:ea typeface="Arial"/>
                <a:cs typeface="Times New Roman" panose="02020603050405020304" pitchFamily="18" charset="0"/>
              </a:rPr>
              <a:t>8 GB Strategy</a:t>
            </a:r>
          </a:p>
        </p:txBody>
      </p:sp>
      <p:sp>
        <p:nvSpPr>
          <p:cNvPr id="35" name="Stage 3 detail">
            <a:extLst>
              <a:ext uri="{FF2B5EF4-FFF2-40B4-BE49-F238E27FC236}">
                <a16:creationId xmlns:a16="http://schemas.microsoft.com/office/drawing/2014/main" id="{FF5BCD54-E55C-DF3D-69C5-2187688D2677}"/>
              </a:ext>
            </a:extLst>
          </p:cNvPr>
          <p:cNvSpPr>
            <a:spLocks noGrp="1"/>
          </p:cNvSpPr>
          <p:nvPr/>
        </p:nvSpPr>
        <p:spPr>
          <a:xfrm>
            <a:off x="4762500" y="2552700"/>
            <a:ext cx="2095500" cy="476250"/>
          </a:xfrm>
          <a:prstGeom prst="rect">
            <a:avLst/>
          </a:prstGeom>
          <a:noFill/>
          <a:ln w="0">
            <a:noFill/>
            <a:prstDash val="solid"/>
          </a:ln>
        </p:spPr>
        <p:txBody>
          <a:bodyPr lIns="0" tIns="0" rIns="0" bIns="0" anchor="t">
            <a:noAutofit/>
          </a:bodyPr>
          <a:lstStyle/>
          <a:p>
            <a:pPr algn="ctr">
              <a:lnSpc>
                <a:spcPct val="105000"/>
              </a:lnSpc>
              <a:buNone/>
              <a:defRPr sz="1200">
                <a:solidFill>
                  <a:srgbClr val="758195"/>
                </a:solidFill>
                <a:latin typeface="Arial"/>
                <a:ea typeface="Arial"/>
                <a:cs typeface="Arial"/>
              </a:defRPr>
            </a:pPr>
            <a:r>
              <a:rPr lang="de-DE"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Architecture</a:t>
            </a: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a:t>
            </a:r>
            <a:r>
              <a:rPr lang="en-GB"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Quantization </a:t>
            </a:r>
          </a:p>
          <a:p>
            <a:pPr algn="ctr">
              <a:lnSpc>
                <a:spcPct val="105000"/>
              </a:lnSpc>
              <a:buNone/>
              <a:defRPr sz="1200">
                <a:solidFill>
                  <a:srgbClr val="758195"/>
                </a:solidFill>
                <a:latin typeface="Arial"/>
                <a:ea typeface="Arial"/>
                <a:cs typeface="Arial"/>
              </a:defRPr>
            </a:pPr>
            <a:r>
              <a:rPr lang="en-DE"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a:t>
            </a:r>
            <a:r>
              <a:rPr lang="de-DE"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M</a:t>
            </a:r>
            <a:r>
              <a:rPr lang="en-GB"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emory </a:t>
            </a:r>
            <a:r>
              <a:rPr lang="en-DE"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a:t>
            </a:r>
            <a:r>
              <a:rPr lang="en-GB"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OOM handling</a:t>
            </a:r>
          </a:p>
        </p:txBody>
      </p:sp>
      <p:sp>
        <p:nvSpPr>
          <p:cNvPr id="36" name="Stage 3 node">
            <a:extLst>
              <a:ext uri="{FF2B5EF4-FFF2-40B4-BE49-F238E27FC236}">
                <a16:creationId xmlns:a16="http://schemas.microsoft.com/office/drawing/2014/main" id="{5396A0FD-ECAC-0E52-D285-1DF59126DC74}"/>
              </a:ext>
            </a:extLst>
          </p:cNvPr>
          <p:cNvSpPr>
            <a:spLocks noGrp="1"/>
          </p:cNvSpPr>
          <p:nvPr/>
        </p:nvSpPr>
        <p:spPr>
          <a:xfrm>
            <a:off x="5380350" y="3457576"/>
            <a:ext cx="685800" cy="685800"/>
          </a:xfrm>
          <a:prstGeom prst="ellipse">
            <a:avLst/>
          </a:prstGeom>
          <a:solidFill>
            <a:srgbClr val="008A72"/>
          </a:solidFill>
          <a:ln w="47625">
            <a:solidFill>
              <a:srgbClr val="FFFFFF"/>
            </a:solidFill>
            <a:prstDash val="solid"/>
          </a:ln>
        </p:spPr>
        <p:txBody>
          <a:bodyPr lIns="0" tIns="0" rIns="0" bIns="0" anchor="ctr">
            <a:noAutofit/>
          </a:bodyPr>
          <a:lstStyle/>
          <a:p>
            <a:pPr algn="ctr">
              <a:buNone/>
              <a:defRPr sz="2100" b="1">
                <a:solidFill>
                  <a:srgbClr val="FFFFFF"/>
                </a:solidFill>
                <a:latin typeface="Arial"/>
                <a:ea typeface="Arial"/>
                <a:cs typeface="Arial"/>
              </a:defRPr>
            </a:pPr>
            <a:r>
              <a:rPr sz="2100" b="1">
                <a:solidFill>
                  <a:srgbClr val="FFFFFF"/>
                </a:solidFill>
                <a:latin typeface="Times New Roman" panose="02020603050405020304" pitchFamily="18" charset="0"/>
                <a:ea typeface="Arial"/>
                <a:cs typeface="Times New Roman" panose="02020603050405020304" pitchFamily="18" charset="0"/>
              </a:rPr>
              <a:t>3</a:t>
            </a:r>
          </a:p>
        </p:txBody>
      </p:sp>
      <p:sp>
        <p:nvSpPr>
          <p:cNvPr id="37" name="Stage 4 guide">
            <a:extLst>
              <a:ext uri="{FF2B5EF4-FFF2-40B4-BE49-F238E27FC236}">
                <a16:creationId xmlns:a16="http://schemas.microsoft.com/office/drawing/2014/main" id="{FAC6D103-D84F-1F3E-538E-3C22ABAD76FC}"/>
              </a:ext>
            </a:extLst>
          </p:cNvPr>
          <p:cNvSpPr>
            <a:spLocks noGrp="1"/>
          </p:cNvSpPr>
          <p:nvPr/>
        </p:nvSpPr>
        <p:spPr>
          <a:xfrm>
            <a:off x="8037825" y="4152901"/>
            <a:ext cx="38100" cy="247650"/>
          </a:xfrm>
          <a:prstGeom prst="roundRect">
            <a:avLst>
              <a:gd name="adj" fmla="val 50000"/>
            </a:avLst>
          </a:prstGeom>
          <a:solidFill>
            <a:srgbClr val="E07A00"/>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8" name="Stage 4 keyword">
            <a:extLst>
              <a:ext uri="{FF2B5EF4-FFF2-40B4-BE49-F238E27FC236}">
                <a16:creationId xmlns:a16="http://schemas.microsoft.com/office/drawing/2014/main" id="{EBA9F644-1C37-E3C1-1BE9-EA00A7712DAF}"/>
              </a:ext>
            </a:extLst>
          </p:cNvPr>
          <p:cNvSpPr>
            <a:spLocks noGrp="1"/>
          </p:cNvSpPr>
          <p:nvPr/>
        </p:nvSpPr>
        <p:spPr>
          <a:xfrm>
            <a:off x="7056750" y="4514851"/>
            <a:ext cx="2000250" cy="228600"/>
          </a:xfrm>
          <a:prstGeom prst="rect">
            <a:avLst/>
          </a:prstGeom>
          <a:noFill/>
          <a:ln w="0">
            <a:noFill/>
            <a:prstDash val="solid"/>
          </a:ln>
        </p:spPr>
        <p:txBody>
          <a:bodyPr lIns="0" tIns="0" rIns="0" bIns="0" anchor="ctr">
            <a:noAutofit/>
          </a:bodyPr>
          <a:lstStyle/>
          <a:p>
            <a:pPr algn="ctr">
              <a:buNone/>
              <a:defRPr sz="1050" b="1">
                <a:solidFill>
                  <a:srgbClr val="E07A00"/>
                </a:solidFill>
                <a:latin typeface="Arial"/>
                <a:ea typeface="Arial"/>
                <a:cs typeface="Arial"/>
              </a:defRPr>
            </a:pPr>
            <a:r>
              <a:rPr sz="1050" b="1">
                <a:solidFill>
                  <a:srgbClr val="E07A00"/>
                </a:solidFill>
                <a:latin typeface="Times New Roman" panose="02020603050405020304" pitchFamily="18" charset="0"/>
                <a:ea typeface="Arial"/>
                <a:cs typeface="Times New Roman" panose="02020603050405020304" pitchFamily="18" charset="0"/>
              </a:rPr>
              <a:t>SHOW</a:t>
            </a:r>
          </a:p>
        </p:txBody>
      </p:sp>
      <p:sp>
        <p:nvSpPr>
          <p:cNvPr id="39" name="Stage 4 title">
            <a:extLst>
              <a:ext uri="{FF2B5EF4-FFF2-40B4-BE49-F238E27FC236}">
                <a16:creationId xmlns:a16="http://schemas.microsoft.com/office/drawing/2014/main" id="{4B92396B-00A4-8AAC-0556-935C38802BEB}"/>
              </a:ext>
            </a:extLst>
          </p:cNvPr>
          <p:cNvSpPr>
            <a:spLocks noGrp="1"/>
          </p:cNvSpPr>
          <p:nvPr/>
        </p:nvSpPr>
        <p:spPr>
          <a:xfrm>
            <a:off x="7056750" y="4781551"/>
            <a:ext cx="2000250" cy="590550"/>
          </a:xfrm>
          <a:prstGeom prst="rect">
            <a:avLst/>
          </a:prstGeom>
          <a:noFill/>
          <a:ln w="0">
            <a:noFill/>
            <a:prstDash val="solid"/>
          </a:ln>
        </p:spPr>
        <p:txBody>
          <a:bodyPr lIns="0" tIns="0" rIns="0" bIns="0" anchor="t">
            <a:noAutofit/>
          </a:bodyPr>
          <a:lstStyle/>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Live GUI</a:t>
            </a:r>
          </a:p>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Demo</a:t>
            </a:r>
          </a:p>
        </p:txBody>
      </p:sp>
      <p:sp>
        <p:nvSpPr>
          <p:cNvPr id="40" name="Stage 4 detail">
            <a:extLst>
              <a:ext uri="{FF2B5EF4-FFF2-40B4-BE49-F238E27FC236}">
                <a16:creationId xmlns:a16="http://schemas.microsoft.com/office/drawing/2014/main" id="{872AA9FA-3A49-2968-7161-ACE43EB32C00}"/>
              </a:ext>
            </a:extLst>
          </p:cNvPr>
          <p:cNvSpPr>
            <a:spLocks noGrp="1"/>
          </p:cNvSpPr>
          <p:nvPr/>
        </p:nvSpPr>
        <p:spPr>
          <a:xfrm>
            <a:off x="7009125" y="5391151"/>
            <a:ext cx="2095500" cy="476250"/>
          </a:xfrm>
          <a:prstGeom prst="rect">
            <a:avLst/>
          </a:prstGeom>
          <a:noFill/>
          <a:ln w="0">
            <a:noFill/>
            <a:prstDash val="solid"/>
          </a:ln>
        </p:spPr>
        <p:txBody>
          <a:bodyPr lIns="0" tIns="0" rIns="0" bIns="0" anchor="t">
            <a:noAutofit/>
          </a:bodyPr>
          <a:lstStyle/>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SANZI running locally</a:t>
            </a:r>
          </a:p>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on MacBook Air M1</a:t>
            </a:r>
          </a:p>
        </p:txBody>
      </p:sp>
      <p:sp>
        <p:nvSpPr>
          <p:cNvPr id="41" name="Stage 4 node">
            <a:extLst>
              <a:ext uri="{FF2B5EF4-FFF2-40B4-BE49-F238E27FC236}">
                <a16:creationId xmlns:a16="http://schemas.microsoft.com/office/drawing/2014/main" id="{C714A8A9-9BF2-4C71-FACC-AC45966D1847}"/>
              </a:ext>
            </a:extLst>
          </p:cNvPr>
          <p:cNvSpPr>
            <a:spLocks noGrp="1"/>
          </p:cNvSpPr>
          <p:nvPr/>
        </p:nvSpPr>
        <p:spPr>
          <a:xfrm>
            <a:off x="7713975" y="3457576"/>
            <a:ext cx="685800" cy="685800"/>
          </a:xfrm>
          <a:prstGeom prst="ellipse">
            <a:avLst/>
          </a:prstGeom>
          <a:solidFill>
            <a:srgbClr val="E07A00"/>
          </a:solidFill>
          <a:ln w="47625">
            <a:solidFill>
              <a:srgbClr val="FFFFFF"/>
            </a:solidFill>
            <a:prstDash val="solid"/>
          </a:ln>
        </p:spPr>
        <p:txBody>
          <a:bodyPr lIns="0" tIns="0" rIns="0" bIns="0" anchor="ctr">
            <a:noAutofit/>
          </a:bodyPr>
          <a:lstStyle/>
          <a:p>
            <a:pPr algn="ctr">
              <a:buNone/>
              <a:defRPr sz="2100" b="1">
                <a:solidFill>
                  <a:srgbClr val="FFFFFF"/>
                </a:solidFill>
                <a:latin typeface="Arial"/>
                <a:ea typeface="Arial"/>
                <a:cs typeface="Arial"/>
              </a:defRPr>
            </a:pPr>
            <a:r>
              <a:rPr sz="2100" b="1">
                <a:solidFill>
                  <a:srgbClr val="FFFFFF"/>
                </a:solidFill>
                <a:latin typeface="Times New Roman" panose="02020603050405020304" pitchFamily="18" charset="0"/>
                <a:ea typeface="Arial"/>
                <a:cs typeface="Times New Roman" panose="02020603050405020304" pitchFamily="18" charset="0"/>
              </a:rPr>
              <a:t>4</a:t>
            </a:r>
          </a:p>
        </p:txBody>
      </p:sp>
      <p:sp>
        <p:nvSpPr>
          <p:cNvPr id="42" name="Stage 5 guide">
            <a:extLst>
              <a:ext uri="{FF2B5EF4-FFF2-40B4-BE49-F238E27FC236}">
                <a16:creationId xmlns:a16="http://schemas.microsoft.com/office/drawing/2014/main" id="{58CA0BB2-7885-BC39-8E2C-44F75CC42EFE}"/>
              </a:ext>
            </a:extLst>
          </p:cNvPr>
          <p:cNvSpPr>
            <a:spLocks noGrp="1"/>
          </p:cNvSpPr>
          <p:nvPr/>
        </p:nvSpPr>
        <p:spPr>
          <a:xfrm>
            <a:off x="10371450" y="3276601"/>
            <a:ext cx="38100" cy="228600"/>
          </a:xfrm>
          <a:prstGeom prst="roundRect">
            <a:avLst>
              <a:gd name="adj" fmla="val 50000"/>
            </a:avLst>
          </a:prstGeom>
          <a:solidFill>
            <a:srgbClr val="D61F35"/>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3" name="Stage 5 keyword">
            <a:extLst>
              <a:ext uri="{FF2B5EF4-FFF2-40B4-BE49-F238E27FC236}">
                <a16:creationId xmlns:a16="http://schemas.microsoft.com/office/drawing/2014/main" id="{6DC68146-126A-F8C9-2752-277DDB74EEFB}"/>
              </a:ext>
            </a:extLst>
          </p:cNvPr>
          <p:cNvSpPr>
            <a:spLocks noGrp="1"/>
          </p:cNvSpPr>
          <p:nvPr/>
        </p:nvSpPr>
        <p:spPr>
          <a:xfrm>
            <a:off x="9477375" y="1676400"/>
            <a:ext cx="2000250" cy="228600"/>
          </a:xfrm>
          <a:prstGeom prst="rect">
            <a:avLst/>
          </a:prstGeom>
          <a:noFill/>
          <a:ln w="0">
            <a:noFill/>
            <a:prstDash val="solid"/>
          </a:ln>
        </p:spPr>
        <p:txBody>
          <a:bodyPr lIns="0" tIns="0" rIns="0" bIns="0" anchor="ctr">
            <a:noAutofit/>
          </a:bodyPr>
          <a:lstStyle/>
          <a:p>
            <a:pPr algn="ctr">
              <a:buNone/>
              <a:defRPr sz="1050" b="1">
                <a:solidFill>
                  <a:srgbClr val="D61F35"/>
                </a:solidFill>
                <a:latin typeface="Arial"/>
                <a:ea typeface="Arial"/>
                <a:cs typeface="Arial"/>
              </a:defRPr>
            </a:pPr>
            <a:r>
              <a:rPr sz="1050" b="1">
                <a:solidFill>
                  <a:srgbClr val="D61F35"/>
                </a:solidFill>
                <a:latin typeface="Times New Roman" panose="02020603050405020304" pitchFamily="18" charset="0"/>
                <a:ea typeface="Arial"/>
                <a:cs typeface="Times New Roman" panose="02020603050405020304" pitchFamily="18" charset="0"/>
              </a:rPr>
              <a:t>LEARN</a:t>
            </a:r>
          </a:p>
        </p:txBody>
      </p:sp>
      <p:sp>
        <p:nvSpPr>
          <p:cNvPr id="44" name="Stage 5 title">
            <a:extLst>
              <a:ext uri="{FF2B5EF4-FFF2-40B4-BE49-F238E27FC236}">
                <a16:creationId xmlns:a16="http://schemas.microsoft.com/office/drawing/2014/main" id="{12778EFC-6CE3-30FB-724D-BBB3F65415B2}"/>
              </a:ext>
            </a:extLst>
          </p:cNvPr>
          <p:cNvSpPr>
            <a:spLocks noGrp="1"/>
          </p:cNvSpPr>
          <p:nvPr/>
        </p:nvSpPr>
        <p:spPr>
          <a:xfrm>
            <a:off x="9477375" y="1943100"/>
            <a:ext cx="2000250" cy="590550"/>
          </a:xfrm>
          <a:prstGeom prst="rect">
            <a:avLst/>
          </a:prstGeom>
          <a:noFill/>
          <a:ln w="0">
            <a:noFill/>
            <a:prstDash val="solid"/>
          </a:ln>
        </p:spPr>
        <p:txBody>
          <a:bodyPr lIns="0" tIns="0" rIns="0" bIns="0" anchor="t">
            <a:noAutofit/>
          </a:bodyPr>
          <a:lstStyle/>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Results &amp;</a:t>
            </a:r>
          </a:p>
          <a:p>
            <a:pPr algn="ctr">
              <a:lnSpc>
                <a:spcPct val="95000"/>
              </a:lnSpc>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Takeaways</a:t>
            </a:r>
          </a:p>
        </p:txBody>
      </p:sp>
      <p:sp>
        <p:nvSpPr>
          <p:cNvPr id="45" name="Stage 5 detail">
            <a:extLst>
              <a:ext uri="{FF2B5EF4-FFF2-40B4-BE49-F238E27FC236}">
                <a16:creationId xmlns:a16="http://schemas.microsoft.com/office/drawing/2014/main" id="{BCFCBC0B-D7F5-9883-B312-906D3FFEDF84}"/>
              </a:ext>
            </a:extLst>
          </p:cNvPr>
          <p:cNvSpPr>
            <a:spLocks noGrp="1"/>
          </p:cNvSpPr>
          <p:nvPr/>
        </p:nvSpPr>
        <p:spPr>
          <a:xfrm>
            <a:off x="9429750" y="2552700"/>
            <a:ext cx="2095500" cy="476250"/>
          </a:xfrm>
          <a:prstGeom prst="rect">
            <a:avLst/>
          </a:prstGeom>
          <a:noFill/>
          <a:ln w="0">
            <a:noFill/>
            <a:prstDash val="solid"/>
          </a:ln>
        </p:spPr>
        <p:txBody>
          <a:bodyPr lIns="0" tIns="0" rIns="0" bIns="0" anchor="t">
            <a:noAutofit/>
          </a:bodyPr>
          <a:lstStyle/>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Performance • limits</a:t>
            </a:r>
          </a:p>
          <a:p>
            <a:pPr algn="ctr">
              <a:lnSpc>
                <a:spcPct val="105000"/>
              </a:lnSpc>
              <a:buNone/>
              <a:defRPr sz="1200">
                <a:solidFill>
                  <a:srgbClr val="758195"/>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future work</a:t>
            </a:r>
          </a:p>
        </p:txBody>
      </p:sp>
      <p:sp>
        <p:nvSpPr>
          <p:cNvPr id="46" name="Stage 5 node">
            <a:extLst>
              <a:ext uri="{FF2B5EF4-FFF2-40B4-BE49-F238E27FC236}">
                <a16:creationId xmlns:a16="http://schemas.microsoft.com/office/drawing/2014/main" id="{4199128E-3445-5BC2-F9E3-18D34A8C78B0}"/>
              </a:ext>
            </a:extLst>
          </p:cNvPr>
          <p:cNvSpPr>
            <a:spLocks noGrp="1"/>
          </p:cNvSpPr>
          <p:nvPr/>
        </p:nvSpPr>
        <p:spPr>
          <a:xfrm>
            <a:off x="10047600" y="3457576"/>
            <a:ext cx="685800" cy="685800"/>
          </a:xfrm>
          <a:prstGeom prst="ellipse">
            <a:avLst/>
          </a:prstGeom>
          <a:solidFill>
            <a:srgbClr val="D61F35"/>
          </a:solidFill>
          <a:ln w="47625">
            <a:solidFill>
              <a:srgbClr val="FFFFFF"/>
            </a:solidFill>
            <a:prstDash val="solid"/>
          </a:ln>
        </p:spPr>
        <p:txBody>
          <a:bodyPr lIns="0" tIns="0" rIns="0" bIns="0" anchor="ctr">
            <a:noAutofit/>
          </a:bodyPr>
          <a:lstStyle/>
          <a:p>
            <a:pPr algn="ctr">
              <a:buNone/>
              <a:defRPr sz="2100" b="1">
                <a:solidFill>
                  <a:srgbClr val="FFFFFF"/>
                </a:solidFill>
                <a:latin typeface="Arial"/>
                <a:ea typeface="Arial"/>
                <a:cs typeface="Arial"/>
              </a:defRPr>
            </a:pPr>
            <a:r>
              <a:rPr sz="2100" b="1">
                <a:solidFill>
                  <a:srgbClr val="FFFFFF"/>
                </a:solidFill>
                <a:latin typeface="Times New Roman" panose="02020603050405020304" pitchFamily="18" charset="0"/>
                <a:ea typeface="Arial"/>
                <a:cs typeface="Times New Roman" panose="02020603050405020304" pitchFamily="18" charset="0"/>
              </a:rPr>
              <a:t>5</a:t>
            </a:r>
          </a:p>
        </p:txBody>
      </p:sp>
    </p:spTree>
    <p:extLst>
      <p:ext uri="{BB962C8B-B14F-4D97-AF65-F5344CB8AC3E}">
        <p14:creationId xmlns:p14="http://schemas.microsoft.com/office/powerpoint/2010/main" val="378411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90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410330"/>
            <a:ext cx="9239250" cy="580269"/>
          </a:xfrm>
        </p:spPr>
        <p:txBody>
          <a:bodyPr lIns="0" tIns="0" rIns="0" bIns="0" anchor="t">
            <a:noAutofit/>
          </a:bodyPr>
          <a:lstStyle/>
          <a:p>
            <a:pPr>
              <a:defRPr sz="2550" b="1">
                <a:solidFill>
                  <a:srgbClr val="050505"/>
                </a:solidFill>
                <a:latin typeface="Arial Black"/>
                <a:ea typeface="Arial Black"/>
                <a:cs typeface="Arial Black"/>
              </a:defRPr>
            </a:pPr>
            <a:r>
              <a:rPr lang="en-DE" sz="3200" b="1" dirty="0">
                <a:solidFill>
                  <a:srgbClr val="050505"/>
                </a:solidFill>
                <a:latin typeface="Times New Roman" panose="02020603050405020304" pitchFamily="18" charset="0"/>
                <a:cs typeface="Times New Roman" panose="02020603050405020304" pitchFamily="18" charset="0"/>
              </a:rPr>
              <a:t>WHY </a:t>
            </a:r>
            <a:r>
              <a:rPr lang="en-GB" sz="3200" b="1" dirty="0">
                <a:solidFill>
                  <a:srgbClr val="050505"/>
                </a:solidFill>
                <a:latin typeface="Times New Roman" panose="02020603050405020304" pitchFamily="18" charset="0"/>
                <a:cs typeface="Times New Roman" panose="02020603050405020304" pitchFamily="18" charset="0"/>
              </a:rPr>
              <a:t>running the model locally</a:t>
            </a:r>
            <a:r>
              <a:rPr lang="en-DE" sz="3200" b="1" dirty="0">
                <a:solidFill>
                  <a:srgbClr val="050505"/>
                </a:solidFill>
                <a:latin typeface="Times New Roman" panose="02020603050405020304" pitchFamily="18" charset="0"/>
                <a:cs typeface="Times New Roman" panose="02020603050405020304" pitchFamily="18" charset="0"/>
              </a:rPr>
              <a:t>?</a:t>
            </a:r>
            <a:endParaRPr sz="3200" b="1" dirty="0">
              <a:solidFill>
                <a:srgbClr val="050505"/>
              </a:solidFill>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202359C0-8A7A-196E-DD58-8E6569619F09}" type="slidenum">
              <a:rPr>
                <a:latin typeface="Times New Roman" panose="02020603050405020304" pitchFamily="18" charset="0"/>
                <a:cs typeface="Times New Roman" panose="02020603050405020304" pitchFamily="18" charset="0"/>
              </a:rPr>
              <a:t>3</a:t>
            </a:fld>
            <a:endParaRPr>
              <a:latin typeface="Times New Roman" panose="02020603050405020304" pitchFamily="18" charset="0"/>
              <a:cs typeface="Times New Roman" panose="02020603050405020304" pitchFamily="18" charset="0"/>
            </a:endParaRPr>
          </a:p>
        </p:txBody>
      </p:sp>
      <p:sp>
        <p:nvSpPr>
          <p:cNvPr id="6" name="Cloud flow section label">
            <a:extLst>
              <a:ext uri="{FF2B5EF4-FFF2-40B4-BE49-F238E27FC236}">
                <a16:creationId xmlns:a16="http://schemas.microsoft.com/office/drawing/2014/main" id="{7403BD26-23C5-4CF3-90A0-5BDB5D177D4A}"/>
              </a:ext>
            </a:extLst>
          </p:cNvPr>
          <p:cNvSpPr>
            <a:spLocks noGrp="1"/>
          </p:cNvSpPr>
          <p:nvPr/>
        </p:nvSpPr>
        <p:spPr>
          <a:xfrm>
            <a:off x="4124306" y="1095081"/>
            <a:ext cx="3511550" cy="233362"/>
          </a:xfrm>
          <a:prstGeom prst="rect">
            <a:avLst/>
          </a:prstGeom>
          <a:noFill/>
          <a:ln w="0">
            <a:noFill/>
            <a:prstDash val="solid"/>
          </a:ln>
        </p:spPr>
        <p:txBody>
          <a:bodyPr lIns="0" tIns="0" rIns="0" bIns="0" anchor="ctr">
            <a:noAutofit/>
          </a:bodyPr>
          <a:lstStyle/>
          <a:p>
            <a:pPr algn="l">
              <a:buNone/>
              <a:defRPr sz="975" b="1">
                <a:solidFill>
                  <a:srgbClr val="667085"/>
                </a:solidFill>
                <a:latin typeface="Arial"/>
                <a:ea typeface="Arial"/>
                <a:cs typeface="Arial"/>
              </a:defRPr>
            </a:pPr>
            <a:r>
              <a:rPr lang="de-DE" sz="1400" dirty="0">
                <a:solidFill>
                  <a:schemeClr val="tx1">
                    <a:lumMod val="95000"/>
                    <a:lumOff val="5000"/>
                  </a:schemeClr>
                </a:solidFill>
                <a:latin typeface="Times New Roman" panose="02020603050405020304" pitchFamily="18" charset="0"/>
                <a:ea typeface="Arial"/>
                <a:cs typeface="Times New Roman" panose="02020603050405020304" pitchFamily="18" charset="0"/>
              </a:rPr>
              <a:t>STANDARD </a:t>
            </a:r>
            <a:r>
              <a:rPr sz="1400" dirty="0">
                <a:solidFill>
                  <a:schemeClr val="tx1">
                    <a:lumMod val="95000"/>
                    <a:lumOff val="5000"/>
                  </a:schemeClr>
                </a:solidFill>
                <a:latin typeface="Times New Roman" panose="02020603050405020304" pitchFamily="18" charset="0"/>
                <a:ea typeface="Arial"/>
                <a:cs typeface="Times New Roman" panose="02020603050405020304" pitchFamily="18" charset="0"/>
              </a:rPr>
              <a:t>CLOUD-BASED INFERENCE</a:t>
            </a:r>
          </a:p>
        </p:txBody>
      </p:sp>
      <p:sp>
        <p:nvSpPr>
          <p:cNvPr id="8" name="Cloud flow arrow">
            <a:extLst>
              <a:ext uri="{FF2B5EF4-FFF2-40B4-BE49-F238E27FC236}">
                <a16:creationId xmlns:a16="http://schemas.microsoft.com/office/drawing/2014/main" id="{AC1FC314-A013-4129-BBB5-9258FF5CAC37}"/>
              </a:ext>
            </a:extLst>
          </p:cNvPr>
          <p:cNvSpPr>
            <a:spLocks noGrp="1"/>
          </p:cNvSpPr>
          <p:nvPr/>
        </p:nvSpPr>
        <p:spPr>
          <a:xfrm>
            <a:off x="2092306" y="1709915"/>
            <a:ext cx="971550" cy="400050"/>
          </a:xfrm>
          <a:prstGeom prst="rect">
            <a:avLst/>
          </a:prstGeom>
          <a:noFill/>
          <a:ln w="0">
            <a:noFill/>
            <a:prstDash val="solid"/>
          </a:ln>
        </p:spPr>
        <p:txBody>
          <a:bodyPr lIns="0" tIns="0" rIns="0" bIns="0" anchor="ctr">
            <a:noAutofit/>
          </a:bodyPr>
          <a:lstStyle/>
          <a:p>
            <a:pPr algn="ctr">
              <a:buNone/>
              <a:defRPr sz="2250" b="1">
                <a:solidFill>
                  <a:srgbClr val="D8DEE7"/>
                </a:solidFill>
                <a:latin typeface="Arial"/>
                <a:ea typeface="Arial"/>
                <a:cs typeface="Arial"/>
              </a:defRPr>
            </a:pPr>
            <a:r>
              <a:rPr sz="2400" b="1">
                <a:solidFill>
                  <a:srgbClr val="D8DEE7"/>
                </a:solidFill>
                <a:latin typeface="Times New Roman" panose="02020603050405020304" pitchFamily="18" charset="0"/>
                <a:ea typeface="Arial"/>
                <a:cs typeface="Times New Roman" panose="02020603050405020304" pitchFamily="18" charset="0"/>
              </a:rPr>
              <a:t>→</a:t>
            </a:r>
          </a:p>
        </p:txBody>
      </p:sp>
      <p:sp>
        <p:nvSpPr>
          <p:cNvPr id="9" name="Cloud flow arrow">
            <a:extLst>
              <a:ext uri="{FF2B5EF4-FFF2-40B4-BE49-F238E27FC236}">
                <a16:creationId xmlns:a16="http://schemas.microsoft.com/office/drawing/2014/main" id="{3E0F66B2-0DDA-4B06-BEB9-F8E487A8C1C6}"/>
              </a:ext>
            </a:extLst>
          </p:cNvPr>
          <p:cNvSpPr>
            <a:spLocks noGrp="1"/>
          </p:cNvSpPr>
          <p:nvPr/>
        </p:nvSpPr>
        <p:spPr>
          <a:xfrm>
            <a:off x="4378306" y="1709915"/>
            <a:ext cx="971550" cy="400050"/>
          </a:xfrm>
          <a:prstGeom prst="rect">
            <a:avLst/>
          </a:prstGeom>
          <a:noFill/>
          <a:ln w="0">
            <a:noFill/>
            <a:prstDash val="solid"/>
          </a:ln>
        </p:spPr>
        <p:txBody>
          <a:bodyPr lIns="0" tIns="0" rIns="0" bIns="0" anchor="ctr">
            <a:noAutofit/>
          </a:bodyPr>
          <a:lstStyle/>
          <a:p>
            <a:pPr algn="ctr">
              <a:buNone/>
              <a:defRPr sz="2250" b="1">
                <a:solidFill>
                  <a:srgbClr val="D8DEE7"/>
                </a:solidFill>
                <a:latin typeface="Arial"/>
                <a:ea typeface="Arial"/>
                <a:cs typeface="Arial"/>
              </a:defRPr>
            </a:pPr>
            <a:r>
              <a:rPr sz="2400" b="1">
                <a:solidFill>
                  <a:srgbClr val="D8DEE7"/>
                </a:solidFill>
                <a:latin typeface="Times New Roman" panose="02020603050405020304" pitchFamily="18" charset="0"/>
                <a:ea typeface="Arial"/>
                <a:cs typeface="Times New Roman" panose="02020603050405020304" pitchFamily="18" charset="0"/>
              </a:rPr>
              <a:t>→</a:t>
            </a:r>
          </a:p>
        </p:txBody>
      </p:sp>
      <p:sp>
        <p:nvSpPr>
          <p:cNvPr id="10" name="Cloud flow arrow">
            <a:extLst>
              <a:ext uri="{FF2B5EF4-FFF2-40B4-BE49-F238E27FC236}">
                <a16:creationId xmlns:a16="http://schemas.microsoft.com/office/drawing/2014/main" id="{92340D5F-39EA-42F9-BBC6-5870DCCC3747}"/>
              </a:ext>
            </a:extLst>
          </p:cNvPr>
          <p:cNvSpPr>
            <a:spLocks noGrp="1"/>
          </p:cNvSpPr>
          <p:nvPr/>
        </p:nvSpPr>
        <p:spPr>
          <a:xfrm>
            <a:off x="6664306" y="1709915"/>
            <a:ext cx="971550" cy="400050"/>
          </a:xfrm>
          <a:prstGeom prst="rect">
            <a:avLst/>
          </a:prstGeom>
          <a:noFill/>
          <a:ln w="0">
            <a:noFill/>
            <a:prstDash val="solid"/>
          </a:ln>
        </p:spPr>
        <p:txBody>
          <a:bodyPr lIns="0" tIns="0" rIns="0" bIns="0" anchor="ctr">
            <a:noAutofit/>
          </a:bodyPr>
          <a:lstStyle/>
          <a:p>
            <a:pPr algn="ctr">
              <a:buNone/>
              <a:defRPr sz="2250" b="1">
                <a:solidFill>
                  <a:srgbClr val="D8DEE7"/>
                </a:solidFill>
                <a:latin typeface="Arial"/>
                <a:ea typeface="Arial"/>
                <a:cs typeface="Arial"/>
              </a:defRPr>
            </a:pPr>
            <a:r>
              <a:rPr sz="2400" b="1" dirty="0">
                <a:solidFill>
                  <a:srgbClr val="D8DEE7"/>
                </a:solidFill>
                <a:latin typeface="Times New Roman" panose="02020603050405020304" pitchFamily="18" charset="0"/>
                <a:ea typeface="Arial"/>
                <a:cs typeface="Times New Roman" panose="02020603050405020304" pitchFamily="18" charset="0"/>
              </a:rPr>
              <a:t>→</a:t>
            </a:r>
          </a:p>
        </p:txBody>
      </p:sp>
      <p:sp>
        <p:nvSpPr>
          <p:cNvPr id="11" name="Cloud flow arrow">
            <a:extLst>
              <a:ext uri="{FF2B5EF4-FFF2-40B4-BE49-F238E27FC236}">
                <a16:creationId xmlns:a16="http://schemas.microsoft.com/office/drawing/2014/main" id="{0CAAFC10-5EA3-40D3-BB75-2103FA64CD3F}"/>
              </a:ext>
            </a:extLst>
          </p:cNvPr>
          <p:cNvSpPr>
            <a:spLocks noGrp="1"/>
          </p:cNvSpPr>
          <p:nvPr/>
        </p:nvSpPr>
        <p:spPr>
          <a:xfrm>
            <a:off x="8950306" y="1709915"/>
            <a:ext cx="971550" cy="400050"/>
          </a:xfrm>
          <a:prstGeom prst="rect">
            <a:avLst/>
          </a:prstGeom>
          <a:noFill/>
          <a:ln w="0">
            <a:noFill/>
            <a:prstDash val="solid"/>
          </a:ln>
        </p:spPr>
        <p:txBody>
          <a:bodyPr lIns="0" tIns="0" rIns="0" bIns="0" anchor="ctr">
            <a:noAutofit/>
          </a:bodyPr>
          <a:lstStyle/>
          <a:p>
            <a:pPr algn="ctr">
              <a:buNone/>
              <a:defRPr sz="2250" b="1">
                <a:solidFill>
                  <a:srgbClr val="D8DEE7"/>
                </a:solidFill>
                <a:latin typeface="Arial"/>
                <a:ea typeface="Arial"/>
                <a:cs typeface="Arial"/>
              </a:defRPr>
            </a:pPr>
            <a:r>
              <a:rPr sz="2400" b="1">
                <a:solidFill>
                  <a:srgbClr val="D8DEE7"/>
                </a:solidFill>
                <a:latin typeface="Times New Roman" panose="02020603050405020304" pitchFamily="18" charset="0"/>
                <a:ea typeface="Arial"/>
                <a:cs typeface="Times New Roman" panose="02020603050405020304" pitchFamily="18" charset="0"/>
              </a:rPr>
              <a:t>→</a:t>
            </a:r>
          </a:p>
        </p:txBody>
      </p:sp>
      <p:sp>
        <p:nvSpPr>
          <p:cNvPr id="12" name="User icon plate">
            <a:extLst>
              <a:ext uri="{FF2B5EF4-FFF2-40B4-BE49-F238E27FC236}">
                <a16:creationId xmlns:a16="http://schemas.microsoft.com/office/drawing/2014/main" id="{00C02B92-61F9-4E84-856A-3CE3CF4EEE25}"/>
              </a:ext>
            </a:extLst>
          </p:cNvPr>
          <p:cNvSpPr>
            <a:spLocks noGrp="1"/>
          </p:cNvSpPr>
          <p:nvPr/>
        </p:nvSpPr>
        <p:spPr>
          <a:xfrm>
            <a:off x="1158856" y="1652765"/>
            <a:ext cx="552450" cy="552450"/>
          </a:xfrm>
          <a:prstGeom prst="ellipse">
            <a:avLst/>
          </a:prstGeom>
          <a:solidFill>
            <a:srgbClr val="F3F5F7"/>
          </a:solidFill>
          <a:ln w="14288">
            <a:solidFill>
              <a:srgbClr val="667085"/>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3" name="User icon head">
            <a:extLst>
              <a:ext uri="{FF2B5EF4-FFF2-40B4-BE49-F238E27FC236}">
                <a16:creationId xmlns:a16="http://schemas.microsoft.com/office/drawing/2014/main" id="{7CFB2FD3-AD15-4699-BDF8-2D987906E3F1}"/>
              </a:ext>
            </a:extLst>
          </p:cNvPr>
          <p:cNvSpPr>
            <a:spLocks noGrp="1"/>
          </p:cNvSpPr>
          <p:nvPr/>
        </p:nvSpPr>
        <p:spPr>
          <a:xfrm>
            <a:off x="1368406" y="1767065"/>
            <a:ext cx="133350" cy="133350"/>
          </a:xfrm>
          <a:prstGeom prst="ellipse">
            <a:avLst/>
          </a:prstGeom>
          <a:solidFill>
            <a:srgbClr val="667085"/>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4" name="User icon body">
            <a:extLst>
              <a:ext uri="{FF2B5EF4-FFF2-40B4-BE49-F238E27FC236}">
                <a16:creationId xmlns:a16="http://schemas.microsoft.com/office/drawing/2014/main" id="{8F87E4E9-C87D-42A8-9274-7EBEDAA650CC}"/>
              </a:ext>
            </a:extLst>
          </p:cNvPr>
          <p:cNvSpPr>
            <a:spLocks noGrp="1"/>
          </p:cNvSpPr>
          <p:nvPr/>
        </p:nvSpPr>
        <p:spPr>
          <a:xfrm>
            <a:off x="1311256" y="1928990"/>
            <a:ext cx="247650" cy="161925"/>
          </a:xfrm>
          <a:prstGeom prst="roundRect">
            <a:avLst>
              <a:gd name="adj" fmla="val 47059"/>
            </a:avLst>
          </a:prstGeom>
          <a:solidFill>
            <a:srgbClr val="667085"/>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5" name="User label">
            <a:extLst>
              <a:ext uri="{FF2B5EF4-FFF2-40B4-BE49-F238E27FC236}">
                <a16:creationId xmlns:a16="http://schemas.microsoft.com/office/drawing/2014/main" id="{95098534-D2AA-480F-992E-41817D08E6B1}"/>
              </a:ext>
            </a:extLst>
          </p:cNvPr>
          <p:cNvSpPr>
            <a:spLocks noGrp="1"/>
          </p:cNvSpPr>
          <p:nvPr/>
        </p:nvSpPr>
        <p:spPr>
          <a:xfrm>
            <a:off x="530206" y="2243315"/>
            <a:ext cx="1809750" cy="238125"/>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User</a:t>
            </a:r>
          </a:p>
        </p:txBody>
      </p:sp>
      <p:sp>
        <p:nvSpPr>
          <p:cNvPr id="20" name="Internet label">
            <a:extLst>
              <a:ext uri="{FF2B5EF4-FFF2-40B4-BE49-F238E27FC236}">
                <a16:creationId xmlns:a16="http://schemas.microsoft.com/office/drawing/2014/main" id="{1DDE4790-CFD1-44E3-B444-F23A6312F5E5}"/>
              </a:ext>
            </a:extLst>
          </p:cNvPr>
          <p:cNvSpPr>
            <a:spLocks noGrp="1"/>
          </p:cNvSpPr>
          <p:nvPr/>
        </p:nvSpPr>
        <p:spPr>
          <a:xfrm>
            <a:off x="2816206" y="2243315"/>
            <a:ext cx="1809750" cy="238125"/>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Internet</a:t>
            </a:r>
          </a:p>
        </p:txBody>
      </p:sp>
      <p:sp>
        <p:nvSpPr>
          <p:cNvPr id="21" name="Provider icon plate">
            <a:extLst>
              <a:ext uri="{FF2B5EF4-FFF2-40B4-BE49-F238E27FC236}">
                <a16:creationId xmlns:a16="http://schemas.microsoft.com/office/drawing/2014/main" id="{EEED61C3-6DF0-45AC-A683-137198F8FECA}"/>
              </a:ext>
            </a:extLst>
          </p:cNvPr>
          <p:cNvSpPr>
            <a:spLocks noGrp="1"/>
          </p:cNvSpPr>
          <p:nvPr/>
        </p:nvSpPr>
        <p:spPr>
          <a:xfrm>
            <a:off x="5709689" y="1655234"/>
            <a:ext cx="552450" cy="552450"/>
          </a:xfrm>
          <a:prstGeom prst="ellipse">
            <a:avLst/>
          </a:prstGeom>
          <a:solidFill>
            <a:srgbClr val="F3F5F7"/>
          </a:solidFill>
          <a:ln w="14288">
            <a:solidFill>
              <a:srgbClr val="667085"/>
            </a:solidFill>
            <a:prstDash val="solid"/>
          </a:ln>
        </p:spPr>
        <p:txBody>
          <a:bodyPr/>
          <a:lstStyle/>
          <a:p>
            <a:endParaRPr lang="en-DE" dirty="0">
              <a:latin typeface="Times New Roman" panose="02020603050405020304" pitchFamily="18" charset="0"/>
              <a:cs typeface="Times New Roman" panose="02020603050405020304" pitchFamily="18" charset="0"/>
            </a:endParaRPr>
          </a:p>
        </p:txBody>
      </p:sp>
      <p:sp>
        <p:nvSpPr>
          <p:cNvPr id="26" name="External Provider label">
            <a:extLst>
              <a:ext uri="{FF2B5EF4-FFF2-40B4-BE49-F238E27FC236}">
                <a16:creationId xmlns:a16="http://schemas.microsoft.com/office/drawing/2014/main" id="{47B4C290-E93A-42E7-9C61-64C112F98D29}"/>
              </a:ext>
            </a:extLst>
          </p:cNvPr>
          <p:cNvSpPr>
            <a:spLocks noGrp="1"/>
          </p:cNvSpPr>
          <p:nvPr/>
        </p:nvSpPr>
        <p:spPr>
          <a:xfrm>
            <a:off x="5102206" y="2243315"/>
            <a:ext cx="1809750" cy="238125"/>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External Provider</a:t>
            </a:r>
          </a:p>
        </p:txBody>
      </p:sp>
      <p:sp>
        <p:nvSpPr>
          <p:cNvPr id="27" name="Model icon plate">
            <a:extLst>
              <a:ext uri="{FF2B5EF4-FFF2-40B4-BE49-F238E27FC236}">
                <a16:creationId xmlns:a16="http://schemas.microsoft.com/office/drawing/2014/main" id="{214E35C8-B0D0-4DE2-A37C-D85632EBCD9A}"/>
              </a:ext>
            </a:extLst>
          </p:cNvPr>
          <p:cNvSpPr>
            <a:spLocks noGrp="1"/>
          </p:cNvSpPr>
          <p:nvPr/>
        </p:nvSpPr>
        <p:spPr>
          <a:xfrm>
            <a:off x="8016856" y="1652765"/>
            <a:ext cx="552450" cy="552450"/>
          </a:xfrm>
          <a:prstGeom prst="ellipse">
            <a:avLst/>
          </a:prstGeom>
          <a:solidFill>
            <a:srgbClr val="F3F5F7"/>
          </a:solidFill>
          <a:ln w="14288">
            <a:solidFill>
              <a:srgbClr val="667085"/>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8" name="Model processor">
            <a:extLst>
              <a:ext uri="{FF2B5EF4-FFF2-40B4-BE49-F238E27FC236}">
                <a16:creationId xmlns:a16="http://schemas.microsoft.com/office/drawing/2014/main" id="{F33E020D-E46C-4807-B5C7-0F7FCE1B4B2F}"/>
              </a:ext>
            </a:extLst>
          </p:cNvPr>
          <p:cNvSpPr>
            <a:spLocks noGrp="1"/>
          </p:cNvSpPr>
          <p:nvPr/>
        </p:nvSpPr>
        <p:spPr>
          <a:xfrm>
            <a:off x="8131156" y="1767065"/>
            <a:ext cx="323850" cy="323850"/>
          </a:xfrm>
          <a:prstGeom prst="hexagon">
            <a:avLst/>
          </a:prstGeom>
          <a:solidFill>
            <a:srgbClr val="FFFFFF"/>
          </a:solidFill>
          <a:ln w="13335">
            <a:solidFill>
              <a:srgbClr val="667085"/>
            </a:solidFill>
            <a:prstDash val="solid"/>
          </a:ln>
        </p:spPr>
        <p:txBody>
          <a:bodyPr lIns="0" tIns="0" rIns="0" bIns="0" anchor="ctr">
            <a:noAutofit/>
          </a:bodyPr>
          <a:lstStyle/>
          <a:p>
            <a:pPr algn="ctr">
              <a:buNone/>
              <a:defRPr sz="975" b="1">
                <a:solidFill>
                  <a:srgbClr val="667085"/>
                </a:solidFill>
                <a:latin typeface="Arial"/>
                <a:ea typeface="Arial"/>
                <a:cs typeface="Arial"/>
              </a:defRPr>
            </a:pPr>
            <a:r>
              <a:rPr sz="1000" b="1">
                <a:solidFill>
                  <a:srgbClr val="667085"/>
                </a:solidFill>
                <a:latin typeface="Times New Roman" panose="02020603050405020304" pitchFamily="18" charset="0"/>
                <a:ea typeface="Arial"/>
                <a:cs typeface="Times New Roman" panose="02020603050405020304" pitchFamily="18" charset="0"/>
              </a:rPr>
              <a:t>AI</a:t>
            </a:r>
          </a:p>
        </p:txBody>
      </p:sp>
      <p:sp>
        <p:nvSpPr>
          <p:cNvPr id="29" name="LLM / Model label">
            <a:extLst>
              <a:ext uri="{FF2B5EF4-FFF2-40B4-BE49-F238E27FC236}">
                <a16:creationId xmlns:a16="http://schemas.microsoft.com/office/drawing/2014/main" id="{34A39948-2497-4AC0-956A-38C813A59003}"/>
              </a:ext>
            </a:extLst>
          </p:cNvPr>
          <p:cNvSpPr>
            <a:spLocks noGrp="1"/>
          </p:cNvSpPr>
          <p:nvPr/>
        </p:nvSpPr>
        <p:spPr>
          <a:xfrm>
            <a:off x="7388206" y="2243315"/>
            <a:ext cx="1809750" cy="238125"/>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LLM / Model</a:t>
            </a:r>
          </a:p>
        </p:txBody>
      </p:sp>
      <p:sp>
        <p:nvSpPr>
          <p:cNvPr id="30" name="Response icon plate">
            <a:extLst>
              <a:ext uri="{FF2B5EF4-FFF2-40B4-BE49-F238E27FC236}">
                <a16:creationId xmlns:a16="http://schemas.microsoft.com/office/drawing/2014/main" id="{D4C9A48E-373D-4818-A045-9298B81D0494}"/>
              </a:ext>
            </a:extLst>
          </p:cNvPr>
          <p:cNvSpPr>
            <a:spLocks noGrp="1"/>
          </p:cNvSpPr>
          <p:nvPr/>
        </p:nvSpPr>
        <p:spPr>
          <a:xfrm>
            <a:off x="10302856" y="1652765"/>
            <a:ext cx="552450" cy="552450"/>
          </a:xfrm>
          <a:prstGeom prst="ellipse">
            <a:avLst/>
          </a:prstGeom>
          <a:solidFill>
            <a:srgbClr val="F3F5F7"/>
          </a:solidFill>
          <a:ln w="14288">
            <a:solidFill>
              <a:srgbClr val="667085"/>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1" name="Response chat bubble">
            <a:extLst>
              <a:ext uri="{FF2B5EF4-FFF2-40B4-BE49-F238E27FC236}">
                <a16:creationId xmlns:a16="http://schemas.microsoft.com/office/drawing/2014/main" id="{4AB78F00-AE4A-4837-975F-18ECFAAAB3B8}"/>
              </a:ext>
            </a:extLst>
          </p:cNvPr>
          <p:cNvSpPr>
            <a:spLocks noGrp="1"/>
          </p:cNvSpPr>
          <p:nvPr/>
        </p:nvSpPr>
        <p:spPr>
          <a:xfrm>
            <a:off x="10407631" y="1805165"/>
            <a:ext cx="342900" cy="238125"/>
          </a:xfrm>
          <a:prstGeom prst="roundRect">
            <a:avLst>
              <a:gd name="adj" fmla="val 32000"/>
            </a:avLst>
          </a:prstGeom>
          <a:solidFill>
            <a:srgbClr val="FFFFFF"/>
          </a:solidFill>
          <a:ln w="13335">
            <a:solidFill>
              <a:srgbClr val="667085"/>
            </a:solidFill>
            <a:prstDash val="solid"/>
          </a:ln>
        </p:spPr>
        <p:txBody>
          <a:bodyPr lIns="0" tIns="0" rIns="0" bIns="0" anchor="ctr">
            <a:noAutofit/>
          </a:bodyPr>
          <a:lstStyle/>
          <a:p>
            <a:pPr algn="ctr">
              <a:buNone/>
              <a:defRPr sz="1050" b="1">
                <a:solidFill>
                  <a:srgbClr val="667085"/>
                </a:solidFill>
                <a:latin typeface="Arial"/>
                <a:ea typeface="Arial"/>
                <a:cs typeface="Arial"/>
              </a:defRPr>
            </a:pPr>
            <a:r>
              <a:rPr sz="1050" b="1">
                <a:solidFill>
                  <a:srgbClr val="667085"/>
                </a:solidFill>
                <a:latin typeface="Times New Roman" panose="02020603050405020304" pitchFamily="18" charset="0"/>
                <a:ea typeface="Arial"/>
                <a:cs typeface="Times New Roman" panose="02020603050405020304" pitchFamily="18" charset="0"/>
              </a:rPr>
              <a:t>•••</a:t>
            </a:r>
          </a:p>
        </p:txBody>
      </p:sp>
      <p:sp>
        <p:nvSpPr>
          <p:cNvPr id="32" name="Response label">
            <a:extLst>
              <a:ext uri="{FF2B5EF4-FFF2-40B4-BE49-F238E27FC236}">
                <a16:creationId xmlns:a16="http://schemas.microsoft.com/office/drawing/2014/main" id="{584F1448-6909-4902-816D-646284404864}"/>
              </a:ext>
            </a:extLst>
          </p:cNvPr>
          <p:cNvSpPr>
            <a:spLocks noGrp="1"/>
          </p:cNvSpPr>
          <p:nvPr/>
        </p:nvSpPr>
        <p:spPr>
          <a:xfrm>
            <a:off x="9674206" y="2243315"/>
            <a:ext cx="1809750" cy="238125"/>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Response</a:t>
            </a:r>
          </a:p>
        </p:txBody>
      </p:sp>
      <p:sp>
        <p:nvSpPr>
          <p:cNvPr id="33" name="Cloud concern 1 marker">
            <a:extLst>
              <a:ext uri="{FF2B5EF4-FFF2-40B4-BE49-F238E27FC236}">
                <a16:creationId xmlns:a16="http://schemas.microsoft.com/office/drawing/2014/main" id="{82EA5F9C-346F-4019-9C76-EA4409183AD0}"/>
              </a:ext>
            </a:extLst>
          </p:cNvPr>
          <p:cNvSpPr>
            <a:spLocks noGrp="1"/>
          </p:cNvSpPr>
          <p:nvPr/>
        </p:nvSpPr>
        <p:spPr>
          <a:xfrm>
            <a:off x="720706" y="2662415"/>
            <a:ext cx="57150" cy="2857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4" name="Cloud concern 1">
            <a:extLst>
              <a:ext uri="{FF2B5EF4-FFF2-40B4-BE49-F238E27FC236}">
                <a16:creationId xmlns:a16="http://schemas.microsoft.com/office/drawing/2014/main" id="{AC468046-785F-444B-8FDB-19756111FB38}"/>
              </a:ext>
            </a:extLst>
          </p:cNvPr>
          <p:cNvSpPr>
            <a:spLocks noGrp="1"/>
          </p:cNvSpPr>
          <p:nvPr/>
        </p:nvSpPr>
        <p:spPr>
          <a:xfrm>
            <a:off x="873106" y="2614790"/>
            <a:ext cx="1943100" cy="409575"/>
          </a:xfrm>
          <a:prstGeom prst="rect">
            <a:avLst/>
          </a:prstGeom>
          <a:noFill/>
          <a:ln w="0">
            <a:noFill/>
            <a:prstDash val="solid"/>
          </a:ln>
        </p:spPr>
        <p:txBody>
          <a:bodyPr lIns="0" tIns="0" rIns="0" bIns="0" anchor="t">
            <a:noAutofit/>
          </a:bodyPr>
          <a:lstStyle/>
          <a:p>
            <a:pPr algn="l">
              <a:buNone/>
              <a:defRPr sz="1350">
                <a:solidFill>
                  <a:srgbClr val="7A4A13"/>
                </a:solidFill>
                <a:latin typeface="Arial"/>
                <a:ea typeface="Arial"/>
                <a:cs typeface="Arial"/>
              </a:defRPr>
            </a:pPr>
            <a:r>
              <a:rPr sz="1400" dirty="0">
                <a:solidFill>
                  <a:schemeClr val="tx1">
                    <a:lumMod val="85000"/>
                    <a:lumOff val="15000"/>
                  </a:schemeClr>
                </a:solidFill>
                <a:latin typeface="Times New Roman" panose="02020603050405020304" pitchFamily="18" charset="0"/>
                <a:ea typeface="Arial"/>
                <a:cs typeface="Times New Roman" panose="02020603050405020304" pitchFamily="18" charset="0"/>
              </a:rPr>
              <a:t>Prompts are sent off-device for processing</a:t>
            </a:r>
          </a:p>
        </p:txBody>
      </p:sp>
      <p:sp>
        <p:nvSpPr>
          <p:cNvPr id="35" name="Cloud concern 2 marker">
            <a:extLst>
              <a:ext uri="{FF2B5EF4-FFF2-40B4-BE49-F238E27FC236}">
                <a16:creationId xmlns:a16="http://schemas.microsoft.com/office/drawing/2014/main" id="{8E5733FB-8B11-4B82-BC04-684E6C018D9D}"/>
              </a:ext>
            </a:extLst>
          </p:cNvPr>
          <p:cNvSpPr>
            <a:spLocks noGrp="1"/>
          </p:cNvSpPr>
          <p:nvPr/>
        </p:nvSpPr>
        <p:spPr>
          <a:xfrm>
            <a:off x="5949931" y="2662415"/>
            <a:ext cx="57150" cy="2857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6" name="Cloud concern 2">
            <a:extLst>
              <a:ext uri="{FF2B5EF4-FFF2-40B4-BE49-F238E27FC236}">
                <a16:creationId xmlns:a16="http://schemas.microsoft.com/office/drawing/2014/main" id="{89908F91-8371-4FDA-9C39-FBD4A7C6B0CB}"/>
              </a:ext>
            </a:extLst>
          </p:cNvPr>
          <p:cNvSpPr>
            <a:spLocks noGrp="1"/>
          </p:cNvSpPr>
          <p:nvPr/>
        </p:nvSpPr>
        <p:spPr>
          <a:xfrm>
            <a:off x="6096000" y="2614789"/>
            <a:ext cx="2157412" cy="639473"/>
          </a:xfrm>
          <a:prstGeom prst="rect">
            <a:avLst/>
          </a:prstGeom>
          <a:noFill/>
          <a:ln w="0">
            <a:noFill/>
            <a:prstDash val="solid"/>
          </a:ln>
        </p:spPr>
        <p:txBody>
          <a:bodyPr lIns="0" tIns="0" rIns="0" bIns="0" anchor="t">
            <a:noAutofit/>
          </a:bodyPr>
          <a:lstStyle/>
          <a:p>
            <a:pPr>
              <a:buNone/>
              <a:defRPr sz="1350">
                <a:solidFill>
                  <a:srgbClr val="7A4A13"/>
                </a:solidFill>
                <a:latin typeface="Arial"/>
                <a:ea typeface="Arial"/>
                <a:cs typeface="Arial"/>
              </a:defRPr>
            </a:pPr>
            <a:r>
              <a:rPr sz="1400" dirty="0">
                <a:solidFill>
                  <a:schemeClr val="tx1">
                    <a:lumMod val="85000"/>
                    <a:lumOff val="15000"/>
                  </a:schemeClr>
                </a:solidFill>
                <a:latin typeface="Times New Roman" panose="02020603050405020304" pitchFamily="18" charset="0"/>
                <a:ea typeface="Arial"/>
                <a:cs typeface="Times New Roman" panose="02020603050405020304" pitchFamily="18" charset="0"/>
              </a:rPr>
              <a:t>Inference depends on an external service</a:t>
            </a:r>
            <a:r>
              <a:rPr lang="de-DE" sz="1400" dirty="0">
                <a:solidFill>
                  <a:schemeClr val="tx1">
                    <a:lumMod val="85000"/>
                    <a:lumOff val="15000"/>
                  </a:schemeClr>
                </a:solidFill>
                <a:latin typeface="Times New Roman" panose="02020603050405020304" pitchFamily="18" charset="0"/>
                <a:ea typeface="Arial"/>
                <a:cs typeface="Times New Roman" panose="02020603050405020304" pitchFamily="18" charset="0"/>
              </a:rPr>
              <a:t> and may create API cost</a:t>
            </a:r>
            <a:endParaRPr sz="1400" dirty="0">
              <a:solidFill>
                <a:schemeClr val="tx1">
                  <a:lumMod val="85000"/>
                  <a:lumOff val="15000"/>
                </a:schemeClr>
              </a:solidFill>
              <a:latin typeface="Times New Roman" panose="02020603050405020304" pitchFamily="18" charset="0"/>
              <a:ea typeface="Arial"/>
              <a:cs typeface="Times New Roman" panose="02020603050405020304" pitchFamily="18" charset="0"/>
            </a:endParaRPr>
          </a:p>
        </p:txBody>
      </p:sp>
      <p:sp>
        <p:nvSpPr>
          <p:cNvPr id="37" name="Cloud concern 3 marker">
            <a:extLst>
              <a:ext uri="{FF2B5EF4-FFF2-40B4-BE49-F238E27FC236}">
                <a16:creationId xmlns:a16="http://schemas.microsoft.com/office/drawing/2014/main" id="{2379D749-E6AA-46CD-967F-261513D96157}"/>
              </a:ext>
            </a:extLst>
          </p:cNvPr>
          <p:cNvSpPr>
            <a:spLocks noGrp="1"/>
          </p:cNvSpPr>
          <p:nvPr/>
        </p:nvSpPr>
        <p:spPr>
          <a:xfrm>
            <a:off x="8601331" y="2691167"/>
            <a:ext cx="57150" cy="2857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8" name="Cloud concern 3">
            <a:extLst>
              <a:ext uri="{FF2B5EF4-FFF2-40B4-BE49-F238E27FC236}">
                <a16:creationId xmlns:a16="http://schemas.microsoft.com/office/drawing/2014/main" id="{FFE82BD5-4C2B-4857-AFA9-90CFA8B34099}"/>
              </a:ext>
            </a:extLst>
          </p:cNvPr>
          <p:cNvSpPr>
            <a:spLocks noGrp="1"/>
          </p:cNvSpPr>
          <p:nvPr/>
        </p:nvSpPr>
        <p:spPr>
          <a:xfrm>
            <a:off x="8779619" y="2614790"/>
            <a:ext cx="2511494" cy="409575"/>
          </a:xfrm>
          <a:prstGeom prst="rect">
            <a:avLst/>
          </a:prstGeom>
          <a:noFill/>
          <a:ln w="0">
            <a:noFill/>
            <a:prstDash val="solid"/>
          </a:ln>
        </p:spPr>
        <p:txBody>
          <a:bodyPr lIns="0" tIns="0" rIns="0" bIns="0" anchor="t">
            <a:noAutofit/>
          </a:bodyPr>
          <a:lstStyle/>
          <a:p>
            <a:pPr algn="l">
              <a:buNone/>
              <a:defRPr sz="1350">
                <a:solidFill>
                  <a:srgbClr val="7A4A13"/>
                </a:solidFill>
                <a:latin typeface="Arial"/>
                <a:ea typeface="Arial"/>
                <a:cs typeface="Arial"/>
              </a:defRPr>
            </a:pPr>
            <a:r>
              <a:rPr sz="1400" dirty="0">
                <a:solidFill>
                  <a:schemeClr val="tx1">
                    <a:lumMod val="85000"/>
                    <a:lumOff val="15000"/>
                  </a:schemeClr>
                </a:solidFill>
                <a:latin typeface="Times New Roman" panose="02020603050405020304" pitchFamily="18" charset="0"/>
                <a:ea typeface="Arial"/>
                <a:cs typeface="Times New Roman" panose="02020603050405020304" pitchFamily="18" charset="0"/>
              </a:rPr>
              <a:t>Limited direct control over processing location and runtime</a:t>
            </a:r>
          </a:p>
        </p:txBody>
      </p:sp>
      <p:sp>
        <p:nvSpPr>
          <p:cNvPr id="69" name="Project objective band">
            <a:extLst>
              <a:ext uri="{FF2B5EF4-FFF2-40B4-BE49-F238E27FC236}">
                <a16:creationId xmlns:a16="http://schemas.microsoft.com/office/drawing/2014/main" id="{3FFDF63F-75F5-415F-B019-6ABF86717728}"/>
              </a:ext>
            </a:extLst>
          </p:cNvPr>
          <p:cNvSpPr>
            <a:spLocks noGrp="1"/>
          </p:cNvSpPr>
          <p:nvPr/>
        </p:nvSpPr>
        <p:spPr>
          <a:xfrm>
            <a:off x="698308" y="5882109"/>
            <a:ext cx="11007706" cy="457201"/>
          </a:xfrm>
          <a:prstGeom prst="roundRect">
            <a:avLst>
              <a:gd name="adj" fmla="val 7843"/>
            </a:avLst>
          </a:prstGeom>
          <a:noFill/>
          <a:ln w="11430">
            <a:solidFill>
              <a:srgbClr val="C9D7E7"/>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71" name="Project objective statement">
            <a:extLst>
              <a:ext uri="{FF2B5EF4-FFF2-40B4-BE49-F238E27FC236}">
                <a16:creationId xmlns:a16="http://schemas.microsoft.com/office/drawing/2014/main" id="{A6717577-FDC4-4646-A10C-19DD4C29FAC4}"/>
              </a:ext>
            </a:extLst>
          </p:cNvPr>
          <p:cNvSpPr>
            <a:spLocks noGrp="1"/>
          </p:cNvSpPr>
          <p:nvPr/>
        </p:nvSpPr>
        <p:spPr>
          <a:xfrm>
            <a:off x="806220" y="5891634"/>
            <a:ext cx="10911838" cy="457200"/>
          </a:xfrm>
          <a:prstGeom prst="rect">
            <a:avLst/>
          </a:prstGeom>
          <a:noFill/>
          <a:ln w="0">
            <a:noFill/>
            <a:prstDash val="solid"/>
          </a:ln>
        </p:spPr>
        <p:txBody>
          <a:bodyPr lIns="0" tIns="0" rIns="0" bIns="0" anchor="ctr">
            <a:noAutofit/>
          </a:bodyPr>
          <a:lstStyle/>
          <a:p>
            <a:pPr algn="ctr"/>
            <a:r>
              <a:rPr lang="en-DE" sz="1400" b="1" i="1" dirty="0">
                <a:latin typeface="Times New Roman" panose="02020603050405020304" pitchFamily="18" charset="0"/>
                <a:cs typeface="Times New Roman" panose="02020603050405020304" pitchFamily="18" charset="0"/>
              </a:rPr>
              <a:t>OUR APPROACH: Run LLM inference locally to give users more direct control and reduce dependence on external providers.</a:t>
            </a:r>
          </a:p>
        </p:txBody>
      </p:sp>
      <p:sp>
        <p:nvSpPr>
          <p:cNvPr id="79" name="Rectangle 78">
            <a:extLst>
              <a:ext uri="{FF2B5EF4-FFF2-40B4-BE49-F238E27FC236}">
                <a16:creationId xmlns:a16="http://schemas.microsoft.com/office/drawing/2014/main" id="{27667D5D-073B-188B-67F5-436F64906621}"/>
              </a:ext>
            </a:extLst>
          </p:cNvPr>
          <p:cNvSpPr/>
          <p:nvPr/>
        </p:nvSpPr>
        <p:spPr>
          <a:xfrm>
            <a:off x="5144519" y="1474123"/>
            <a:ext cx="1682790" cy="1013987"/>
          </a:xfrm>
          <a:prstGeom prst="rect">
            <a:avLst/>
          </a:prstGeom>
          <a:solidFill>
            <a:schemeClr val="accent1">
              <a:alpha val="1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latin typeface="Times New Roman" panose="02020603050405020304" pitchFamily="18" charset="0"/>
              <a:cs typeface="Times New Roman" panose="02020603050405020304" pitchFamily="18" charset="0"/>
            </a:endParaRPr>
          </a:p>
        </p:txBody>
      </p:sp>
      <p:sp>
        <p:nvSpPr>
          <p:cNvPr id="92" name="Shape 10">
            <a:extLst>
              <a:ext uri="{FF2B5EF4-FFF2-40B4-BE49-F238E27FC236}">
                <a16:creationId xmlns:a16="http://schemas.microsoft.com/office/drawing/2014/main" id="{9CBB5A87-352F-5565-B0FC-0BEFA15FFE1A}"/>
              </a:ext>
            </a:extLst>
          </p:cNvPr>
          <p:cNvSpPr/>
          <p:nvPr/>
        </p:nvSpPr>
        <p:spPr>
          <a:xfrm>
            <a:off x="723899" y="3721164"/>
            <a:ext cx="11045807" cy="2041755"/>
          </a:xfrm>
          <a:prstGeom prst="rect">
            <a:avLst/>
          </a:prstGeom>
          <a:solidFill>
            <a:srgbClr val="F1F5F9"/>
          </a:solidFill>
          <a:ln/>
          <a:effectLst>
            <a:outerShdw blurRad="101600" dist="25400" dir="8100000" algn="bl" rotWithShape="0">
              <a:srgbClr val="000000">
                <a:alpha val="20000"/>
              </a:srgbClr>
            </a:outerShdw>
          </a:effectLst>
        </p:spPr>
        <p:txBody>
          <a:bodyPr/>
          <a:lstStyle/>
          <a:p>
            <a:endParaRPr lang="en-US" dirty="0">
              <a:latin typeface="Times New Roman" panose="02020603050405020304" pitchFamily="18" charset="0"/>
              <a:cs typeface="Times New Roman" panose="02020603050405020304" pitchFamily="18" charset="0"/>
            </a:endParaRPr>
          </a:p>
        </p:txBody>
      </p:sp>
      <p:sp>
        <p:nvSpPr>
          <p:cNvPr id="94" name="Text 12">
            <a:extLst>
              <a:ext uri="{FF2B5EF4-FFF2-40B4-BE49-F238E27FC236}">
                <a16:creationId xmlns:a16="http://schemas.microsoft.com/office/drawing/2014/main" id="{7CCE454C-C14F-39EC-44D3-E840FB711B2A}"/>
              </a:ext>
            </a:extLst>
          </p:cNvPr>
          <p:cNvSpPr/>
          <p:nvPr/>
        </p:nvSpPr>
        <p:spPr>
          <a:xfrm>
            <a:off x="1051650" y="3832429"/>
            <a:ext cx="5411873" cy="426720"/>
          </a:xfrm>
          <a:prstGeom prst="rect">
            <a:avLst/>
          </a:prstGeom>
          <a:noFill/>
          <a:ln/>
        </p:spPr>
        <p:txBody>
          <a:bodyPr wrap="square" lIns="0" tIns="0" rIns="0" bIns="0" rtlCol="0" anchor="ctr"/>
          <a:lstStyle/>
          <a:p>
            <a:pPr marL="0" indent="0">
              <a:buNone/>
            </a:pPr>
            <a:r>
              <a:rPr lang="en-US" sz="2000" b="1" dirty="0">
                <a:latin typeface="Times New Roman" panose="02020603050405020304" pitchFamily="18" charset="0"/>
                <a:cs typeface="Times New Roman" panose="02020603050405020304" pitchFamily="18" charset="0"/>
              </a:rPr>
              <a:t>LOCAL LLM INFERENCE </a:t>
            </a:r>
            <a:endParaRPr lang="en-US" sz="2000" dirty="0">
              <a:latin typeface="Times New Roman" panose="02020603050405020304" pitchFamily="18" charset="0"/>
              <a:cs typeface="Times New Roman" panose="02020603050405020304" pitchFamily="18" charset="0"/>
            </a:endParaRPr>
          </a:p>
        </p:txBody>
      </p:sp>
      <p:sp>
        <p:nvSpPr>
          <p:cNvPr id="96" name="Text 13">
            <a:extLst>
              <a:ext uri="{FF2B5EF4-FFF2-40B4-BE49-F238E27FC236}">
                <a16:creationId xmlns:a16="http://schemas.microsoft.com/office/drawing/2014/main" id="{A9AC25A7-8D3B-F301-E955-8CEF2C353D8F}"/>
              </a:ext>
            </a:extLst>
          </p:cNvPr>
          <p:cNvSpPr/>
          <p:nvPr/>
        </p:nvSpPr>
        <p:spPr>
          <a:xfrm>
            <a:off x="1516379" y="4385828"/>
            <a:ext cx="5005983" cy="365760"/>
          </a:xfrm>
          <a:prstGeom prst="rect">
            <a:avLst/>
          </a:prstGeom>
          <a:noFill/>
          <a:ln/>
        </p:spPr>
        <p:txBody>
          <a:bodyPr wrap="square" lIns="0" tIns="0" rIns="0" bIns="0" rtlCol="0" anchor="ctr"/>
          <a:lstStyle/>
          <a:p>
            <a:pPr marL="0" indent="0">
              <a:buNone/>
            </a:pP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Prompts and conversation stay on the user’s device</a:t>
            </a:r>
            <a:endParaRPr lang="en-US" sz="1600" dirty="0">
              <a:latin typeface="Times New Roman" panose="02020603050405020304" pitchFamily="18" charset="0"/>
              <a:cs typeface="Times New Roman" panose="02020603050405020304" pitchFamily="18" charset="0"/>
            </a:endParaRPr>
          </a:p>
        </p:txBody>
      </p:sp>
      <p:sp>
        <p:nvSpPr>
          <p:cNvPr id="98" name="Text 14">
            <a:extLst>
              <a:ext uri="{FF2B5EF4-FFF2-40B4-BE49-F238E27FC236}">
                <a16:creationId xmlns:a16="http://schemas.microsoft.com/office/drawing/2014/main" id="{B467328D-CC0A-C41A-BC3A-784CE546E957}"/>
              </a:ext>
            </a:extLst>
          </p:cNvPr>
          <p:cNvSpPr/>
          <p:nvPr/>
        </p:nvSpPr>
        <p:spPr>
          <a:xfrm>
            <a:off x="1516379" y="5056388"/>
            <a:ext cx="5005983" cy="365760"/>
          </a:xfrm>
          <a:prstGeom prst="rect">
            <a:avLst/>
          </a:prstGeom>
          <a:noFill/>
          <a:ln/>
        </p:spPr>
        <p:txBody>
          <a:bodyPr wrap="square" lIns="0" tIns="0" rIns="0" bIns="0" rtlCol="0" anchor="ctr"/>
          <a:lstStyle/>
          <a:p>
            <a:pPr marL="0" indent="0">
              <a:buNone/>
            </a:pP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No external inference API or per-request API cost </a:t>
            </a:r>
          </a:p>
          <a:p>
            <a:pPr marL="0" indent="0">
              <a:buNone/>
            </a:pP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for normal chat</a:t>
            </a:r>
            <a:endParaRPr lang="en-US" sz="1600" dirty="0">
              <a:latin typeface="Times New Roman" panose="02020603050405020304" pitchFamily="18" charset="0"/>
              <a:cs typeface="Times New Roman" panose="02020603050405020304" pitchFamily="18" charset="0"/>
            </a:endParaRPr>
          </a:p>
        </p:txBody>
      </p:sp>
      <p:sp>
        <p:nvSpPr>
          <p:cNvPr id="101" name="Text 15">
            <a:extLst>
              <a:ext uri="{FF2B5EF4-FFF2-40B4-BE49-F238E27FC236}">
                <a16:creationId xmlns:a16="http://schemas.microsoft.com/office/drawing/2014/main" id="{E1B109AC-EF19-9F21-BB2A-8D7B88CD3929}"/>
              </a:ext>
            </a:extLst>
          </p:cNvPr>
          <p:cNvSpPr/>
          <p:nvPr/>
        </p:nvSpPr>
        <p:spPr>
          <a:xfrm>
            <a:off x="6942436" y="4313913"/>
            <a:ext cx="4511040" cy="365760"/>
          </a:xfrm>
          <a:prstGeom prst="rect">
            <a:avLst/>
          </a:prstGeom>
          <a:noFill/>
          <a:ln/>
        </p:spPr>
        <p:txBody>
          <a:bodyPr wrap="square" lIns="0" tIns="0" rIns="0" bIns="0" rtlCol="0" anchor="ctr"/>
          <a:lstStyle/>
          <a:p>
            <a:pPr marL="0" indent="0">
              <a:buNone/>
            </a:pPr>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More direct control over model, precision and runtime </a:t>
            </a:r>
          </a:p>
        </p:txBody>
      </p:sp>
      <p:sp>
        <p:nvSpPr>
          <p:cNvPr id="102" name="Text 16">
            <a:extLst>
              <a:ext uri="{FF2B5EF4-FFF2-40B4-BE49-F238E27FC236}">
                <a16:creationId xmlns:a16="http://schemas.microsoft.com/office/drawing/2014/main" id="{34D26939-E9B0-64A4-B654-36EEDF4F3697}"/>
              </a:ext>
            </a:extLst>
          </p:cNvPr>
          <p:cNvSpPr/>
          <p:nvPr/>
        </p:nvSpPr>
        <p:spPr>
          <a:xfrm>
            <a:off x="6948016" y="5053962"/>
            <a:ext cx="4511040" cy="365760"/>
          </a:xfrm>
          <a:prstGeom prst="rect">
            <a:avLst/>
          </a:prstGeom>
          <a:noFill/>
          <a:ln/>
        </p:spPr>
        <p:txBody>
          <a:bodyPr wrap="square" lIns="0" tIns="0" rIns="0" bIns="0" rtlCol="0" anchor="ctr"/>
          <a:lstStyle/>
          <a:p>
            <a:r>
              <a:rPr lang="en-US" sz="1600" dirty="0">
                <a:solidFill>
                  <a:srgbClr val="475569"/>
                </a:solidFill>
                <a:latin typeface="Times New Roman" panose="02020603050405020304" pitchFamily="18" charset="0"/>
                <a:ea typeface="Calibri" pitchFamily="34" charset="-122"/>
                <a:cs typeface="Times New Roman" panose="02020603050405020304" pitchFamily="18" charset="0"/>
              </a:rPr>
              <a:t>No network round-trip for inference and less dependence on external providers</a:t>
            </a:r>
          </a:p>
        </p:txBody>
      </p:sp>
      <p:sp>
        <p:nvSpPr>
          <p:cNvPr id="104" name="Cloud concern 1 marker">
            <a:extLst>
              <a:ext uri="{FF2B5EF4-FFF2-40B4-BE49-F238E27FC236}">
                <a16:creationId xmlns:a16="http://schemas.microsoft.com/office/drawing/2014/main" id="{062E6438-E16F-3D18-3794-9265E9CE393E}"/>
              </a:ext>
            </a:extLst>
          </p:cNvPr>
          <p:cNvSpPr>
            <a:spLocks noGrp="1"/>
          </p:cNvSpPr>
          <p:nvPr/>
        </p:nvSpPr>
        <p:spPr>
          <a:xfrm>
            <a:off x="3142388" y="2662592"/>
            <a:ext cx="57150" cy="2857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05" name="Cloud concern 1">
            <a:extLst>
              <a:ext uri="{FF2B5EF4-FFF2-40B4-BE49-F238E27FC236}">
                <a16:creationId xmlns:a16="http://schemas.microsoft.com/office/drawing/2014/main" id="{A8074B68-D0B1-58B4-9AAC-88CE60684F0B}"/>
              </a:ext>
            </a:extLst>
          </p:cNvPr>
          <p:cNvSpPr>
            <a:spLocks noGrp="1"/>
          </p:cNvSpPr>
          <p:nvPr/>
        </p:nvSpPr>
        <p:spPr>
          <a:xfrm>
            <a:off x="3294788" y="2614967"/>
            <a:ext cx="2157412" cy="409575"/>
          </a:xfrm>
          <a:prstGeom prst="rect">
            <a:avLst/>
          </a:prstGeom>
          <a:noFill/>
          <a:ln w="0">
            <a:noFill/>
            <a:prstDash val="solid"/>
          </a:ln>
        </p:spPr>
        <p:txBody>
          <a:bodyPr lIns="0" tIns="0" rIns="0" bIns="0" anchor="t">
            <a:noAutofit/>
          </a:bodyPr>
          <a:lstStyle/>
          <a:p>
            <a:pPr>
              <a:defRPr sz="1350">
                <a:solidFill>
                  <a:srgbClr val="7A4A13"/>
                </a:solidFill>
                <a:latin typeface="Arial"/>
                <a:ea typeface="Arial"/>
                <a:cs typeface="Arial"/>
              </a:defRPr>
            </a:pPr>
            <a:r>
              <a:rPr lang="en-DE" sz="1350" dirty="0">
                <a:solidFill>
                  <a:schemeClr val="tx1">
                    <a:lumMod val="85000"/>
                    <a:lumOff val="15000"/>
                  </a:schemeClr>
                </a:solidFill>
                <a:latin typeface="Times New Roman" panose="02020603050405020304" pitchFamily="18" charset="0"/>
                <a:cs typeface="Times New Roman" panose="02020603050405020304" pitchFamily="18" charset="0"/>
              </a:rPr>
              <a:t>Network access is required and can add latency</a:t>
            </a:r>
            <a:endParaRPr sz="1400" dirty="0">
              <a:solidFill>
                <a:schemeClr val="tx1">
                  <a:lumMod val="85000"/>
                  <a:lumOff val="15000"/>
                </a:schemeClr>
              </a:solidFill>
              <a:latin typeface="Times New Roman" panose="02020603050405020304" pitchFamily="18" charset="0"/>
              <a:ea typeface="Arial"/>
              <a:cs typeface="Times New Roman" panose="02020603050405020304" pitchFamily="18" charset="0"/>
            </a:endParaRPr>
          </a:p>
        </p:txBody>
      </p:sp>
      <p:pic>
        <p:nvPicPr>
          <p:cNvPr id="3" name="Image 5" descr="preencoded.png">
            <a:extLst>
              <a:ext uri="{FF2B5EF4-FFF2-40B4-BE49-F238E27FC236}">
                <a16:creationId xmlns:a16="http://schemas.microsoft.com/office/drawing/2014/main" id="{DC0B8147-1087-0A01-3AAE-B55918BF26A8}"/>
              </a:ext>
            </a:extLst>
          </p:cNvPr>
          <p:cNvPicPr>
            <a:picLocks noChangeAspect="1"/>
          </p:cNvPicPr>
          <p:nvPr/>
        </p:nvPicPr>
        <p:blipFill>
          <a:blip r:embed="rId3"/>
          <a:stretch>
            <a:fillRect/>
          </a:stretch>
        </p:blipFill>
        <p:spPr>
          <a:xfrm>
            <a:off x="1028700" y="4481386"/>
            <a:ext cx="272788" cy="245817"/>
          </a:xfrm>
          <a:prstGeom prst="rect">
            <a:avLst/>
          </a:prstGeom>
        </p:spPr>
      </p:pic>
      <p:pic>
        <p:nvPicPr>
          <p:cNvPr id="4" name="Image 6" descr="preencoded.png">
            <a:extLst>
              <a:ext uri="{FF2B5EF4-FFF2-40B4-BE49-F238E27FC236}">
                <a16:creationId xmlns:a16="http://schemas.microsoft.com/office/drawing/2014/main" id="{25B51A94-D770-A697-4680-59530AD734A6}"/>
              </a:ext>
            </a:extLst>
          </p:cNvPr>
          <p:cNvPicPr>
            <a:picLocks noChangeAspect="1"/>
          </p:cNvPicPr>
          <p:nvPr/>
        </p:nvPicPr>
        <p:blipFill>
          <a:blip r:embed="rId3"/>
          <a:stretch>
            <a:fillRect/>
          </a:stretch>
        </p:blipFill>
        <p:spPr>
          <a:xfrm>
            <a:off x="1028700" y="5132616"/>
            <a:ext cx="294239" cy="265147"/>
          </a:xfrm>
          <a:prstGeom prst="rect">
            <a:avLst/>
          </a:prstGeom>
        </p:spPr>
      </p:pic>
      <p:pic>
        <p:nvPicPr>
          <p:cNvPr id="7" name="Image 8" descr="preencoded.png">
            <a:extLst>
              <a:ext uri="{FF2B5EF4-FFF2-40B4-BE49-F238E27FC236}">
                <a16:creationId xmlns:a16="http://schemas.microsoft.com/office/drawing/2014/main" id="{7B5C0D07-8291-B3A9-ED57-73F2CA9154DD}"/>
              </a:ext>
            </a:extLst>
          </p:cNvPr>
          <p:cNvPicPr>
            <a:picLocks noChangeAspect="1"/>
          </p:cNvPicPr>
          <p:nvPr/>
        </p:nvPicPr>
        <p:blipFill>
          <a:blip r:embed="rId3"/>
          <a:stretch>
            <a:fillRect/>
          </a:stretch>
        </p:blipFill>
        <p:spPr>
          <a:xfrm>
            <a:off x="6432551" y="4418680"/>
            <a:ext cx="299848" cy="270202"/>
          </a:xfrm>
          <a:prstGeom prst="rect">
            <a:avLst/>
          </a:prstGeom>
        </p:spPr>
      </p:pic>
      <p:pic>
        <p:nvPicPr>
          <p:cNvPr id="16" name="Image 7" descr="preencoded.png">
            <a:extLst>
              <a:ext uri="{FF2B5EF4-FFF2-40B4-BE49-F238E27FC236}">
                <a16:creationId xmlns:a16="http://schemas.microsoft.com/office/drawing/2014/main" id="{0489CB2A-DEA5-8086-F42D-60EBF78A8337}"/>
              </a:ext>
            </a:extLst>
          </p:cNvPr>
          <p:cNvPicPr>
            <a:picLocks noChangeAspect="1"/>
          </p:cNvPicPr>
          <p:nvPr/>
        </p:nvPicPr>
        <p:blipFill>
          <a:blip r:embed="rId3"/>
          <a:stretch>
            <a:fillRect/>
          </a:stretch>
        </p:blipFill>
        <p:spPr>
          <a:xfrm>
            <a:off x="6432550" y="5130087"/>
            <a:ext cx="299849" cy="270203"/>
          </a:xfrm>
          <a:prstGeom prst="rect">
            <a:avLst/>
          </a:prstGeom>
        </p:spPr>
      </p:pic>
      <p:pic>
        <p:nvPicPr>
          <p:cNvPr id="17" name="Graphic 16" descr="Internet Of Things outline">
            <a:extLst>
              <a:ext uri="{FF2B5EF4-FFF2-40B4-BE49-F238E27FC236}">
                <a16:creationId xmlns:a16="http://schemas.microsoft.com/office/drawing/2014/main" id="{B5758E09-95B9-02E5-D94E-1780592C84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5181" y="1633715"/>
            <a:ext cx="579506" cy="579506"/>
          </a:xfrm>
          <a:prstGeom prst="rect">
            <a:avLst/>
          </a:prstGeom>
        </p:spPr>
      </p:pic>
      <p:pic>
        <p:nvPicPr>
          <p:cNvPr id="19" name="Graphic 18" descr="Syncing cloud outline">
            <a:extLst>
              <a:ext uri="{FF2B5EF4-FFF2-40B4-BE49-F238E27FC236}">
                <a16:creationId xmlns:a16="http://schemas.microsoft.com/office/drawing/2014/main" id="{C3F769A2-CEB1-6192-B8BD-B80A96CD5D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68956" y="1719440"/>
            <a:ext cx="476250" cy="430564"/>
          </a:xfrm>
          <a:prstGeom prst="rect">
            <a:avLst/>
          </a:prstGeom>
        </p:spPr>
      </p:pic>
    </p:spTree>
    <p:extLst>
      <p:ext uri="{BB962C8B-B14F-4D97-AF65-F5344CB8AC3E}">
        <p14:creationId xmlns:p14="http://schemas.microsoft.com/office/powerpoint/2010/main" val="901800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81000"/>
            <a:ext cx="9239250" cy="609600"/>
          </a:xfrm>
        </p:spPr>
        <p:txBody>
          <a:bodyPr lIns="0" tIns="0" rIns="0" bIns="0" anchor="t">
            <a:noAutofit/>
          </a:bodyPr>
          <a:lstStyle/>
          <a:p>
            <a:pPr marL="0" indent="0" algn="l">
              <a:buNone/>
              <a:defRPr sz="255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WHAT SANZI DELIVERS</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EFD6AB9A-5F9E-5F59-51AB-3C8734130965}" type="slidenum">
              <a:rPr>
                <a:latin typeface="Times New Roman" panose="02020603050405020304" pitchFamily="18" charset="0"/>
                <a:cs typeface="Times New Roman" panose="02020603050405020304" pitchFamily="18" charset="0"/>
              </a:rPr>
              <a:t>4</a:t>
            </a:fld>
            <a:endParaRPr>
              <a:latin typeface="Times New Roman" panose="02020603050405020304" pitchFamily="18" charset="0"/>
              <a:cs typeface="Times New Roman" panose="02020603050405020304" pitchFamily="18" charset="0"/>
            </a:endParaRPr>
          </a:p>
        </p:txBody>
      </p:sp>
      <p:sp>
        <p:nvSpPr>
          <p:cNvPr id="6" name="Two Local Models card">
            <a:extLst>
              <a:ext uri="{FF2B5EF4-FFF2-40B4-BE49-F238E27FC236}">
                <a16:creationId xmlns:a16="http://schemas.microsoft.com/office/drawing/2014/main" id="{55599F8E-7598-4A5C-A689-F1A61C00C9F2}"/>
              </a:ext>
            </a:extLst>
          </p:cNvPr>
          <p:cNvSpPr>
            <a:spLocks noGrp="1"/>
          </p:cNvSpPr>
          <p:nvPr/>
        </p:nvSpPr>
        <p:spPr>
          <a:xfrm>
            <a:off x="476250" y="1314450"/>
            <a:ext cx="5429250" cy="1828800"/>
          </a:xfrm>
          <a:prstGeom prst="roundRect">
            <a:avLst>
              <a:gd name="adj" fmla="val 4167"/>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8" name="Models icon plate">
            <a:extLst>
              <a:ext uri="{FF2B5EF4-FFF2-40B4-BE49-F238E27FC236}">
                <a16:creationId xmlns:a16="http://schemas.microsoft.com/office/drawing/2014/main" id="{3F7004F4-12EF-4BF4-9E88-C9958E68E636}"/>
              </a:ext>
            </a:extLst>
          </p:cNvPr>
          <p:cNvSpPr>
            <a:spLocks noGrp="1"/>
          </p:cNvSpPr>
          <p:nvPr/>
        </p:nvSpPr>
        <p:spPr>
          <a:xfrm>
            <a:off x="723900" y="1895475"/>
            <a:ext cx="666750" cy="666750"/>
          </a:xfrm>
          <a:prstGeom prst="ellipse">
            <a:avLst/>
          </a:prstGeom>
          <a:solidFill>
            <a:srgbClr val="EFF6FF"/>
          </a:solidFill>
          <a:ln w="14288">
            <a:solidFill>
              <a:srgbClr val="2563EB"/>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9" name="Models AI processor">
            <a:extLst>
              <a:ext uri="{FF2B5EF4-FFF2-40B4-BE49-F238E27FC236}">
                <a16:creationId xmlns:a16="http://schemas.microsoft.com/office/drawing/2014/main" id="{31C2108E-4EA0-46BC-827D-B0BC2984164E}"/>
              </a:ext>
            </a:extLst>
          </p:cNvPr>
          <p:cNvSpPr>
            <a:spLocks noGrp="1"/>
          </p:cNvSpPr>
          <p:nvPr/>
        </p:nvSpPr>
        <p:spPr>
          <a:xfrm>
            <a:off x="895350" y="2066925"/>
            <a:ext cx="323850" cy="323850"/>
          </a:xfrm>
          <a:prstGeom prst="hexagon">
            <a:avLst/>
          </a:prstGeom>
          <a:solidFill>
            <a:srgbClr val="FFFFFF"/>
          </a:solidFill>
          <a:ln w="14288">
            <a:solidFill>
              <a:srgbClr val="2563EB"/>
            </a:solidFill>
            <a:prstDash val="solid"/>
          </a:ln>
        </p:spPr>
        <p:txBody>
          <a:bodyPr lIns="0" tIns="0" rIns="0" bIns="0" anchor="ctr">
            <a:noAutofit/>
          </a:bodyPr>
          <a:lstStyle/>
          <a:p>
            <a:pPr algn="ctr">
              <a:buNone/>
              <a:defRPr sz="975" b="1">
                <a:solidFill>
                  <a:srgbClr val="2563EB"/>
                </a:solidFill>
                <a:latin typeface="Arial"/>
                <a:ea typeface="Arial"/>
                <a:cs typeface="Arial"/>
              </a:defRPr>
            </a:pPr>
            <a:r>
              <a:rPr sz="975" b="1">
                <a:solidFill>
                  <a:srgbClr val="2563EB"/>
                </a:solidFill>
                <a:latin typeface="Times New Roman" panose="02020603050405020304" pitchFamily="18" charset="0"/>
                <a:ea typeface="Arial"/>
                <a:cs typeface="Times New Roman" panose="02020603050405020304" pitchFamily="18" charset="0"/>
              </a:rPr>
              <a:t>AI</a:t>
            </a:r>
          </a:p>
        </p:txBody>
      </p:sp>
      <p:sp>
        <p:nvSpPr>
          <p:cNvPr id="10" name="Models chip pin">
            <a:extLst>
              <a:ext uri="{FF2B5EF4-FFF2-40B4-BE49-F238E27FC236}">
                <a16:creationId xmlns:a16="http://schemas.microsoft.com/office/drawing/2014/main" id="{2CFB57FA-E563-41E6-81BD-A9BE5991A4F8}"/>
              </a:ext>
            </a:extLst>
          </p:cNvPr>
          <p:cNvSpPr>
            <a:spLocks noGrp="1"/>
          </p:cNvSpPr>
          <p:nvPr/>
        </p:nvSpPr>
        <p:spPr>
          <a:xfrm>
            <a:off x="828675" y="21431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1" name="Models chip pin">
            <a:extLst>
              <a:ext uri="{FF2B5EF4-FFF2-40B4-BE49-F238E27FC236}">
                <a16:creationId xmlns:a16="http://schemas.microsoft.com/office/drawing/2014/main" id="{15C2E6A5-08FC-4B5C-97B4-A454E4003558}"/>
              </a:ext>
            </a:extLst>
          </p:cNvPr>
          <p:cNvSpPr>
            <a:spLocks noGrp="1"/>
          </p:cNvSpPr>
          <p:nvPr/>
        </p:nvSpPr>
        <p:spPr>
          <a:xfrm>
            <a:off x="828675" y="22193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2" name="Models chip pin">
            <a:extLst>
              <a:ext uri="{FF2B5EF4-FFF2-40B4-BE49-F238E27FC236}">
                <a16:creationId xmlns:a16="http://schemas.microsoft.com/office/drawing/2014/main" id="{D147761F-0E48-4B06-BD6E-EB1F62BC3378}"/>
              </a:ext>
            </a:extLst>
          </p:cNvPr>
          <p:cNvSpPr>
            <a:spLocks noGrp="1"/>
          </p:cNvSpPr>
          <p:nvPr/>
        </p:nvSpPr>
        <p:spPr>
          <a:xfrm>
            <a:off x="828675" y="22955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3" name="Models chip pin">
            <a:extLst>
              <a:ext uri="{FF2B5EF4-FFF2-40B4-BE49-F238E27FC236}">
                <a16:creationId xmlns:a16="http://schemas.microsoft.com/office/drawing/2014/main" id="{BB4AB379-DB72-45B4-9563-32F38954465C}"/>
              </a:ext>
            </a:extLst>
          </p:cNvPr>
          <p:cNvSpPr>
            <a:spLocks noGrp="1"/>
          </p:cNvSpPr>
          <p:nvPr/>
        </p:nvSpPr>
        <p:spPr>
          <a:xfrm>
            <a:off x="1266825" y="21431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4" name="Models chip pin">
            <a:extLst>
              <a:ext uri="{FF2B5EF4-FFF2-40B4-BE49-F238E27FC236}">
                <a16:creationId xmlns:a16="http://schemas.microsoft.com/office/drawing/2014/main" id="{A5C8141E-8690-4198-9DB8-690C4B53791F}"/>
              </a:ext>
            </a:extLst>
          </p:cNvPr>
          <p:cNvSpPr>
            <a:spLocks noGrp="1"/>
          </p:cNvSpPr>
          <p:nvPr/>
        </p:nvSpPr>
        <p:spPr>
          <a:xfrm>
            <a:off x="1266825" y="22193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5" name="Models chip pin">
            <a:extLst>
              <a:ext uri="{FF2B5EF4-FFF2-40B4-BE49-F238E27FC236}">
                <a16:creationId xmlns:a16="http://schemas.microsoft.com/office/drawing/2014/main" id="{72DCFBEA-2E0D-4C86-A89E-E40A893D14FD}"/>
              </a:ext>
            </a:extLst>
          </p:cNvPr>
          <p:cNvSpPr>
            <a:spLocks noGrp="1"/>
          </p:cNvSpPr>
          <p:nvPr/>
        </p:nvSpPr>
        <p:spPr>
          <a:xfrm>
            <a:off x="1266825" y="2295525"/>
            <a:ext cx="47625" cy="19050"/>
          </a:xfrm>
          <a:prstGeom prst="rect">
            <a:avLst/>
          </a:prstGeom>
          <a:solidFill>
            <a:srgbClr val="2563EB"/>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6" name="Two Local Models heading">
            <a:extLst>
              <a:ext uri="{FF2B5EF4-FFF2-40B4-BE49-F238E27FC236}">
                <a16:creationId xmlns:a16="http://schemas.microsoft.com/office/drawing/2014/main" id="{0184EB05-E677-4604-9B8A-808666590D30}"/>
              </a:ext>
            </a:extLst>
          </p:cNvPr>
          <p:cNvSpPr>
            <a:spLocks noGrp="1"/>
          </p:cNvSpPr>
          <p:nvPr/>
        </p:nvSpPr>
        <p:spPr>
          <a:xfrm>
            <a:off x="1638300" y="1543050"/>
            <a:ext cx="4000500" cy="304800"/>
          </a:xfrm>
          <a:prstGeom prst="rect">
            <a:avLst/>
          </a:prstGeom>
          <a:noFill/>
          <a:ln w="0">
            <a:noFill/>
            <a:prstDash val="solid"/>
          </a:ln>
        </p:spPr>
        <p:txBody>
          <a:bodyPr lIns="0" tIns="0" rIns="0" bIns="0" anchor="ctr">
            <a:noAutofit/>
          </a:bodyPr>
          <a:lstStyle/>
          <a:p>
            <a:pPr algn="l">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Two Local Models</a:t>
            </a:r>
          </a:p>
        </p:txBody>
      </p:sp>
      <p:sp>
        <p:nvSpPr>
          <p:cNvPr id="17" name="Two Local Models content">
            <a:extLst>
              <a:ext uri="{FF2B5EF4-FFF2-40B4-BE49-F238E27FC236}">
                <a16:creationId xmlns:a16="http://schemas.microsoft.com/office/drawing/2014/main" id="{3A343667-F2F8-4F67-A2E0-14486101AB8A}"/>
              </a:ext>
            </a:extLst>
          </p:cNvPr>
          <p:cNvSpPr>
            <a:spLocks noGrp="1"/>
          </p:cNvSpPr>
          <p:nvPr/>
        </p:nvSpPr>
        <p:spPr>
          <a:xfrm>
            <a:off x="1638300" y="1943100"/>
            <a:ext cx="4000500" cy="1047750"/>
          </a:xfrm>
          <a:prstGeom prst="rect">
            <a:avLst/>
          </a:prstGeom>
          <a:noFill/>
          <a:ln w="0">
            <a:noFill/>
            <a:prstDash val="solid"/>
          </a:ln>
        </p:spPr>
        <p:txBody>
          <a:bodyPr lIns="0" tIns="0" rIns="0" bIns="0" anchor="t">
            <a:noAutofit/>
          </a:bodyPr>
          <a:lstStyle/>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Llama-3.2-1B-Instruct</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Qwen1.5-0.5B-Chat</a:t>
            </a:r>
          </a:p>
          <a:p>
            <a:pPr algn="l">
              <a:buNone/>
              <a:defRPr sz="1313">
                <a:solidFill>
                  <a:srgbClr val="374151"/>
                </a:solidFill>
                <a:latin typeface="Arial"/>
                <a:ea typeface="Arial"/>
                <a:cs typeface="Arial"/>
              </a:defRPr>
            </a:pPr>
            <a:r>
              <a:rPr lang="de-DE" sz="1400" dirty="0">
                <a:solidFill>
                  <a:srgbClr val="374151"/>
                </a:solidFill>
                <a:latin typeface="Times New Roman" panose="02020603050405020304" pitchFamily="18" charset="0"/>
                <a:ea typeface="Arial"/>
                <a:cs typeface="Times New Roman" panose="02020603050405020304" pitchFamily="18" charset="0"/>
              </a:rPr>
              <a:t>(</a:t>
            </a:r>
            <a:r>
              <a:rPr sz="1400" dirty="0">
                <a:solidFill>
                  <a:srgbClr val="374151"/>
                </a:solidFill>
                <a:latin typeface="Times New Roman" panose="02020603050405020304" pitchFamily="18" charset="0"/>
                <a:ea typeface="Arial"/>
                <a:cs typeface="Times New Roman" panose="02020603050405020304" pitchFamily="18" charset="0"/>
              </a:rPr>
              <a:t>One active model at a time</a:t>
            </a:r>
            <a:r>
              <a:rPr lang="de-DE" sz="1400" dirty="0">
                <a:solidFill>
                  <a:srgbClr val="374151"/>
                </a:solidFill>
                <a:latin typeface="Times New Roman" panose="02020603050405020304" pitchFamily="18" charset="0"/>
                <a:ea typeface="Arial"/>
                <a:cs typeface="Times New Roman" panose="02020603050405020304" pitchFamily="18" charset="0"/>
              </a:rPr>
              <a:t>)</a:t>
            </a:r>
            <a:endParaRPr sz="1400" dirty="0">
              <a:solidFill>
                <a:srgbClr val="374151"/>
              </a:solidFill>
              <a:latin typeface="Times New Roman" panose="02020603050405020304" pitchFamily="18" charset="0"/>
              <a:ea typeface="Arial"/>
              <a:cs typeface="Times New Roman" panose="02020603050405020304" pitchFamily="18" charset="0"/>
            </a:endParaRPr>
          </a:p>
        </p:txBody>
      </p:sp>
      <p:sp>
        <p:nvSpPr>
          <p:cNvPr id="18" name="Two Interfaces card">
            <a:extLst>
              <a:ext uri="{FF2B5EF4-FFF2-40B4-BE49-F238E27FC236}">
                <a16:creationId xmlns:a16="http://schemas.microsoft.com/office/drawing/2014/main" id="{AF71FED2-EE19-4BFD-BF1E-CC194283186E}"/>
              </a:ext>
            </a:extLst>
          </p:cNvPr>
          <p:cNvSpPr>
            <a:spLocks noGrp="1"/>
          </p:cNvSpPr>
          <p:nvPr/>
        </p:nvSpPr>
        <p:spPr>
          <a:xfrm>
            <a:off x="6286500" y="1314450"/>
            <a:ext cx="5429250" cy="1828800"/>
          </a:xfrm>
          <a:prstGeom prst="roundRect">
            <a:avLst>
              <a:gd name="adj" fmla="val 4167"/>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0" name="Interfaces icon plate">
            <a:extLst>
              <a:ext uri="{FF2B5EF4-FFF2-40B4-BE49-F238E27FC236}">
                <a16:creationId xmlns:a16="http://schemas.microsoft.com/office/drawing/2014/main" id="{4C154D8E-AD51-41C0-8CA4-54EE97A7AE52}"/>
              </a:ext>
            </a:extLst>
          </p:cNvPr>
          <p:cNvSpPr>
            <a:spLocks noGrp="1"/>
          </p:cNvSpPr>
          <p:nvPr/>
        </p:nvSpPr>
        <p:spPr>
          <a:xfrm>
            <a:off x="6534150" y="1895475"/>
            <a:ext cx="666750" cy="666750"/>
          </a:xfrm>
          <a:prstGeom prst="ellipse">
            <a:avLst/>
          </a:prstGeom>
          <a:solidFill>
            <a:srgbClr val="F5F3FF"/>
          </a:solidFill>
          <a:ln w="14288">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1" name="CLI terminal">
            <a:extLst>
              <a:ext uri="{FF2B5EF4-FFF2-40B4-BE49-F238E27FC236}">
                <a16:creationId xmlns:a16="http://schemas.microsoft.com/office/drawing/2014/main" id="{CB019725-1EA3-4151-8A59-6FF69EBD09AF}"/>
              </a:ext>
            </a:extLst>
          </p:cNvPr>
          <p:cNvSpPr>
            <a:spLocks noGrp="1"/>
          </p:cNvSpPr>
          <p:nvPr/>
        </p:nvSpPr>
        <p:spPr>
          <a:xfrm>
            <a:off x="6619875" y="2076450"/>
            <a:ext cx="295275" cy="228600"/>
          </a:xfrm>
          <a:prstGeom prst="roundRect">
            <a:avLst>
              <a:gd name="adj" fmla="val 33333"/>
            </a:avLst>
          </a:prstGeom>
          <a:solidFill>
            <a:srgbClr val="FFFFFF"/>
          </a:solidFill>
          <a:ln w="13335">
            <a:solidFill>
              <a:srgbClr val="7C3AED"/>
            </a:solidFill>
            <a:prstDash val="solid"/>
          </a:ln>
        </p:spPr>
        <p:txBody>
          <a:bodyPr lIns="0" tIns="0" rIns="0" bIns="0" anchor="ctr">
            <a:noAutofit/>
          </a:bodyPr>
          <a:lstStyle/>
          <a:p>
            <a:pPr algn="ctr">
              <a:buNone/>
              <a:defRPr sz="750" b="1">
                <a:solidFill>
                  <a:srgbClr val="7C3AED"/>
                </a:solidFill>
                <a:latin typeface="Arial"/>
                <a:ea typeface="Arial"/>
                <a:cs typeface="Arial"/>
              </a:defRPr>
            </a:pPr>
            <a:r>
              <a:rPr sz="750" b="1">
                <a:solidFill>
                  <a:srgbClr val="7C3AED"/>
                </a:solidFill>
                <a:latin typeface="Times New Roman" panose="02020603050405020304" pitchFamily="18" charset="0"/>
                <a:ea typeface="Arial"/>
                <a:cs typeface="Times New Roman" panose="02020603050405020304" pitchFamily="18" charset="0"/>
              </a:rPr>
              <a:t>&gt;_</a:t>
            </a:r>
          </a:p>
        </p:txBody>
      </p:sp>
      <p:sp>
        <p:nvSpPr>
          <p:cNvPr id="22" name="GUI monitor">
            <a:extLst>
              <a:ext uri="{FF2B5EF4-FFF2-40B4-BE49-F238E27FC236}">
                <a16:creationId xmlns:a16="http://schemas.microsoft.com/office/drawing/2014/main" id="{0A601452-118E-4ED4-A31E-B90A8B7D6EF3}"/>
              </a:ext>
            </a:extLst>
          </p:cNvPr>
          <p:cNvSpPr>
            <a:spLocks noGrp="1"/>
          </p:cNvSpPr>
          <p:nvPr/>
        </p:nvSpPr>
        <p:spPr>
          <a:xfrm>
            <a:off x="6858000" y="2143125"/>
            <a:ext cx="266700" cy="200025"/>
          </a:xfrm>
          <a:prstGeom prst="roundRect">
            <a:avLst>
              <a:gd name="adj" fmla="val 38095"/>
            </a:avLst>
          </a:prstGeom>
          <a:solidFill>
            <a:srgbClr val="FFFFFF"/>
          </a:solidFill>
          <a:ln w="13335">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3" name="GUI monitor stand">
            <a:extLst>
              <a:ext uri="{FF2B5EF4-FFF2-40B4-BE49-F238E27FC236}">
                <a16:creationId xmlns:a16="http://schemas.microsoft.com/office/drawing/2014/main" id="{9D7F878A-F12C-49CB-8FF4-34AB2FE2BDF3}"/>
              </a:ext>
            </a:extLst>
          </p:cNvPr>
          <p:cNvSpPr>
            <a:spLocks noGrp="1"/>
          </p:cNvSpPr>
          <p:nvPr/>
        </p:nvSpPr>
        <p:spPr>
          <a:xfrm>
            <a:off x="6972300" y="2343150"/>
            <a:ext cx="28575" cy="66675"/>
          </a:xfrm>
          <a:prstGeom prst="rect">
            <a:avLst/>
          </a:prstGeom>
          <a:solidFill>
            <a:srgbClr val="7C3AED"/>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4" name="GUI monitor base">
            <a:extLst>
              <a:ext uri="{FF2B5EF4-FFF2-40B4-BE49-F238E27FC236}">
                <a16:creationId xmlns:a16="http://schemas.microsoft.com/office/drawing/2014/main" id="{95C35DF5-3DE5-42D9-87F1-8FB3DD0AC538}"/>
              </a:ext>
            </a:extLst>
          </p:cNvPr>
          <p:cNvSpPr>
            <a:spLocks noGrp="1"/>
          </p:cNvSpPr>
          <p:nvPr/>
        </p:nvSpPr>
        <p:spPr>
          <a:xfrm>
            <a:off x="6905625" y="2400300"/>
            <a:ext cx="161925" cy="19050"/>
          </a:xfrm>
          <a:prstGeom prst="rect">
            <a:avLst/>
          </a:prstGeom>
          <a:solidFill>
            <a:srgbClr val="7C3AED"/>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5" name="Two Interfaces heading">
            <a:extLst>
              <a:ext uri="{FF2B5EF4-FFF2-40B4-BE49-F238E27FC236}">
                <a16:creationId xmlns:a16="http://schemas.microsoft.com/office/drawing/2014/main" id="{5A1F7B04-7FA4-4E26-9B53-C4F6781F77C4}"/>
              </a:ext>
            </a:extLst>
          </p:cNvPr>
          <p:cNvSpPr>
            <a:spLocks noGrp="1"/>
          </p:cNvSpPr>
          <p:nvPr/>
        </p:nvSpPr>
        <p:spPr>
          <a:xfrm>
            <a:off x="7448550" y="1543050"/>
            <a:ext cx="4000500" cy="304800"/>
          </a:xfrm>
          <a:prstGeom prst="rect">
            <a:avLst/>
          </a:prstGeom>
          <a:noFill/>
          <a:ln w="0">
            <a:noFill/>
            <a:prstDash val="solid"/>
          </a:ln>
        </p:spPr>
        <p:txBody>
          <a:bodyPr lIns="0" tIns="0" rIns="0" bIns="0" anchor="ctr">
            <a:noAutofit/>
          </a:bodyPr>
          <a:lstStyle/>
          <a:p>
            <a:pPr algn="l">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Two Interfaces</a:t>
            </a:r>
          </a:p>
        </p:txBody>
      </p:sp>
      <p:sp>
        <p:nvSpPr>
          <p:cNvPr id="26" name="Two Interfaces content">
            <a:extLst>
              <a:ext uri="{FF2B5EF4-FFF2-40B4-BE49-F238E27FC236}">
                <a16:creationId xmlns:a16="http://schemas.microsoft.com/office/drawing/2014/main" id="{7DD994B7-772E-40BA-938E-B1B82C74A25A}"/>
              </a:ext>
            </a:extLst>
          </p:cNvPr>
          <p:cNvSpPr>
            <a:spLocks noGrp="1"/>
          </p:cNvSpPr>
          <p:nvPr/>
        </p:nvSpPr>
        <p:spPr>
          <a:xfrm>
            <a:off x="7448550" y="1943100"/>
            <a:ext cx="4000500" cy="1047750"/>
          </a:xfrm>
          <a:prstGeom prst="rect">
            <a:avLst/>
          </a:prstGeom>
          <a:noFill/>
          <a:ln w="0">
            <a:noFill/>
            <a:prstDash val="solid"/>
          </a:ln>
        </p:spPr>
        <p:txBody>
          <a:bodyPr lIns="0" tIns="0" rIns="0" bIns="0" anchor="t">
            <a:noAutofit/>
          </a:bodyPr>
          <a:lstStyle/>
          <a:p>
            <a:pPr>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Required </a:t>
            </a:r>
            <a:r>
              <a:rPr lang="en-GB" sz="1400" dirty="0">
                <a:solidFill>
                  <a:srgbClr val="374151"/>
                </a:solidFill>
                <a:latin typeface="Times New Roman" panose="02020603050405020304" pitchFamily="18" charset="0"/>
                <a:ea typeface="Arial"/>
                <a:cs typeface="Times New Roman" panose="02020603050405020304" pitchFamily="18" charset="0"/>
              </a:rPr>
              <a:t>Command-Line Interface(</a:t>
            </a:r>
            <a:r>
              <a:rPr sz="1400" dirty="0">
                <a:solidFill>
                  <a:srgbClr val="374151"/>
                </a:solidFill>
                <a:latin typeface="Times New Roman" panose="02020603050405020304" pitchFamily="18" charset="0"/>
                <a:ea typeface="Arial"/>
                <a:cs typeface="Times New Roman" panose="02020603050405020304" pitchFamily="18" charset="0"/>
              </a:rPr>
              <a:t>CLI</a:t>
            </a:r>
            <a:r>
              <a:rPr lang="de-DE" sz="1400" dirty="0">
                <a:solidFill>
                  <a:srgbClr val="374151"/>
                </a:solidFill>
                <a:latin typeface="Times New Roman" panose="02020603050405020304" pitchFamily="18" charset="0"/>
                <a:ea typeface="Arial"/>
                <a:cs typeface="Times New Roman" panose="02020603050405020304" pitchFamily="18" charset="0"/>
              </a:rPr>
              <a:t>)</a:t>
            </a:r>
            <a:r>
              <a:rPr sz="1400" dirty="0">
                <a:solidFill>
                  <a:srgbClr val="374151"/>
                </a:solidFill>
                <a:latin typeface="Times New Roman" panose="02020603050405020304" pitchFamily="18" charset="0"/>
                <a:ea typeface="Arial"/>
                <a:cs typeface="Times New Roman" panose="02020603050405020304" pitchFamily="18" charset="0"/>
              </a:rPr>
              <a:t> chatbot</a:t>
            </a:r>
          </a:p>
          <a:p>
            <a:pPr>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Final Vue 3 </a:t>
            </a:r>
            <a:r>
              <a:rPr lang="de-DE" sz="1400" dirty="0">
                <a:solidFill>
                  <a:srgbClr val="374151"/>
                </a:solidFill>
                <a:latin typeface="Times New Roman" panose="02020603050405020304" pitchFamily="18" charset="0"/>
                <a:ea typeface="Arial"/>
                <a:cs typeface="Times New Roman" panose="02020603050405020304" pitchFamily="18" charset="0"/>
              </a:rPr>
              <a:t>&amp; Vite </a:t>
            </a:r>
            <a:r>
              <a:rPr lang="en-DE" sz="1400" dirty="0">
                <a:solidFill>
                  <a:srgbClr val="374151"/>
                </a:solidFill>
                <a:latin typeface="Times New Roman" panose="02020603050405020304" pitchFamily="18" charset="0"/>
                <a:cs typeface="Times New Roman" panose="02020603050405020304" pitchFamily="18" charset="0"/>
              </a:rPr>
              <a:t>Graphical User Interface (</a:t>
            </a:r>
            <a:r>
              <a:rPr sz="1400" dirty="0">
                <a:solidFill>
                  <a:srgbClr val="374151"/>
                </a:solidFill>
                <a:latin typeface="Times New Roman" panose="02020603050405020304" pitchFamily="18" charset="0"/>
                <a:ea typeface="Arial"/>
                <a:cs typeface="Times New Roman" panose="02020603050405020304" pitchFamily="18" charset="0"/>
              </a:rPr>
              <a:t>GUI</a:t>
            </a:r>
            <a:r>
              <a:rPr lang="de-DE" sz="1400" dirty="0">
                <a:solidFill>
                  <a:srgbClr val="374151"/>
                </a:solidFill>
                <a:latin typeface="Times New Roman" panose="02020603050405020304" pitchFamily="18" charset="0"/>
                <a:ea typeface="Arial"/>
                <a:cs typeface="Times New Roman" panose="02020603050405020304" pitchFamily="18" charset="0"/>
              </a:rPr>
              <a:t>)</a:t>
            </a:r>
            <a:endParaRPr sz="1400" dirty="0">
              <a:solidFill>
                <a:srgbClr val="374151"/>
              </a:solidFill>
              <a:latin typeface="Times New Roman" panose="02020603050405020304" pitchFamily="18" charset="0"/>
              <a:ea typeface="Arial"/>
              <a:cs typeface="Times New Roman" panose="02020603050405020304" pitchFamily="18" charset="0"/>
            </a:endParaRP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Both run the models locally</a:t>
            </a:r>
          </a:p>
        </p:txBody>
      </p:sp>
      <p:sp>
        <p:nvSpPr>
          <p:cNvPr id="27" name="User Controls card">
            <a:extLst>
              <a:ext uri="{FF2B5EF4-FFF2-40B4-BE49-F238E27FC236}">
                <a16:creationId xmlns:a16="http://schemas.microsoft.com/office/drawing/2014/main" id="{5A7299AD-E3CA-4675-BEC2-74989A554196}"/>
              </a:ext>
            </a:extLst>
          </p:cNvPr>
          <p:cNvSpPr>
            <a:spLocks noGrp="1"/>
          </p:cNvSpPr>
          <p:nvPr/>
        </p:nvSpPr>
        <p:spPr>
          <a:xfrm>
            <a:off x="476250" y="3371850"/>
            <a:ext cx="5429250" cy="1924050"/>
          </a:xfrm>
          <a:prstGeom prst="roundRect">
            <a:avLst>
              <a:gd name="adj" fmla="val 3960"/>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9" name="Controls icon plate">
            <a:extLst>
              <a:ext uri="{FF2B5EF4-FFF2-40B4-BE49-F238E27FC236}">
                <a16:creationId xmlns:a16="http://schemas.microsoft.com/office/drawing/2014/main" id="{473C083F-F6B8-4DE8-9A0A-319E991A2BF9}"/>
              </a:ext>
            </a:extLst>
          </p:cNvPr>
          <p:cNvSpPr>
            <a:spLocks noGrp="1"/>
          </p:cNvSpPr>
          <p:nvPr/>
        </p:nvSpPr>
        <p:spPr>
          <a:xfrm>
            <a:off x="723900" y="4000500"/>
            <a:ext cx="666750" cy="666750"/>
          </a:xfrm>
          <a:prstGeom prst="ellipse">
            <a:avLst/>
          </a:prstGeom>
          <a:solidFill>
            <a:srgbClr val="ECFDF8"/>
          </a:solidFill>
          <a:ln w="14288">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0" name="Control slider">
            <a:extLst>
              <a:ext uri="{FF2B5EF4-FFF2-40B4-BE49-F238E27FC236}">
                <a16:creationId xmlns:a16="http://schemas.microsoft.com/office/drawing/2014/main" id="{4ACC1B80-487C-4919-A425-6D1673B7452C}"/>
              </a:ext>
            </a:extLst>
          </p:cNvPr>
          <p:cNvSpPr>
            <a:spLocks noGrp="1"/>
          </p:cNvSpPr>
          <p:nvPr/>
        </p:nvSpPr>
        <p:spPr>
          <a:xfrm>
            <a:off x="876300" y="4210050"/>
            <a:ext cx="361950" cy="19050"/>
          </a:xfrm>
          <a:prstGeom prst="rect">
            <a:avLst/>
          </a:prstGeom>
          <a:solidFill>
            <a:srgbClr val="008A72"/>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1" name="Control knob">
            <a:extLst>
              <a:ext uri="{FF2B5EF4-FFF2-40B4-BE49-F238E27FC236}">
                <a16:creationId xmlns:a16="http://schemas.microsoft.com/office/drawing/2014/main" id="{32BD368B-2162-4FA3-B4DB-035C55B7BA5E}"/>
              </a:ext>
            </a:extLst>
          </p:cNvPr>
          <p:cNvSpPr>
            <a:spLocks noGrp="1"/>
          </p:cNvSpPr>
          <p:nvPr/>
        </p:nvSpPr>
        <p:spPr>
          <a:xfrm>
            <a:off x="1009650" y="4171950"/>
            <a:ext cx="85725" cy="85725"/>
          </a:xfrm>
          <a:prstGeom prst="ellipse">
            <a:avLst/>
          </a:prstGeom>
          <a:solidFill>
            <a:srgbClr val="FFFFFF"/>
          </a:solidFill>
          <a:ln w="13335">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2" name="Control slider">
            <a:extLst>
              <a:ext uri="{FF2B5EF4-FFF2-40B4-BE49-F238E27FC236}">
                <a16:creationId xmlns:a16="http://schemas.microsoft.com/office/drawing/2014/main" id="{805EA658-B97C-4DFA-BBAC-96264B7A4AB3}"/>
              </a:ext>
            </a:extLst>
          </p:cNvPr>
          <p:cNvSpPr>
            <a:spLocks noGrp="1"/>
          </p:cNvSpPr>
          <p:nvPr/>
        </p:nvSpPr>
        <p:spPr>
          <a:xfrm>
            <a:off x="876300" y="4333875"/>
            <a:ext cx="361950" cy="19050"/>
          </a:xfrm>
          <a:prstGeom prst="rect">
            <a:avLst/>
          </a:prstGeom>
          <a:solidFill>
            <a:srgbClr val="008A72"/>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3" name="Control knob">
            <a:extLst>
              <a:ext uri="{FF2B5EF4-FFF2-40B4-BE49-F238E27FC236}">
                <a16:creationId xmlns:a16="http://schemas.microsoft.com/office/drawing/2014/main" id="{39D8D317-A8DA-4DF9-ACF1-A9F60470D3F3}"/>
              </a:ext>
            </a:extLst>
          </p:cNvPr>
          <p:cNvSpPr>
            <a:spLocks noGrp="1"/>
          </p:cNvSpPr>
          <p:nvPr/>
        </p:nvSpPr>
        <p:spPr>
          <a:xfrm>
            <a:off x="1171575" y="4295775"/>
            <a:ext cx="85725" cy="85725"/>
          </a:xfrm>
          <a:prstGeom prst="ellipse">
            <a:avLst/>
          </a:prstGeom>
          <a:solidFill>
            <a:srgbClr val="FFFFFF"/>
          </a:solidFill>
          <a:ln w="13335">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4" name="Control slider">
            <a:extLst>
              <a:ext uri="{FF2B5EF4-FFF2-40B4-BE49-F238E27FC236}">
                <a16:creationId xmlns:a16="http://schemas.microsoft.com/office/drawing/2014/main" id="{8A669757-5BD1-498C-B1FD-CD251DC84791}"/>
              </a:ext>
            </a:extLst>
          </p:cNvPr>
          <p:cNvSpPr>
            <a:spLocks noGrp="1"/>
          </p:cNvSpPr>
          <p:nvPr/>
        </p:nvSpPr>
        <p:spPr>
          <a:xfrm>
            <a:off x="876300" y="4457700"/>
            <a:ext cx="361950" cy="19050"/>
          </a:xfrm>
          <a:prstGeom prst="rect">
            <a:avLst/>
          </a:prstGeom>
          <a:solidFill>
            <a:srgbClr val="008A72"/>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5" name="Control knob">
            <a:extLst>
              <a:ext uri="{FF2B5EF4-FFF2-40B4-BE49-F238E27FC236}">
                <a16:creationId xmlns:a16="http://schemas.microsoft.com/office/drawing/2014/main" id="{AB1B0BFB-EE97-47A0-B0C7-522C130B61A8}"/>
              </a:ext>
            </a:extLst>
          </p:cNvPr>
          <p:cNvSpPr>
            <a:spLocks noGrp="1"/>
          </p:cNvSpPr>
          <p:nvPr/>
        </p:nvSpPr>
        <p:spPr>
          <a:xfrm>
            <a:off x="952500" y="4419600"/>
            <a:ext cx="85725" cy="85725"/>
          </a:xfrm>
          <a:prstGeom prst="ellipse">
            <a:avLst/>
          </a:prstGeom>
          <a:solidFill>
            <a:srgbClr val="FFFFFF"/>
          </a:solidFill>
          <a:ln w="13335">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6" name="User Controls heading">
            <a:extLst>
              <a:ext uri="{FF2B5EF4-FFF2-40B4-BE49-F238E27FC236}">
                <a16:creationId xmlns:a16="http://schemas.microsoft.com/office/drawing/2014/main" id="{98294DAB-28C2-483F-8C91-ED8BE5BD2A2E}"/>
              </a:ext>
            </a:extLst>
          </p:cNvPr>
          <p:cNvSpPr>
            <a:spLocks noGrp="1"/>
          </p:cNvSpPr>
          <p:nvPr/>
        </p:nvSpPr>
        <p:spPr>
          <a:xfrm>
            <a:off x="1638300" y="3600450"/>
            <a:ext cx="4000500" cy="304800"/>
          </a:xfrm>
          <a:prstGeom prst="rect">
            <a:avLst/>
          </a:prstGeom>
          <a:noFill/>
          <a:ln w="0">
            <a:noFill/>
            <a:prstDash val="solid"/>
          </a:ln>
        </p:spPr>
        <p:txBody>
          <a:bodyPr lIns="0" tIns="0" rIns="0" bIns="0" anchor="ctr">
            <a:noAutofit/>
          </a:bodyPr>
          <a:lstStyle/>
          <a:p>
            <a:pPr algn="l">
              <a:buNone/>
              <a:defRPr sz="1650" b="1">
                <a:solidFill>
                  <a:srgbClr val="111827"/>
                </a:solidFill>
                <a:latin typeface="Arial"/>
                <a:ea typeface="Arial"/>
                <a:cs typeface="Arial"/>
              </a:defRPr>
            </a:pPr>
            <a:r>
              <a:rPr sz="1650" b="1">
                <a:solidFill>
                  <a:srgbClr val="111827"/>
                </a:solidFill>
                <a:latin typeface="Times New Roman" panose="02020603050405020304" pitchFamily="18" charset="0"/>
                <a:ea typeface="Arial"/>
                <a:cs typeface="Times New Roman" panose="02020603050405020304" pitchFamily="18" charset="0"/>
              </a:rPr>
              <a:t>User Controls</a:t>
            </a:r>
          </a:p>
        </p:txBody>
      </p:sp>
      <p:sp>
        <p:nvSpPr>
          <p:cNvPr id="37" name="User Controls content">
            <a:extLst>
              <a:ext uri="{FF2B5EF4-FFF2-40B4-BE49-F238E27FC236}">
                <a16:creationId xmlns:a16="http://schemas.microsoft.com/office/drawing/2014/main" id="{D65930D2-5893-458D-A4AA-95A1086F12DA}"/>
              </a:ext>
            </a:extLst>
          </p:cNvPr>
          <p:cNvSpPr>
            <a:spLocks noGrp="1"/>
          </p:cNvSpPr>
          <p:nvPr/>
        </p:nvSpPr>
        <p:spPr>
          <a:xfrm>
            <a:off x="1638300" y="4000500"/>
            <a:ext cx="4000500" cy="1143000"/>
          </a:xfrm>
          <a:prstGeom prst="rect">
            <a:avLst/>
          </a:prstGeom>
          <a:noFill/>
          <a:ln w="0">
            <a:noFill/>
            <a:prstDash val="solid"/>
          </a:ln>
        </p:spPr>
        <p:txBody>
          <a:bodyPr lIns="0" tIns="0" rIns="0" bIns="0" anchor="t">
            <a:noAutofit/>
          </a:bodyPr>
          <a:lstStyle/>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Max output tokens</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Temperature · top-p · seed</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Conversation history</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Clear / remove rounds / model switching</a:t>
            </a:r>
          </a:p>
        </p:txBody>
      </p:sp>
      <p:sp>
        <p:nvSpPr>
          <p:cNvPr id="38" name="Local Reliability card">
            <a:extLst>
              <a:ext uri="{FF2B5EF4-FFF2-40B4-BE49-F238E27FC236}">
                <a16:creationId xmlns:a16="http://schemas.microsoft.com/office/drawing/2014/main" id="{E973B9DC-FFEE-467D-AC29-445F088F8E1F}"/>
              </a:ext>
            </a:extLst>
          </p:cNvPr>
          <p:cNvSpPr>
            <a:spLocks noGrp="1"/>
          </p:cNvSpPr>
          <p:nvPr/>
        </p:nvSpPr>
        <p:spPr>
          <a:xfrm>
            <a:off x="6286500" y="3371850"/>
            <a:ext cx="5429250" cy="1924050"/>
          </a:xfrm>
          <a:prstGeom prst="roundRect">
            <a:avLst>
              <a:gd name="adj" fmla="val 3960"/>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0" name="Reliability icon plate">
            <a:extLst>
              <a:ext uri="{FF2B5EF4-FFF2-40B4-BE49-F238E27FC236}">
                <a16:creationId xmlns:a16="http://schemas.microsoft.com/office/drawing/2014/main" id="{1A348072-98E0-40C3-B544-F47FD9E861E7}"/>
              </a:ext>
            </a:extLst>
          </p:cNvPr>
          <p:cNvSpPr>
            <a:spLocks noGrp="1"/>
          </p:cNvSpPr>
          <p:nvPr/>
        </p:nvSpPr>
        <p:spPr>
          <a:xfrm>
            <a:off x="6534150" y="4000500"/>
            <a:ext cx="666750" cy="666750"/>
          </a:xfrm>
          <a:prstGeom prst="ellipse">
            <a:avLst/>
          </a:prstGeom>
          <a:solidFill>
            <a:srgbClr val="FFF7ED"/>
          </a:solidFill>
          <a:ln w="14288">
            <a:solidFill>
              <a:srgbClr val="D97706"/>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1" name="Reliability shield chip">
            <a:extLst>
              <a:ext uri="{FF2B5EF4-FFF2-40B4-BE49-F238E27FC236}">
                <a16:creationId xmlns:a16="http://schemas.microsoft.com/office/drawing/2014/main" id="{D2DBD8A7-991B-4D27-81BE-4369AE6C6A65}"/>
              </a:ext>
            </a:extLst>
          </p:cNvPr>
          <p:cNvSpPr>
            <a:spLocks noGrp="1"/>
          </p:cNvSpPr>
          <p:nvPr/>
        </p:nvSpPr>
        <p:spPr>
          <a:xfrm>
            <a:off x="6705600" y="4143375"/>
            <a:ext cx="323850" cy="371475"/>
          </a:xfrm>
          <a:prstGeom prst="hexagon">
            <a:avLst/>
          </a:prstGeom>
          <a:solidFill>
            <a:srgbClr val="FFFFFF"/>
          </a:solidFill>
          <a:ln w="14288">
            <a:solidFill>
              <a:srgbClr val="D97706"/>
            </a:solidFill>
            <a:prstDash val="solid"/>
          </a:ln>
        </p:spPr>
        <p:txBody>
          <a:bodyPr lIns="0" tIns="0" rIns="0" bIns="0" anchor="ctr">
            <a:noAutofit/>
          </a:bodyPr>
          <a:lstStyle/>
          <a:p>
            <a:pPr algn="ctr">
              <a:buNone/>
              <a:defRPr sz="1500" b="1">
                <a:solidFill>
                  <a:srgbClr val="D97706"/>
                </a:solidFill>
                <a:latin typeface="Arial"/>
                <a:ea typeface="Arial"/>
                <a:cs typeface="Arial"/>
              </a:defRPr>
            </a:pPr>
            <a:r>
              <a:rPr sz="1500" b="1">
                <a:solidFill>
                  <a:srgbClr val="D97706"/>
                </a:solidFill>
                <a:latin typeface="Times New Roman" panose="02020603050405020304" pitchFamily="18" charset="0"/>
                <a:ea typeface="Arial"/>
                <a:cs typeface="Times New Roman" panose="02020603050405020304" pitchFamily="18" charset="0"/>
              </a:rPr>
              <a:t>✓</a:t>
            </a:r>
          </a:p>
        </p:txBody>
      </p:sp>
      <p:sp>
        <p:nvSpPr>
          <p:cNvPr id="42" name="Reliability chip pin">
            <a:extLst>
              <a:ext uri="{FF2B5EF4-FFF2-40B4-BE49-F238E27FC236}">
                <a16:creationId xmlns:a16="http://schemas.microsoft.com/office/drawing/2014/main" id="{94292115-6D0A-4172-8CAD-80CB451B1601}"/>
              </a:ext>
            </a:extLst>
          </p:cNvPr>
          <p:cNvSpPr>
            <a:spLocks noGrp="1"/>
          </p:cNvSpPr>
          <p:nvPr/>
        </p:nvSpPr>
        <p:spPr>
          <a:xfrm>
            <a:off x="6648450" y="4238625"/>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3" name="Reliability chip pin">
            <a:extLst>
              <a:ext uri="{FF2B5EF4-FFF2-40B4-BE49-F238E27FC236}">
                <a16:creationId xmlns:a16="http://schemas.microsoft.com/office/drawing/2014/main" id="{3947E2CB-D9C4-4163-BAD2-CBEA228E2C84}"/>
              </a:ext>
            </a:extLst>
          </p:cNvPr>
          <p:cNvSpPr>
            <a:spLocks noGrp="1"/>
          </p:cNvSpPr>
          <p:nvPr/>
        </p:nvSpPr>
        <p:spPr>
          <a:xfrm>
            <a:off x="6648450" y="4324350"/>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4" name="Reliability chip pin">
            <a:extLst>
              <a:ext uri="{FF2B5EF4-FFF2-40B4-BE49-F238E27FC236}">
                <a16:creationId xmlns:a16="http://schemas.microsoft.com/office/drawing/2014/main" id="{2A5CC747-D92D-4FED-B87E-06E7EEF0251F}"/>
              </a:ext>
            </a:extLst>
          </p:cNvPr>
          <p:cNvSpPr>
            <a:spLocks noGrp="1"/>
          </p:cNvSpPr>
          <p:nvPr/>
        </p:nvSpPr>
        <p:spPr>
          <a:xfrm>
            <a:off x="6648450" y="4410075"/>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5" name="Reliability chip pin">
            <a:extLst>
              <a:ext uri="{FF2B5EF4-FFF2-40B4-BE49-F238E27FC236}">
                <a16:creationId xmlns:a16="http://schemas.microsoft.com/office/drawing/2014/main" id="{FBAAF2E7-2AB8-4660-B57D-21C0E0A0524A}"/>
              </a:ext>
            </a:extLst>
          </p:cNvPr>
          <p:cNvSpPr>
            <a:spLocks noGrp="1"/>
          </p:cNvSpPr>
          <p:nvPr/>
        </p:nvSpPr>
        <p:spPr>
          <a:xfrm>
            <a:off x="7058025" y="4238625"/>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6" name="Reliability chip pin">
            <a:extLst>
              <a:ext uri="{FF2B5EF4-FFF2-40B4-BE49-F238E27FC236}">
                <a16:creationId xmlns:a16="http://schemas.microsoft.com/office/drawing/2014/main" id="{E3FCE492-A64F-4597-81DE-D8DB42E5C68F}"/>
              </a:ext>
            </a:extLst>
          </p:cNvPr>
          <p:cNvSpPr>
            <a:spLocks noGrp="1"/>
          </p:cNvSpPr>
          <p:nvPr/>
        </p:nvSpPr>
        <p:spPr>
          <a:xfrm>
            <a:off x="7058025" y="4324350"/>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7" name="Reliability chip pin">
            <a:extLst>
              <a:ext uri="{FF2B5EF4-FFF2-40B4-BE49-F238E27FC236}">
                <a16:creationId xmlns:a16="http://schemas.microsoft.com/office/drawing/2014/main" id="{3CB4B54F-B438-45C6-85FC-F1767C1E7E1F}"/>
              </a:ext>
            </a:extLst>
          </p:cNvPr>
          <p:cNvSpPr>
            <a:spLocks noGrp="1"/>
          </p:cNvSpPr>
          <p:nvPr/>
        </p:nvSpPr>
        <p:spPr>
          <a:xfrm>
            <a:off x="7058025" y="4410075"/>
            <a:ext cx="38100" cy="19050"/>
          </a:xfrm>
          <a:prstGeom prst="rect">
            <a:avLst/>
          </a:prstGeom>
          <a:solidFill>
            <a:srgbClr val="D97706"/>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8" name="Local Reliability heading">
            <a:extLst>
              <a:ext uri="{FF2B5EF4-FFF2-40B4-BE49-F238E27FC236}">
                <a16:creationId xmlns:a16="http://schemas.microsoft.com/office/drawing/2014/main" id="{9DE128F1-C846-454D-AEAC-EF5940F799D2}"/>
              </a:ext>
            </a:extLst>
          </p:cNvPr>
          <p:cNvSpPr>
            <a:spLocks noGrp="1"/>
          </p:cNvSpPr>
          <p:nvPr/>
        </p:nvSpPr>
        <p:spPr>
          <a:xfrm>
            <a:off x="7448550" y="3600450"/>
            <a:ext cx="4000500" cy="304800"/>
          </a:xfrm>
          <a:prstGeom prst="rect">
            <a:avLst/>
          </a:prstGeom>
          <a:noFill/>
          <a:ln w="0">
            <a:noFill/>
            <a:prstDash val="solid"/>
          </a:ln>
        </p:spPr>
        <p:txBody>
          <a:bodyPr lIns="0" tIns="0" rIns="0" bIns="0" anchor="ctr">
            <a:noAutofit/>
          </a:bodyPr>
          <a:lstStyle/>
          <a:p>
            <a:pPr algn="l">
              <a:buNone/>
              <a:defRPr sz="1650" b="1">
                <a:solidFill>
                  <a:srgbClr val="111827"/>
                </a:solidFill>
                <a:latin typeface="Arial"/>
                <a:ea typeface="Arial"/>
                <a:cs typeface="Arial"/>
              </a:defRPr>
            </a:pPr>
            <a:r>
              <a:rPr lang="en-GB" sz="1650" b="1" dirty="0">
                <a:solidFill>
                  <a:srgbClr val="111827"/>
                </a:solidFill>
                <a:latin typeface="Times New Roman" panose="02020603050405020304" pitchFamily="18" charset="0"/>
                <a:ea typeface="Arial"/>
                <a:cs typeface="Times New Roman" panose="02020603050405020304" pitchFamily="18" charset="0"/>
              </a:rPr>
              <a:t>Precision &amp; Memory Safeguards</a:t>
            </a:r>
            <a:endParaRPr sz="1650" b="1" dirty="0">
              <a:solidFill>
                <a:srgbClr val="111827"/>
              </a:solidFill>
              <a:latin typeface="Times New Roman" panose="02020603050405020304" pitchFamily="18" charset="0"/>
              <a:ea typeface="Arial"/>
              <a:cs typeface="Times New Roman" panose="02020603050405020304" pitchFamily="18" charset="0"/>
            </a:endParaRPr>
          </a:p>
        </p:txBody>
      </p:sp>
      <p:sp>
        <p:nvSpPr>
          <p:cNvPr id="49" name="Local Reliability content">
            <a:extLst>
              <a:ext uri="{FF2B5EF4-FFF2-40B4-BE49-F238E27FC236}">
                <a16:creationId xmlns:a16="http://schemas.microsoft.com/office/drawing/2014/main" id="{77EB1AF3-7D7E-475E-9742-B7A1553AC123}"/>
              </a:ext>
            </a:extLst>
          </p:cNvPr>
          <p:cNvSpPr>
            <a:spLocks noGrp="1"/>
          </p:cNvSpPr>
          <p:nvPr/>
        </p:nvSpPr>
        <p:spPr>
          <a:xfrm>
            <a:off x="7448550" y="4000500"/>
            <a:ext cx="4000500" cy="1143000"/>
          </a:xfrm>
          <a:prstGeom prst="rect">
            <a:avLst/>
          </a:prstGeom>
          <a:noFill/>
          <a:ln w="0">
            <a:noFill/>
            <a:prstDash val="solid"/>
          </a:ln>
        </p:spPr>
        <p:txBody>
          <a:bodyPr lIns="0" tIns="0" rIns="0" bIns="0" anchor="t">
            <a:noAutofit/>
          </a:bodyPr>
          <a:lstStyle/>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FP16 · 8-bit Metal · 4-bit Metal</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2500-token safe input budget</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Memory cleanup</a:t>
            </a:r>
          </a:p>
          <a:p>
            <a:pPr algn="l">
              <a:buNone/>
              <a:defRPr sz="1313">
                <a:solidFill>
                  <a:srgbClr val="374151"/>
                </a:solidFill>
                <a:latin typeface="Arial"/>
                <a:ea typeface="Arial"/>
                <a:cs typeface="Arial"/>
              </a:defRPr>
            </a:pPr>
            <a:r>
              <a:rPr sz="1400" dirty="0">
                <a:solidFill>
                  <a:srgbClr val="374151"/>
                </a:solidFill>
                <a:latin typeface="Times New Roman" panose="02020603050405020304" pitchFamily="18" charset="0"/>
                <a:ea typeface="Arial"/>
                <a:cs typeface="Times New Roman" panose="02020603050405020304" pitchFamily="18" charset="0"/>
              </a:rPr>
              <a:t>• OOM detection and recovery</a:t>
            </a:r>
          </a:p>
        </p:txBody>
      </p:sp>
      <p:sp>
        <p:nvSpPr>
          <p:cNvPr id="50" name="Progression summary band">
            <a:extLst>
              <a:ext uri="{FF2B5EF4-FFF2-40B4-BE49-F238E27FC236}">
                <a16:creationId xmlns:a16="http://schemas.microsoft.com/office/drawing/2014/main" id="{0DCF29BD-AF4F-440B-A44C-9886165C7886}"/>
              </a:ext>
            </a:extLst>
          </p:cNvPr>
          <p:cNvSpPr>
            <a:spLocks noGrp="1"/>
          </p:cNvSpPr>
          <p:nvPr/>
        </p:nvSpPr>
        <p:spPr>
          <a:xfrm>
            <a:off x="476250" y="5524500"/>
            <a:ext cx="11239500" cy="723900"/>
          </a:xfrm>
          <a:prstGeom prst="roundRect">
            <a:avLst>
              <a:gd name="adj" fmla="val 10526"/>
            </a:avLst>
          </a:prstGeom>
          <a:noFill/>
          <a:ln w="11906">
            <a:solidFill>
              <a:srgbClr val="B8C8D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52" name="Progression summary">
            <a:extLst>
              <a:ext uri="{FF2B5EF4-FFF2-40B4-BE49-F238E27FC236}">
                <a16:creationId xmlns:a16="http://schemas.microsoft.com/office/drawing/2014/main" id="{AAFBAD3C-3DA5-4C9A-93B4-CFC28AD1A6F7}"/>
              </a:ext>
            </a:extLst>
          </p:cNvPr>
          <p:cNvSpPr>
            <a:spLocks noGrp="1"/>
          </p:cNvSpPr>
          <p:nvPr/>
        </p:nvSpPr>
        <p:spPr>
          <a:xfrm>
            <a:off x="742950" y="5619750"/>
            <a:ext cx="10706100" cy="533400"/>
          </a:xfrm>
          <a:prstGeom prst="rect">
            <a:avLst/>
          </a:prstGeom>
          <a:noFill/>
          <a:ln w="0">
            <a:noFill/>
            <a:prstDash val="solid"/>
          </a:ln>
        </p:spPr>
        <p:txBody>
          <a:bodyPr lIns="0" tIns="0" rIns="0" bIns="0" anchor="ctr">
            <a:noAutofit/>
          </a:bodyPr>
          <a:lstStyle/>
          <a:p>
            <a:pPr algn="ctr">
              <a:buNone/>
              <a:defRPr sz="1463" b="1">
                <a:solidFill>
                  <a:srgbClr val="111827"/>
                </a:solidFill>
                <a:latin typeface="Arial"/>
                <a:ea typeface="Arial"/>
                <a:cs typeface="Arial"/>
              </a:defRPr>
            </a:pPr>
            <a:r>
              <a:rPr sz="1400" b="1" i="1" dirty="0">
                <a:solidFill>
                  <a:srgbClr val="111827"/>
                </a:solidFill>
                <a:latin typeface="Times New Roman" panose="02020603050405020304" pitchFamily="18" charset="0"/>
                <a:ea typeface="Arial"/>
                <a:cs typeface="Times New Roman" panose="02020603050405020304" pitchFamily="18" charset="0"/>
              </a:rPr>
              <a:t>From the required CLI chatbot to a complete local GUI system with configurable inference and memory safeguards.</a:t>
            </a:r>
          </a:p>
        </p:txBody>
      </p:sp>
    </p:spTree>
    <p:extLst>
      <p:ext uri="{BB962C8B-B14F-4D97-AF65-F5344CB8AC3E}">
        <p14:creationId xmlns:p14="http://schemas.microsoft.com/office/powerpoint/2010/main" val="901800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9239250" cy="552450"/>
          </a:xfrm>
        </p:spPr>
        <p:txBody>
          <a:bodyPr lIns="0" tIns="0" rIns="0" bIns="0" anchor="t">
            <a:noAutofit/>
          </a:bodyPr>
          <a:lstStyle/>
          <a:p>
            <a:pPr marL="0" indent="0" algn="l">
              <a:buNone/>
              <a:defRPr sz="285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SANZI SYSTEM ARCHITECTURE</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EE5B3003-2C54-13C6-9832-7637201064DE}" type="slidenum">
              <a:rPr>
                <a:latin typeface="Times New Roman" panose="02020603050405020304" pitchFamily="18" charset="0"/>
                <a:cs typeface="Times New Roman" panose="02020603050405020304" pitchFamily="18" charset="0"/>
              </a:rPr>
              <a:t>5</a:t>
            </a:fld>
            <a:endParaRPr>
              <a:latin typeface="Times New Roman" panose="02020603050405020304" pitchFamily="18" charset="0"/>
              <a:cs typeface="Times New Roman" panose="02020603050405020304" pitchFamily="18" charset="0"/>
            </a:endParaRPr>
          </a:p>
        </p:txBody>
      </p:sp>
      <p:sp>
        <p:nvSpPr>
          <p:cNvPr id="6" name="CLI lane label">
            <a:extLst>
              <a:ext uri="{FF2B5EF4-FFF2-40B4-BE49-F238E27FC236}">
                <a16:creationId xmlns:a16="http://schemas.microsoft.com/office/drawing/2014/main" id="{3577FC59-5409-45DB-A823-64D65B161433}"/>
              </a:ext>
            </a:extLst>
          </p:cNvPr>
          <p:cNvSpPr>
            <a:spLocks noGrp="1"/>
          </p:cNvSpPr>
          <p:nvPr/>
        </p:nvSpPr>
        <p:spPr>
          <a:xfrm>
            <a:off x="1571625" y="1419225"/>
            <a:ext cx="2857500" cy="209550"/>
          </a:xfrm>
          <a:prstGeom prst="rect">
            <a:avLst/>
          </a:prstGeom>
          <a:noFill/>
          <a:ln w="0">
            <a:noFill/>
            <a:prstDash val="solid"/>
          </a:ln>
        </p:spPr>
        <p:txBody>
          <a:bodyPr lIns="0" tIns="0" rIns="0" bIns="0" anchor="ctr">
            <a:noAutofit/>
          </a:bodyPr>
          <a:lstStyle/>
          <a:p>
            <a:pPr algn="l">
              <a:buNone/>
              <a:defRPr sz="1013" b="1">
                <a:solidFill>
                  <a:srgbClr val="7C3AED"/>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01  CLI APPLICATION PATH</a:t>
            </a:r>
          </a:p>
        </p:txBody>
      </p:sp>
      <p:sp>
        <p:nvSpPr>
          <p:cNvPr id="7" name="CLI lane guide">
            <a:extLst>
              <a:ext uri="{FF2B5EF4-FFF2-40B4-BE49-F238E27FC236}">
                <a16:creationId xmlns:a16="http://schemas.microsoft.com/office/drawing/2014/main" id="{60199F1E-8F33-4A78-8208-F849B478F4BC}"/>
              </a:ext>
            </a:extLst>
          </p:cNvPr>
          <p:cNvSpPr>
            <a:spLocks noGrp="1"/>
          </p:cNvSpPr>
          <p:nvPr/>
        </p:nvSpPr>
        <p:spPr>
          <a:xfrm>
            <a:off x="1381125" y="1333500"/>
            <a:ext cx="7524750" cy="1190625"/>
          </a:xfrm>
          <a:prstGeom prst="rect">
            <a:avLst/>
          </a:prstGeom>
          <a:noFill/>
          <a:ln w="10954">
            <a:solidFill>
              <a:schemeClr val="accent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8" name="GUI lane label">
            <a:extLst>
              <a:ext uri="{FF2B5EF4-FFF2-40B4-BE49-F238E27FC236}">
                <a16:creationId xmlns:a16="http://schemas.microsoft.com/office/drawing/2014/main" id="{72BD0CC9-D080-431F-A4CF-B60B3871F40E}"/>
              </a:ext>
            </a:extLst>
          </p:cNvPr>
          <p:cNvSpPr>
            <a:spLocks noGrp="1"/>
          </p:cNvSpPr>
          <p:nvPr/>
        </p:nvSpPr>
        <p:spPr>
          <a:xfrm>
            <a:off x="1571625" y="2800350"/>
            <a:ext cx="3429000" cy="209550"/>
          </a:xfrm>
          <a:prstGeom prst="rect">
            <a:avLst/>
          </a:prstGeom>
          <a:noFill/>
          <a:ln w="0">
            <a:noFill/>
            <a:prstDash val="solid"/>
          </a:ln>
        </p:spPr>
        <p:txBody>
          <a:bodyPr lIns="0" tIns="0" rIns="0" bIns="0" anchor="ctr">
            <a:noAutofit/>
          </a:bodyPr>
          <a:lstStyle/>
          <a:p>
            <a:pPr algn="l">
              <a:buNone/>
              <a:defRPr sz="1013" b="1">
                <a:solidFill>
                  <a:srgbClr val="008A72"/>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02  GUI / BACKEND APPLICATION PATH</a:t>
            </a:r>
          </a:p>
        </p:txBody>
      </p:sp>
      <p:sp>
        <p:nvSpPr>
          <p:cNvPr id="9" name="GUI lane guide">
            <a:extLst>
              <a:ext uri="{FF2B5EF4-FFF2-40B4-BE49-F238E27FC236}">
                <a16:creationId xmlns:a16="http://schemas.microsoft.com/office/drawing/2014/main" id="{2BE57D0C-BC02-44F6-9C9D-7B1257EA7F48}"/>
              </a:ext>
            </a:extLst>
          </p:cNvPr>
          <p:cNvSpPr>
            <a:spLocks noGrp="1"/>
          </p:cNvSpPr>
          <p:nvPr/>
        </p:nvSpPr>
        <p:spPr>
          <a:xfrm>
            <a:off x="1381125" y="2714625"/>
            <a:ext cx="7524750" cy="2238375"/>
          </a:xfrm>
          <a:prstGeom prst="rect">
            <a:avLst/>
          </a:prstGeom>
          <a:noFill/>
          <a:ln w="10954">
            <a:solidFill>
              <a:srgbClr val="BFE7DE"/>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0" name="Shared execution label">
            <a:extLst>
              <a:ext uri="{FF2B5EF4-FFF2-40B4-BE49-F238E27FC236}">
                <a16:creationId xmlns:a16="http://schemas.microsoft.com/office/drawing/2014/main" id="{07A3A37E-3702-4F19-B87B-BC6064E305D0}"/>
              </a:ext>
            </a:extLst>
          </p:cNvPr>
          <p:cNvSpPr>
            <a:spLocks noGrp="1"/>
          </p:cNvSpPr>
          <p:nvPr/>
        </p:nvSpPr>
        <p:spPr>
          <a:xfrm>
            <a:off x="9353923" y="1478668"/>
            <a:ext cx="2640959" cy="352425"/>
          </a:xfrm>
          <a:prstGeom prst="rect">
            <a:avLst/>
          </a:prstGeom>
          <a:noFill/>
          <a:ln w="0">
            <a:noFill/>
            <a:prstDash val="solid"/>
          </a:ln>
        </p:spPr>
        <p:txBody>
          <a:bodyPr lIns="0" tIns="0" rIns="0" bIns="0" anchor="ctr">
            <a:noAutofit/>
          </a:bodyPr>
          <a:lstStyle/>
          <a:p>
            <a:pPr algn="l">
              <a:buNone/>
              <a:defRPr sz="1013" b="1">
                <a:solidFill>
                  <a:srgbClr val="2563A8"/>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03 LOCAL EXECUTION</a:t>
            </a:r>
          </a:p>
        </p:txBody>
      </p:sp>
      <p:sp>
        <p:nvSpPr>
          <p:cNvPr id="11" name="User node">
            <a:extLst>
              <a:ext uri="{FF2B5EF4-FFF2-40B4-BE49-F238E27FC236}">
                <a16:creationId xmlns:a16="http://schemas.microsoft.com/office/drawing/2014/main" id="{33CCFC9E-3698-41F1-9CC6-4D59BE668D47}"/>
              </a:ext>
            </a:extLst>
          </p:cNvPr>
          <p:cNvSpPr>
            <a:spLocks noGrp="1"/>
          </p:cNvSpPr>
          <p:nvPr/>
        </p:nvSpPr>
        <p:spPr>
          <a:xfrm>
            <a:off x="266700" y="3114675"/>
            <a:ext cx="857250" cy="857250"/>
          </a:xfrm>
          <a:prstGeom prst="ellipse">
            <a:avLst/>
          </a:prstGeom>
          <a:solidFill>
            <a:srgbClr val="FFFFFF"/>
          </a:solidFill>
          <a:ln w="12859">
            <a:solidFill>
              <a:srgbClr val="7B8494"/>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12" name="User title">
            <a:extLst>
              <a:ext uri="{FF2B5EF4-FFF2-40B4-BE49-F238E27FC236}">
                <a16:creationId xmlns:a16="http://schemas.microsoft.com/office/drawing/2014/main" id="{F5DCCDB3-097F-4B1F-B080-8D25C93BD5C7}"/>
              </a:ext>
            </a:extLst>
          </p:cNvPr>
          <p:cNvSpPr>
            <a:spLocks noGrp="1"/>
          </p:cNvSpPr>
          <p:nvPr/>
        </p:nvSpPr>
        <p:spPr>
          <a:xfrm>
            <a:off x="342900" y="3114675"/>
            <a:ext cx="704850" cy="85725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dirty="0">
                <a:solidFill>
                  <a:srgbClr val="111827"/>
                </a:solidFill>
                <a:latin typeface="Times New Roman" panose="02020603050405020304" pitchFamily="18" charset="0"/>
                <a:ea typeface="Arial"/>
                <a:cs typeface="Times New Roman" panose="02020603050405020304" pitchFamily="18" charset="0"/>
              </a:rPr>
              <a:t>USER</a:t>
            </a:r>
          </a:p>
        </p:txBody>
      </p:sp>
      <p:sp>
        <p:nvSpPr>
          <p:cNvPr id="13" name="CLI node">
            <a:extLst>
              <a:ext uri="{FF2B5EF4-FFF2-40B4-BE49-F238E27FC236}">
                <a16:creationId xmlns:a16="http://schemas.microsoft.com/office/drawing/2014/main" id="{6C6F041F-C2A0-42F2-A2FD-7D2504DA8D77}"/>
              </a:ext>
            </a:extLst>
          </p:cNvPr>
          <p:cNvSpPr>
            <a:spLocks noGrp="1"/>
          </p:cNvSpPr>
          <p:nvPr/>
        </p:nvSpPr>
        <p:spPr>
          <a:xfrm>
            <a:off x="1762125" y="1771650"/>
            <a:ext cx="1809750" cy="590550"/>
          </a:xfrm>
          <a:prstGeom prst="roundRect">
            <a:avLst>
              <a:gd name="adj" fmla="val 11111"/>
            </a:avLst>
          </a:prstGeom>
          <a:solidFill>
            <a:srgbClr val="FFFFFF"/>
          </a:solidFill>
          <a:ln w="12859">
            <a:solidFill>
              <a:schemeClr val="accent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14" name="CLI title">
            <a:extLst>
              <a:ext uri="{FF2B5EF4-FFF2-40B4-BE49-F238E27FC236}">
                <a16:creationId xmlns:a16="http://schemas.microsoft.com/office/drawing/2014/main" id="{5F738BBC-A2F8-4059-BAA9-8AB4CF952BEC}"/>
              </a:ext>
            </a:extLst>
          </p:cNvPr>
          <p:cNvSpPr>
            <a:spLocks noGrp="1"/>
          </p:cNvSpPr>
          <p:nvPr/>
        </p:nvSpPr>
        <p:spPr>
          <a:xfrm>
            <a:off x="1805314" y="1869901"/>
            <a:ext cx="1504950" cy="3429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400" b="1" dirty="0">
                <a:solidFill>
                  <a:srgbClr val="111827"/>
                </a:solidFill>
                <a:latin typeface="Times New Roman" panose="02020603050405020304" pitchFamily="18" charset="0"/>
                <a:ea typeface="Arial"/>
                <a:cs typeface="Times New Roman" panose="02020603050405020304" pitchFamily="18" charset="0"/>
              </a:rPr>
              <a:t>Command-Line</a:t>
            </a:r>
          </a:p>
          <a:p>
            <a:pPr algn="ctr">
              <a:buNone/>
              <a:defRPr sz="1238" b="1">
                <a:solidFill>
                  <a:srgbClr val="111827"/>
                </a:solidFill>
                <a:latin typeface="Arial"/>
                <a:ea typeface="Arial"/>
                <a:cs typeface="Arial"/>
              </a:defRPr>
            </a:pPr>
            <a:r>
              <a:rPr sz="1400" b="1" dirty="0">
                <a:solidFill>
                  <a:srgbClr val="111827"/>
                </a:solidFill>
                <a:latin typeface="Times New Roman" panose="02020603050405020304" pitchFamily="18" charset="0"/>
                <a:ea typeface="Arial"/>
                <a:cs typeface="Times New Roman" panose="02020603050405020304" pitchFamily="18" charset="0"/>
              </a:rPr>
              <a:t>Interface</a:t>
            </a:r>
            <a:r>
              <a:rPr lang="de-DE" sz="1400" b="1" dirty="0">
                <a:solidFill>
                  <a:srgbClr val="111827"/>
                </a:solidFill>
                <a:latin typeface="Times New Roman" panose="02020603050405020304" pitchFamily="18" charset="0"/>
                <a:ea typeface="Arial"/>
                <a:cs typeface="Times New Roman" panose="02020603050405020304" pitchFamily="18" charset="0"/>
              </a:rPr>
              <a:t> (CLI)</a:t>
            </a:r>
            <a:endParaRPr sz="1400" b="1" dirty="0">
              <a:solidFill>
                <a:srgbClr val="111827"/>
              </a:solidFill>
              <a:latin typeface="Times New Roman" panose="02020603050405020304" pitchFamily="18" charset="0"/>
              <a:ea typeface="Arial"/>
              <a:cs typeface="Times New Roman" panose="02020603050405020304" pitchFamily="18" charset="0"/>
            </a:endParaRPr>
          </a:p>
        </p:txBody>
      </p:sp>
      <p:sp>
        <p:nvSpPr>
          <p:cNvPr id="15" name="CLI subtitle">
            <a:extLst>
              <a:ext uri="{FF2B5EF4-FFF2-40B4-BE49-F238E27FC236}">
                <a16:creationId xmlns:a16="http://schemas.microsoft.com/office/drawing/2014/main" id="{213D0358-B8F3-4524-BBF9-0810DFE1608F}"/>
              </a:ext>
            </a:extLst>
          </p:cNvPr>
          <p:cNvSpPr>
            <a:spLocks noGrp="1"/>
          </p:cNvSpPr>
          <p:nvPr/>
        </p:nvSpPr>
        <p:spPr>
          <a:xfrm>
            <a:off x="1914525" y="2143125"/>
            <a:ext cx="1504950" cy="171450"/>
          </a:xfrm>
          <a:prstGeom prst="rect">
            <a:avLst/>
          </a:prstGeom>
          <a:noFill/>
          <a:ln w="0">
            <a:noFill/>
            <a:prstDash val="solid"/>
          </a:ln>
        </p:spPr>
        <p:txBody>
          <a:bodyPr lIns="0" tIns="0" rIns="0" bIns="0" anchor="ctr">
            <a:noAutofit/>
          </a:bodyPr>
          <a:lstStyle/>
          <a:p>
            <a:pPr algn="ctr">
              <a:buNone/>
              <a:defRPr sz="975">
                <a:solidFill>
                  <a:srgbClr val="6B7280"/>
                </a:solidFill>
                <a:latin typeface="Arial"/>
                <a:ea typeface="Arial"/>
                <a:cs typeface="Arial"/>
              </a:defRPr>
            </a:pPr>
            <a:endParaRPr sz="975" dirty="0">
              <a:solidFill>
                <a:srgbClr val="6B7280"/>
              </a:solidFill>
              <a:latin typeface="Times New Roman" panose="02020603050405020304" pitchFamily="18" charset="0"/>
              <a:ea typeface="Arial"/>
              <a:cs typeface="Times New Roman" panose="02020603050405020304" pitchFamily="18" charset="0"/>
            </a:endParaRPr>
          </a:p>
        </p:txBody>
      </p:sp>
      <p:sp>
        <p:nvSpPr>
          <p:cNvPr id="16" name="CLI inference node">
            <a:extLst>
              <a:ext uri="{FF2B5EF4-FFF2-40B4-BE49-F238E27FC236}">
                <a16:creationId xmlns:a16="http://schemas.microsoft.com/office/drawing/2014/main" id="{B923B3D6-41F7-4A49-B817-2B6C3C35D4C3}"/>
              </a:ext>
            </a:extLst>
          </p:cNvPr>
          <p:cNvSpPr>
            <a:spLocks noGrp="1"/>
          </p:cNvSpPr>
          <p:nvPr/>
        </p:nvSpPr>
        <p:spPr>
          <a:xfrm>
            <a:off x="4667250" y="1771650"/>
            <a:ext cx="2381250" cy="590550"/>
          </a:xfrm>
          <a:prstGeom prst="roundRect">
            <a:avLst>
              <a:gd name="adj" fmla="val 11111"/>
            </a:avLst>
          </a:prstGeom>
          <a:solidFill>
            <a:srgbClr val="FFFFFF"/>
          </a:solidFill>
          <a:ln w="12859">
            <a:solidFill>
              <a:schemeClr val="accent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17" name="CLI inference title">
            <a:extLst>
              <a:ext uri="{FF2B5EF4-FFF2-40B4-BE49-F238E27FC236}">
                <a16:creationId xmlns:a16="http://schemas.microsoft.com/office/drawing/2014/main" id="{2764746E-0AB5-4925-A400-B1DA6853E33B}"/>
              </a:ext>
            </a:extLst>
          </p:cNvPr>
          <p:cNvSpPr>
            <a:spLocks noGrp="1"/>
          </p:cNvSpPr>
          <p:nvPr/>
        </p:nvSpPr>
        <p:spPr>
          <a:xfrm>
            <a:off x="4743450" y="1847850"/>
            <a:ext cx="2152650" cy="59055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lang="en-DE" sz="1400" b="1" dirty="0">
                <a:solidFill>
                  <a:srgbClr val="111827"/>
                </a:solidFill>
                <a:latin typeface="Times New Roman" panose="02020603050405020304" pitchFamily="18" charset="0"/>
                <a:cs typeface="Times New Roman" panose="02020603050405020304" pitchFamily="18" charset="0"/>
              </a:rPr>
              <a:t>CLI Python Processing</a:t>
            </a:r>
          </a:p>
          <a:p>
            <a:pPr algn="ctr">
              <a:defRPr sz="1238" b="1">
                <a:solidFill>
                  <a:srgbClr val="111827"/>
                </a:solidFill>
                <a:latin typeface="Arial"/>
                <a:ea typeface="Arial"/>
                <a:cs typeface="Arial"/>
              </a:defRPr>
            </a:pPr>
            <a:r>
              <a:rPr lang="en-GB" sz="1100" dirty="0">
                <a:solidFill>
                  <a:srgbClr val="374151"/>
                </a:solidFill>
                <a:latin typeface="Times New Roman" panose="02020603050405020304" pitchFamily="18" charset="0"/>
                <a:ea typeface="Arial"/>
                <a:cs typeface="Times New Roman" panose="02020603050405020304" pitchFamily="18" charset="0"/>
              </a:rPr>
              <a:t>Prompt preparation + tokenizer</a:t>
            </a:r>
          </a:p>
          <a:p>
            <a:pPr algn="ctr">
              <a:buNone/>
              <a:defRPr sz="1238" b="1">
                <a:solidFill>
                  <a:srgbClr val="111827"/>
                </a:solidFill>
                <a:latin typeface="Arial"/>
                <a:ea typeface="Arial"/>
                <a:cs typeface="Arial"/>
              </a:defRPr>
            </a:pPr>
            <a:endParaRPr sz="1400" b="1" dirty="0">
              <a:solidFill>
                <a:srgbClr val="111827"/>
              </a:solidFill>
              <a:latin typeface="Times New Roman" panose="02020603050405020304" pitchFamily="18" charset="0"/>
              <a:ea typeface="Arial"/>
              <a:cs typeface="Times New Roman" panose="02020603050405020304" pitchFamily="18" charset="0"/>
            </a:endParaRPr>
          </a:p>
        </p:txBody>
      </p:sp>
      <p:sp>
        <p:nvSpPr>
          <p:cNvPr id="18" name="CLI inference subtitle">
            <a:extLst>
              <a:ext uri="{FF2B5EF4-FFF2-40B4-BE49-F238E27FC236}">
                <a16:creationId xmlns:a16="http://schemas.microsoft.com/office/drawing/2014/main" id="{4CEE6CEF-4188-4B81-A132-2F1865CF3C04}"/>
              </a:ext>
            </a:extLst>
          </p:cNvPr>
          <p:cNvSpPr>
            <a:spLocks noGrp="1"/>
          </p:cNvSpPr>
          <p:nvPr/>
        </p:nvSpPr>
        <p:spPr>
          <a:xfrm>
            <a:off x="0" y="0"/>
            <a:ext cx="9525" cy="9525"/>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endParaRPr>
              <a:latin typeface="Times New Roman" panose="02020603050405020304" pitchFamily="18" charset="0"/>
              <a:cs typeface="Times New Roman" panose="02020603050405020304" pitchFamily="18" charset="0"/>
            </a:endParaRPr>
          </a:p>
        </p:txBody>
      </p:sp>
      <p:sp>
        <p:nvSpPr>
          <p:cNvPr id="19" name="GUI frontend node">
            <a:extLst>
              <a:ext uri="{FF2B5EF4-FFF2-40B4-BE49-F238E27FC236}">
                <a16:creationId xmlns:a16="http://schemas.microsoft.com/office/drawing/2014/main" id="{A5BD8D8D-A2D8-4863-A2E3-F284C45FC1F0}"/>
              </a:ext>
            </a:extLst>
          </p:cNvPr>
          <p:cNvSpPr>
            <a:spLocks noGrp="1"/>
          </p:cNvSpPr>
          <p:nvPr/>
        </p:nvSpPr>
        <p:spPr>
          <a:xfrm>
            <a:off x="1666875" y="3238500"/>
            <a:ext cx="1333500" cy="609600"/>
          </a:xfrm>
          <a:prstGeom prst="roundRect">
            <a:avLst>
              <a:gd name="adj" fmla="val 10256"/>
            </a:avLst>
          </a:prstGeom>
          <a:solidFill>
            <a:srgbClr val="FFFFFF"/>
          </a:solidFill>
          <a:ln w="12859">
            <a:solidFill>
              <a:srgbClr val="008A7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20" name="GUI frontend title">
            <a:extLst>
              <a:ext uri="{FF2B5EF4-FFF2-40B4-BE49-F238E27FC236}">
                <a16:creationId xmlns:a16="http://schemas.microsoft.com/office/drawing/2014/main" id="{B8ADF63A-F3CA-4D18-823F-BA9F2453EB38}"/>
              </a:ext>
            </a:extLst>
          </p:cNvPr>
          <p:cNvSpPr>
            <a:spLocks noGrp="1"/>
          </p:cNvSpPr>
          <p:nvPr/>
        </p:nvSpPr>
        <p:spPr>
          <a:xfrm>
            <a:off x="1743075" y="3286125"/>
            <a:ext cx="1181100" cy="257175"/>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a:solidFill>
                  <a:srgbClr val="111827"/>
                </a:solidFill>
                <a:latin typeface="Times New Roman" panose="02020603050405020304" pitchFamily="18" charset="0"/>
                <a:ea typeface="Arial"/>
                <a:cs typeface="Times New Roman" panose="02020603050405020304" pitchFamily="18" charset="0"/>
              </a:rPr>
              <a:t>GUI Frontend</a:t>
            </a:r>
          </a:p>
        </p:txBody>
      </p:sp>
      <p:sp>
        <p:nvSpPr>
          <p:cNvPr id="21" name="GUI frontend subtitle">
            <a:extLst>
              <a:ext uri="{FF2B5EF4-FFF2-40B4-BE49-F238E27FC236}">
                <a16:creationId xmlns:a16="http://schemas.microsoft.com/office/drawing/2014/main" id="{F7D5A699-11A2-468B-9DE1-4A41F24F4630}"/>
              </a:ext>
            </a:extLst>
          </p:cNvPr>
          <p:cNvSpPr>
            <a:spLocks noGrp="1"/>
          </p:cNvSpPr>
          <p:nvPr/>
        </p:nvSpPr>
        <p:spPr>
          <a:xfrm>
            <a:off x="1743075" y="3543300"/>
            <a:ext cx="1181100" cy="219075"/>
          </a:xfrm>
          <a:prstGeom prst="rect">
            <a:avLst/>
          </a:prstGeom>
          <a:noFill/>
          <a:ln w="0">
            <a:noFill/>
            <a:prstDash val="solid"/>
          </a:ln>
        </p:spPr>
        <p:txBody>
          <a:bodyPr lIns="0" tIns="0" rIns="0" bIns="0" anchor="ctr">
            <a:noAutofit/>
          </a:bodyPr>
          <a:lstStyle/>
          <a:p>
            <a:pPr algn="ctr">
              <a:buNone/>
              <a:defRPr sz="1088">
                <a:solidFill>
                  <a:srgbClr val="374151"/>
                </a:solidFill>
                <a:latin typeface="Arial"/>
                <a:ea typeface="Arial"/>
                <a:cs typeface="Arial"/>
              </a:defRPr>
            </a:pPr>
            <a:r>
              <a:rPr sz="1088" dirty="0">
                <a:solidFill>
                  <a:srgbClr val="374151"/>
                </a:solidFill>
                <a:latin typeface="Times New Roman" panose="02020603050405020304" pitchFamily="18" charset="0"/>
                <a:ea typeface="Arial"/>
                <a:cs typeface="Times New Roman" panose="02020603050405020304" pitchFamily="18" charset="0"/>
              </a:rPr>
              <a:t>Vue 3 + Vite</a:t>
            </a:r>
          </a:p>
        </p:txBody>
      </p:sp>
      <p:sp>
        <p:nvSpPr>
          <p:cNvPr id="22" name="HTTP JSON node">
            <a:extLst>
              <a:ext uri="{FF2B5EF4-FFF2-40B4-BE49-F238E27FC236}">
                <a16:creationId xmlns:a16="http://schemas.microsoft.com/office/drawing/2014/main" id="{685D8B8A-64BB-4937-8D08-0B8453FA0EAC}"/>
              </a:ext>
            </a:extLst>
          </p:cNvPr>
          <p:cNvSpPr>
            <a:spLocks noGrp="1"/>
          </p:cNvSpPr>
          <p:nvPr/>
        </p:nvSpPr>
        <p:spPr>
          <a:xfrm>
            <a:off x="3190875" y="3286125"/>
            <a:ext cx="762000" cy="514350"/>
          </a:xfrm>
          <a:prstGeom prst="roundRect">
            <a:avLst>
              <a:gd name="adj" fmla="val 13333"/>
            </a:avLst>
          </a:prstGeom>
          <a:solidFill>
            <a:srgbClr val="FFFFFF"/>
          </a:solidFill>
          <a:ln w="12859">
            <a:solidFill>
              <a:srgbClr val="7B8494"/>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3" name="HTTP JSON title">
            <a:extLst>
              <a:ext uri="{FF2B5EF4-FFF2-40B4-BE49-F238E27FC236}">
                <a16:creationId xmlns:a16="http://schemas.microsoft.com/office/drawing/2014/main" id="{CE510131-9B7E-405E-847E-92C3FFD199E9}"/>
              </a:ext>
            </a:extLst>
          </p:cNvPr>
          <p:cNvSpPr>
            <a:spLocks noGrp="1"/>
          </p:cNvSpPr>
          <p:nvPr/>
        </p:nvSpPr>
        <p:spPr>
          <a:xfrm>
            <a:off x="3248025" y="3286125"/>
            <a:ext cx="647700" cy="514350"/>
          </a:xfrm>
          <a:prstGeom prst="rect">
            <a:avLst/>
          </a:prstGeom>
          <a:noFill/>
          <a:ln w="0">
            <a:noFill/>
            <a:prstDash val="solid"/>
          </a:ln>
        </p:spPr>
        <p:txBody>
          <a:bodyPr lIns="0" tIns="0" rIns="0" bIns="0" anchor="ctr">
            <a:noAutofit/>
          </a:bodyPr>
          <a:lstStyle/>
          <a:p>
            <a:pPr algn="ctr">
              <a:buNone/>
              <a:defRPr sz="1163" b="1">
                <a:solidFill>
                  <a:srgbClr val="111827"/>
                </a:solidFill>
                <a:latin typeface="Arial"/>
                <a:ea typeface="Arial"/>
                <a:cs typeface="Arial"/>
              </a:defRPr>
            </a:pPr>
            <a:r>
              <a:rPr sz="1163" b="1">
                <a:solidFill>
                  <a:srgbClr val="111827"/>
                </a:solidFill>
                <a:latin typeface="Times New Roman" panose="02020603050405020304" pitchFamily="18" charset="0"/>
                <a:ea typeface="Arial"/>
                <a:cs typeface="Times New Roman" panose="02020603050405020304" pitchFamily="18" charset="0"/>
              </a:rPr>
              <a:t>HTTP /</a:t>
            </a:r>
          </a:p>
          <a:p>
            <a:pPr algn="ctr">
              <a:buNone/>
              <a:defRPr sz="1163" b="1">
                <a:solidFill>
                  <a:srgbClr val="111827"/>
                </a:solidFill>
                <a:latin typeface="Arial"/>
                <a:ea typeface="Arial"/>
                <a:cs typeface="Arial"/>
              </a:defRPr>
            </a:pPr>
            <a:r>
              <a:rPr sz="1163" b="1">
                <a:solidFill>
                  <a:srgbClr val="111827"/>
                </a:solidFill>
                <a:latin typeface="Times New Roman" panose="02020603050405020304" pitchFamily="18" charset="0"/>
                <a:ea typeface="Arial"/>
                <a:cs typeface="Times New Roman" panose="02020603050405020304" pitchFamily="18" charset="0"/>
              </a:rPr>
              <a:t>JSON</a:t>
            </a:r>
          </a:p>
        </p:txBody>
      </p:sp>
      <p:sp>
        <p:nvSpPr>
          <p:cNvPr id="24" name="Local backend node">
            <a:extLst>
              <a:ext uri="{FF2B5EF4-FFF2-40B4-BE49-F238E27FC236}">
                <a16:creationId xmlns:a16="http://schemas.microsoft.com/office/drawing/2014/main" id="{850839D5-2C2F-485E-A028-31A3F38F0BA6}"/>
              </a:ext>
            </a:extLst>
          </p:cNvPr>
          <p:cNvSpPr>
            <a:spLocks noGrp="1"/>
          </p:cNvSpPr>
          <p:nvPr/>
        </p:nvSpPr>
        <p:spPr>
          <a:xfrm>
            <a:off x="4095750" y="3238500"/>
            <a:ext cx="1428750" cy="609600"/>
          </a:xfrm>
          <a:prstGeom prst="roundRect">
            <a:avLst>
              <a:gd name="adj" fmla="val 10256"/>
            </a:avLst>
          </a:prstGeom>
          <a:solidFill>
            <a:srgbClr val="FFFFFF"/>
          </a:solidFill>
          <a:ln w="12859">
            <a:solidFill>
              <a:srgbClr val="008A7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25" name="Local backend title">
            <a:extLst>
              <a:ext uri="{FF2B5EF4-FFF2-40B4-BE49-F238E27FC236}">
                <a16:creationId xmlns:a16="http://schemas.microsoft.com/office/drawing/2014/main" id="{25E1996B-6616-4E49-B261-B27F5A688ED4}"/>
              </a:ext>
            </a:extLst>
          </p:cNvPr>
          <p:cNvSpPr>
            <a:spLocks noGrp="1"/>
          </p:cNvSpPr>
          <p:nvPr/>
        </p:nvSpPr>
        <p:spPr>
          <a:xfrm>
            <a:off x="4191000" y="3238500"/>
            <a:ext cx="1238250" cy="609600"/>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Local Python</a:t>
            </a:r>
          </a:p>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Backend</a:t>
            </a:r>
          </a:p>
        </p:txBody>
      </p:sp>
      <p:sp>
        <p:nvSpPr>
          <p:cNvPr id="26" name="Local backend subtitle">
            <a:extLst>
              <a:ext uri="{FF2B5EF4-FFF2-40B4-BE49-F238E27FC236}">
                <a16:creationId xmlns:a16="http://schemas.microsoft.com/office/drawing/2014/main" id="{D5754FCE-9C07-46DD-B7EA-C7D364BCC11C}"/>
              </a:ext>
            </a:extLst>
          </p:cNvPr>
          <p:cNvSpPr>
            <a:spLocks noGrp="1"/>
          </p:cNvSpPr>
          <p:nvPr/>
        </p:nvSpPr>
        <p:spPr>
          <a:xfrm>
            <a:off x="0" y="0"/>
            <a:ext cx="9525" cy="9525"/>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endParaRPr>
              <a:latin typeface="Times New Roman" panose="02020603050405020304" pitchFamily="18" charset="0"/>
              <a:cs typeface="Times New Roman" panose="02020603050405020304" pitchFamily="18" charset="0"/>
            </a:endParaRPr>
          </a:p>
        </p:txBody>
      </p:sp>
      <p:sp>
        <p:nvSpPr>
          <p:cNvPr id="27" name="ChatService node">
            <a:extLst>
              <a:ext uri="{FF2B5EF4-FFF2-40B4-BE49-F238E27FC236}">
                <a16:creationId xmlns:a16="http://schemas.microsoft.com/office/drawing/2014/main" id="{D7B1927A-D40D-4F6D-A2E1-C008EEE4AB78}"/>
              </a:ext>
            </a:extLst>
          </p:cNvPr>
          <p:cNvSpPr>
            <a:spLocks noGrp="1"/>
          </p:cNvSpPr>
          <p:nvPr/>
        </p:nvSpPr>
        <p:spPr>
          <a:xfrm>
            <a:off x="5667375" y="3238500"/>
            <a:ext cx="1238250" cy="609600"/>
          </a:xfrm>
          <a:prstGeom prst="roundRect">
            <a:avLst>
              <a:gd name="adj" fmla="val 10256"/>
            </a:avLst>
          </a:prstGeom>
          <a:solidFill>
            <a:srgbClr val="FFFFFF"/>
          </a:solidFill>
          <a:ln w="12859">
            <a:solidFill>
              <a:srgbClr val="008A7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28" name="ChatService title">
            <a:extLst>
              <a:ext uri="{FF2B5EF4-FFF2-40B4-BE49-F238E27FC236}">
                <a16:creationId xmlns:a16="http://schemas.microsoft.com/office/drawing/2014/main" id="{7893043A-5A59-4908-8D7A-F7F968C9D2FE}"/>
              </a:ext>
            </a:extLst>
          </p:cNvPr>
          <p:cNvSpPr>
            <a:spLocks noGrp="1"/>
          </p:cNvSpPr>
          <p:nvPr/>
        </p:nvSpPr>
        <p:spPr>
          <a:xfrm>
            <a:off x="5743575" y="3238500"/>
            <a:ext cx="1085850" cy="6096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a:solidFill>
                  <a:srgbClr val="111827"/>
                </a:solidFill>
                <a:latin typeface="Times New Roman" panose="02020603050405020304" pitchFamily="18" charset="0"/>
                <a:ea typeface="Arial"/>
                <a:cs typeface="Times New Roman" panose="02020603050405020304" pitchFamily="18" charset="0"/>
              </a:rPr>
              <a:t>ChatService</a:t>
            </a:r>
          </a:p>
        </p:txBody>
      </p:sp>
      <p:sp>
        <p:nvSpPr>
          <p:cNvPr id="29" name="ChatService subtitle">
            <a:extLst>
              <a:ext uri="{FF2B5EF4-FFF2-40B4-BE49-F238E27FC236}">
                <a16:creationId xmlns:a16="http://schemas.microsoft.com/office/drawing/2014/main" id="{AC19EECA-A54C-4AEA-B8E7-FADDC2611E93}"/>
              </a:ext>
            </a:extLst>
          </p:cNvPr>
          <p:cNvSpPr>
            <a:spLocks noGrp="1"/>
          </p:cNvSpPr>
          <p:nvPr/>
        </p:nvSpPr>
        <p:spPr>
          <a:xfrm>
            <a:off x="0" y="0"/>
            <a:ext cx="9525" cy="9525"/>
          </a:xfrm>
          <a:prstGeom prst="rect">
            <a:avLst/>
          </a:prstGeom>
          <a:noFill/>
          <a:ln w="0">
            <a:noFill/>
            <a:prstDash val="solid"/>
          </a:ln>
        </p:spPr>
        <p:txBody>
          <a:bodyPr lIns="0" tIns="0" rIns="0" bIns="0" anchor="t">
            <a:noAutofit/>
          </a:bodyPr>
          <a:lstStyle/>
          <a:p>
            <a:pPr algn="ctr">
              <a:buNone/>
              <a:defRPr sz="1088">
                <a:solidFill>
                  <a:srgbClr val="374151"/>
                </a:solidFill>
                <a:latin typeface="Arial"/>
                <a:ea typeface="Arial"/>
                <a:cs typeface="Arial"/>
              </a:defRPr>
            </a:pPr>
            <a:endParaRPr>
              <a:latin typeface="Times New Roman" panose="02020603050405020304" pitchFamily="18" charset="0"/>
              <a:cs typeface="Times New Roman" panose="02020603050405020304" pitchFamily="18" charset="0"/>
            </a:endParaRPr>
          </a:p>
        </p:txBody>
      </p:sp>
      <p:sp>
        <p:nvSpPr>
          <p:cNvPr id="30" name="LocalLLMEngine node">
            <a:extLst>
              <a:ext uri="{FF2B5EF4-FFF2-40B4-BE49-F238E27FC236}">
                <a16:creationId xmlns:a16="http://schemas.microsoft.com/office/drawing/2014/main" id="{F5E45451-D393-453D-9FA1-0662CDB2A042}"/>
              </a:ext>
            </a:extLst>
          </p:cNvPr>
          <p:cNvSpPr>
            <a:spLocks noGrp="1"/>
          </p:cNvSpPr>
          <p:nvPr/>
        </p:nvSpPr>
        <p:spPr>
          <a:xfrm>
            <a:off x="7048500" y="3238500"/>
            <a:ext cx="1571625" cy="609600"/>
          </a:xfrm>
          <a:prstGeom prst="roundRect">
            <a:avLst>
              <a:gd name="adj" fmla="val 10256"/>
            </a:avLst>
          </a:prstGeom>
          <a:solidFill>
            <a:srgbClr val="FFFFFF"/>
          </a:solidFill>
          <a:ln w="12859">
            <a:solidFill>
              <a:srgbClr val="008A7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31" name="LocalLLMEngine title">
            <a:extLst>
              <a:ext uri="{FF2B5EF4-FFF2-40B4-BE49-F238E27FC236}">
                <a16:creationId xmlns:a16="http://schemas.microsoft.com/office/drawing/2014/main" id="{86C04F74-73CE-4835-AC1E-E77A37EB7115}"/>
              </a:ext>
            </a:extLst>
          </p:cNvPr>
          <p:cNvSpPr>
            <a:spLocks noGrp="1"/>
          </p:cNvSpPr>
          <p:nvPr/>
        </p:nvSpPr>
        <p:spPr>
          <a:xfrm>
            <a:off x="7124700" y="3238500"/>
            <a:ext cx="1419225" cy="609600"/>
          </a:xfrm>
          <a:prstGeom prst="rect">
            <a:avLst/>
          </a:prstGeom>
          <a:noFill/>
          <a:ln w="0">
            <a:noFill/>
            <a:prstDash val="solid"/>
          </a:ln>
        </p:spPr>
        <p:txBody>
          <a:bodyPr lIns="0" tIns="0" rIns="0" bIns="0" anchor="ctr">
            <a:noAutofit/>
          </a:bodyPr>
          <a:lstStyle/>
          <a:p>
            <a:pPr algn="ctr">
              <a:buNone/>
              <a:defRPr sz="1200" b="1">
                <a:solidFill>
                  <a:srgbClr val="111827"/>
                </a:solidFill>
                <a:latin typeface="Arial"/>
                <a:ea typeface="Arial"/>
                <a:cs typeface="Arial"/>
              </a:defRPr>
            </a:pPr>
            <a:r>
              <a:rPr sz="1200" b="1">
                <a:solidFill>
                  <a:srgbClr val="111827"/>
                </a:solidFill>
                <a:latin typeface="Times New Roman" panose="02020603050405020304" pitchFamily="18" charset="0"/>
                <a:ea typeface="Arial"/>
                <a:cs typeface="Times New Roman" panose="02020603050405020304" pitchFamily="18" charset="0"/>
              </a:rPr>
              <a:t>LocalLLMEngine</a:t>
            </a:r>
          </a:p>
        </p:txBody>
      </p:sp>
      <p:sp>
        <p:nvSpPr>
          <p:cNvPr id="32" name="LocalLLMEngine subtitle">
            <a:extLst>
              <a:ext uri="{FF2B5EF4-FFF2-40B4-BE49-F238E27FC236}">
                <a16:creationId xmlns:a16="http://schemas.microsoft.com/office/drawing/2014/main" id="{66B4DD58-1A95-46F3-85FE-1A8FBA7F2937}"/>
              </a:ext>
            </a:extLst>
          </p:cNvPr>
          <p:cNvSpPr>
            <a:spLocks noGrp="1"/>
          </p:cNvSpPr>
          <p:nvPr/>
        </p:nvSpPr>
        <p:spPr>
          <a:xfrm>
            <a:off x="0" y="0"/>
            <a:ext cx="9525" cy="9525"/>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endParaRPr>
              <a:latin typeface="Times New Roman" panose="02020603050405020304" pitchFamily="18" charset="0"/>
              <a:cs typeface="Times New Roman" panose="02020603050405020304" pitchFamily="18" charset="0"/>
            </a:endParaRPr>
          </a:p>
        </p:txBody>
      </p:sp>
      <p:sp>
        <p:nvSpPr>
          <p:cNvPr id="33" name="Supported models node">
            <a:extLst>
              <a:ext uri="{FF2B5EF4-FFF2-40B4-BE49-F238E27FC236}">
                <a16:creationId xmlns:a16="http://schemas.microsoft.com/office/drawing/2014/main" id="{1381574D-2710-4A70-A120-385380A12F94}"/>
              </a:ext>
            </a:extLst>
          </p:cNvPr>
          <p:cNvSpPr>
            <a:spLocks noGrp="1"/>
          </p:cNvSpPr>
          <p:nvPr/>
        </p:nvSpPr>
        <p:spPr>
          <a:xfrm>
            <a:off x="9096375" y="2095500"/>
            <a:ext cx="2524125" cy="1428750"/>
          </a:xfrm>
          <a:prstGeom prst="roundRect">
            <a:avLst>
              <a:gd name="adj" fmla="val 5333"/>
            </a:avLst>
          </a:prstGeom>
          <a:solidFill>
            <a:srgbClr val="FFFFFF"/>
          </a:solidFill>
          <a:ln w="12859">
            <a:solidFill>
              <a:schemeClr val="accent1">
                <a:lumMod val="20000"/>
                <a:lumOff val="80000"/>
              </a:schemeClr>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34" name="Supported models title">
            <a:extLst>
              <a:ext uri="{FF2B5EF4-FFF2-40B4-BE49-F238E27FC236}">
                <a16:creationId xmlns:a16="http://schemas.microsoft.com/office/drawing/2014/main" id="{0132B7B8-CD30-4F13-A5C7-6B7BD89C9B10}"/>
              </a:ext>
            </a:extLst>
          </p:cNvPr>
          <p:cNvSpPr>
            <a:spLocks noGrp="1"/>
          </p:cNvSpPr>
          <p:nvPr/>
        </p:nvSpPr>
        <p:spPr>
          <a:xfrm>
            <a:off x="9172575" y="2190750"/>
            <a:ext cx="2371725" cy="238125"/>
          </a:xfrm>
          <a:prstGeom prst="rect">
            <a:avLst/>
          </a:prstGeom>
          <a:noFill/>
          <a:ln w="0">
            <a:noFill/>
            <a:prstDash val="solid"/>
          </a:ln>
        </p:spPr>
        <p:txBody>
          <a:bodyPr lIns="0" tIns="0" rIns="0" bIns="0" anchor="ctr">
            <a:noAutofit/>
          </a:bodyPr>
          <a:lstStyle/>
          <a:p>
            <a:pPr algn="ctr">
              <a:buNone/>
              <a:defRPr sz="1313" b="1">
                <a:solidFill>
                  <a:srgbClr val="111827"/>
                </a:solidFill>
                <a:latin typeface="Arial"/>
                <a:ea typeface="Arial"/>
                <a:cs typeface="Arial"/>
              </a:defRPr>
            </a:pPr>
            <a:r>
              <a:rPr sz="1313" b="1">
                <a:solidFill>
                  <a:srgbClr val="111827"/>
                </a:solidFill>
                <a:latin typeface="Times New Roman" panose="02020603050405020304" pitchFamily="18" charset="0"/>
                <a:ea typeface="Arial"/>
                <a:cs typeface="Times New Roman" panose="02020603050405020304" pitchFamily="18" charset="0"/>
              </a:rPr>
              <a:t>Supported Models</a:t>
            </a:r>
          </a:p>
        </p:txBody>
      </p:sp>
      <p:sp>
        <p:nvSpPr>
          <p:cNvPr id="35" name="Supported models subtitle">
            <a:extLst>
              <a:ext uri="{FF2B5EF4-FFF2-40B4-BE49-F238E27FC236}">
                <a16:creationId xmlns:a16="http://schemas.microsoft.com/office/drawing/2014/main" id="{1700A819-5B65-4FC0-B0F6-5451A358DA9B}"/>
              </a:ext>
            </a:extLst>
          </p:cNvPr>
          <p:cNvSpPr>
            <a:spLocks noGrp="1"/>
          </p:cNvSpPr>
          <p:nvPr/>
        </p:nvSpPr>
        <p:spPr>
          <a:xfrm>
            <a:off x="9172575" y="2476500"/>
            <a:ext cx="2371725" cy="933450"/>
          </a:xfrm>
          <a:prstGeom prst="rect">
            <a:avLst/>
          </a:prstGeom>
          <a:noFill/>
          <a:ln w="0">
            <a:noFill/>
            <a:prstDash val="solid"/>
          </a:ln>
        </p:spPr>
        <p:txBody>
          <a:bodyPr lIns="0" tIns="0" rIns="0" bIns="0" anchor="t">
            <a:noAutofit/>
          </a:bodyPr>
          <a:lstStyle/>
          <a:p>
            <a:pPr algn="ctr">
              <a:buNone/>
              <a:defRPr sz="1088">
                <a:solidFill>
                  <a:srgbClr val="374151"/>
                </a:solidFill>
                <a:latin typeface="Arial"/>
                <a:ea typeface="Arial"/>
                <a:cs typeface="Arial"/>
              </a:defRPr>
            </a:pPr>
            <a:r>
              <a:rPr sz="1088">
                <a:solidFill>
                  <a:srgbClr val="374151"/>
                </a:solidFill>
                <a:latin typeface="Times New Roman" panose="02020603050405020304" pitchFamily="18" charset="0"/>
                <a:ea typeface="Arial"/>
                <a:cs typeface="Times New Roman" panose="02020603050405020304" pitchFamily="18" charset="0"/>
              </a:rPr>
              <a:t>Llama-3.2-1B-Instruct</a:t>
            </a:r>
          </a:p>
          <a:p>
            <a:pPr algn="ctr">
              <a:buNone/>
              <a:defRPr sz="1088">
                <a:solidFill>
                  <a:srgbClr val="374151"/>
                </a:solidFill>
                <a:latin typeface="Arial"/>
                <a:ea typeface="Arial"/>
                <a:cs typeface="Arial"/>
              </a:defRPr>
            </a:pPr>
            <a:r>
              <a:rPr sz="1088">
                <a:solidFill>
                  <a:srgbClr val="374151"/>
                </a:solidFill>
                <a:latin typeface="Times New Roman" panose="02020603050405020304" pitchFamily="18" charset="0"/>
                <a:ea typeface="Arial"/>
                <a:cs typeface="Times New Roman" panose="02020603050405020304" pitchFamily="18" charset="0"/>
              </a:rPr>
              <a:t>Qwen1.5-0.5B-Chat</a:t>
            </a:r>
          </a:p>
          <a:p>
            <a:pPr algn="ctr">
              <a:buNone/>
              <a:defRPr sz="1088">
                <a:solidFill>
                  <a:srgbClr val="374151"/>
                </a:solidFill>
                <a:latin typeface="Arial"/>
                <a:ea typeface="Arial"/>
                <a:cs typeface="Arial"/>
              </a:defRPr>
            </a:pPr>
            <a:r>
              <a:rPr sz="1088">
                <a:solidFill>
                  <a:srgbClr val="374151"/>
                </a:solidFill>
                <a:latin typeface="Times New Roman" panose="02020603050405020304" pitchFamily="18" charset="0"/>
                <a:ea typeface="Arial"/>
                <a:cs typeface="Times New Roman" panose="02020603050405020304" pitchFamily="18" charset="0"/>
              </a:rPr>
              <a:t>One active model at a time</a:t>
            </a:r>
          </a:p>
        </p:txBody>
      </p:sp>
      <p:sp>
        <p:nvSpPr>
          <p:cNvPr id="36" name="Conversation history node">
            <a:extLst>
              <a:ext uri="{FF2B5EF4-FFF2-40B4-BE49-F238E27FC236}">
                <a16:creationId xmlns:a16="http://schemas.microsoft.com/office/drawing/2014/main" id="{986A0909-E97E-47B6-A944-647CB140955A}"/>
              </a:ext>
            </a:extLst>
          </p:cNvPr>
          <p:cNvSpPr>
            <a:spLocks noGrp="1"/>
          </p:cNvSpPr>
          <p:nvPr/>
        </p:nvSpPr>
        <p:spPr>
          <a:xfrm>
            <a:off x="5381625" y="4191000"/>
            <a:ext cx="1428750" cy="552450"/>
          </a:xfrm>
          <a:prstGeom prst="roundRect">
            <a:avLst>
              <a:gd name="adj" fmla="val 11429"/>
            </a:avLst>
          </a:prstGeom>
          <a:solidFill>
            <a:srgbClr val="FFFFFF"/>
          </a:solidFill>
          <a:ln w="12859">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7" name="Conversation history title">
            <a:extLst>
              <a:ext uri="{FF2B5EF4-FFF2-40B4-BE49-F238E27FC236}">
                <a16:creationId xmlns:a16="http://schemas.microsoft.com/office/drawing/2014/main" id="{09B3E626-70BB-4322-A8B9-816B0292A81B}"/>
              </a:ext>
            </a:extLst>
          </p:cNvPr>
          <p:cNvSpPr>
            <a:spLocks noGrp="1"/>
          </p:cNvSpPr>
          <p:nvPr/>
        </p:nvSpPr>
        <p:spPr>
          <a:xfrm>
            <a:off x="5457825" y="4191000"/>
            <a:ext cx="1276350" cy="552450"/>
          </a:xfrm>
          <a:prstGeom prst="rect">
            <a:avLst/>
          </a:prstGeom>
          <a:noFill/>
          <a:ln w="0">
            <a:noFill/>
            <a:prstDash val="solid"/>
          </a:ln>
        </p:spPr>
        <p:txBody>
          <a:bodyPr lIns="0" tIns="0" rIns="0" bIns="0" anchor="ctr">
            <a:noAutofit/>
          </a:bodyPr>
          <a:lstStyle/>
          <a:p>
            <a:pPr algn="ctr">
              <a:buNone/>
              <a:defRPr sz="1163" b="1">
                <a:solidFill>
                  <a:srgbClr val="111827"/>
                </a:solidFill>
                <a:latin typeface="Arial"/>
                <a:ea typeface="Arial"/>
                <a:cs typeface="Arial"/>
              </a:defRPr>
            </a:pPr>
            <a:r>
              <a:rPr sz="1163" b="1">
                <a:solidFill>
                  <a:srgbClr val="111827"/>
                </a:solidFill>
                <a:latin typeface="Times New Roman" panose="02020603050405020304" pitchFamily="18" charset="0"/>
                <a:ea typeface="Arial"/>
                <a:cs typeface="Times New Roman" panose="02020603050405020304" pitchFamily="18" charset="0"/>
              </a:rPr>
              <a:t>Conversation</a:t>
            </a:r>
          </a:p>
          <a:p>
            <a:pPr algn="ctr">
              <a:buNone/>
              <a:defRPr sz="1163" b="1">
                <a:solidFill>
                  <a:srgbClr val="111827"/>
                </a:solidFill>
                <a:latin typeface="Arial"/>
                <a:ea typeface="Arial"/>
                <a:cs typeface="Arial"/>
              </a:defRPr>
            </a:pPr>
            <a:r>
              <a:rPr sz="1163" b="1">
                <a:solidFill>
                  <a:srgbClr val="111827"/>
                </a:solidFill>
                <a:latin typeface="Times New Roman" panose="02020603050405020304" pitchFamily="18" charset="0"/>
                <a:ea typeface="Arial"/>
                <a:cs typeface="Times New Roman" panose="02020603050405020304" pitchFamily="18" charset="0"/>
              </a:rPr>
              <a:t>History</a:t>
            </a:r>
          </a:p>
        </p:txBody>
      </p:sp>
      <p:sp>
        <p:nvSpPr>
          <p:cNvPr id="38" name="Generation settings node">
            <a:extLst>
              <a:ext uri="{FF2B5EF4-FFF2-40B4-BE49-F238E27FC236}">
                <a16:creationId xmlns:a16="http://schemas.microsoft.com/office/drawing/2014/main" id="{5F7BB407-CF9A-4CA3-B929-29D4BFDDBE2D}"/>
              </a:ext>
            </a:extLst>
          </p:cNvPr>
          <p:cNvSpPr>
            <a:spLocks noGrp="1"/>
          </p:cNvSpPr>
          <p:nvPr/>
        </p:nvSpPr>
        <p:spPr>
          <a:xfrm>
            <a:off x="7000875" y="4114800"/>
            <a:ext cx="1714500" cy="742950"/>
          </a:xfrm>
          <a:prstGeom prst="roundRect">
            <a:avLst>
              <a:gd name="adj" fmla="val 8000"/>
            </a:avLst>
          </a:prstGeom>
          <a:solidFill>
            <a:srgbClr val="FFFFFF"/>
          </a:solidFill>
          <a:ln w="12859">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9" name="Generation settings title">
            <a:extLst>
              <a:ext uri="{FF2B5EF4-FFF2-40B4-BE49-F238E27FC236}">
                <a16:creationId xmlns:a16="http://schemas.microsoft.com/office/drawing/2014/main" id="{D6398213-91D3-44E0-80F1-BDBF0B9AFA2D}"/>
              </a:ext>
            </a:extLst>
          </p:cNvPr>
          <p:cNvSpPr>
            <a:spLocks noGrp="1"/>
          </p:cNvSpPr>
          <p:nvPr/>
        </p:nvSpPr>
        <p:spPr>
          <a:xfrm>
            <a:off x="7077075" y="4181475"/>
            <a:ext cx="1562100" cy="228600"/>
          </a:xfrm>
          <a:prstGeom prst="rect">
            <a:avLst/>
          </a:prstGeom>
          <a:noFill/>
          <a:ln w="0">
            <a:noFill/>
            <a:prstDash val="solid"/>
          </a:ln>
        </p:spPr>
        <p:txBody>
          <a:bodyPr lIns="0" tIns="0" rIns="0" bIns="0" anchor="ctr">
            <a:noAutofit/>
          </a:bodyPr>
          <a:lstStyle/>
          <a:p>
            <a:pPr algn="ctr">
              <a:buNone/>
              <a:defRPr sz="1088" b="1">
                <a:solidFill>
                  <a:srgbClr val="111827"/>
                </a:solidFill>
                <a:latin typeface="Arial"/>
                <a:ea typeface="Arial"/>
                <a:cs typeface="Arial"/>
              </a:defRPr>
            </a:pPr>
            <a:r>
              <a:rPr sz="1088" b="1">
                <a:solidFill>
                  <a:srgbClr val="111827"/>
                </a:solidFill>
                <a:latin typeface="Times New Roman" panose="02020603050405020304" pitchFamily="18" charset="0"/>
                <a:ea typeface="Arial"/>
                <a:cs typeface="Times New Roman" panose="02020603050405020304" pitchFamily="18" charset="0"/>
              </a:rPr>
              <a:t>Generation Settings</a:t>
            </a:r>
          </a:p>
        </p:txBody>
      </p:sp>
      <p:sp>
        <p:nvSpPr>
          <p:cNvPr id="40" name="Generation settings subtitle">
            <a:extLst>
              <a:ext uri="{FF2B5EF4-FFF2-40B4-BE49-F238E27FC236}">
                <a16:creationId xmlns:a16="http://schemas.microsoft.com/office/drawing/2014/main" id="{B00A5972-F6C4-4C9F-93B5-881B5E1861A6}"/>
              </a:ext>
            </a:extLst>
          </p:cNvPr>
          <p:cNvSpPr>
            <a:spLocks noGrp="1"/>
          </p:cNvSpPr>
          <p:nvPr/>
        </p:nvSpPr>
        <p:spPr>
          <a:xfrm>
            <a:off x="7077075" y="4438650"/>
            <a:ext cx="1562100" cy="361950"/>
          </a:xfrm>
          <a:prstGeom prst="rect">
            <a:avLst/>
          </a:prstGeom>
          <a:noFill/>
          <a:ln w="0">
            <a:noFill/>
            <a:prstDash val="solid"/>
          </a:ln>
        </p:spPr>
        <p:txBody>
          <a:bodyPr lIns="0" tIns="0" rIns="0" bIns="0" anchor="ctr">
            <a:noAutofit/>
          </a:bodyPr>
          <a:lstStyle/>
          <a:p>
            <a:pPr algn="ctr">
              <a:buNone/>
              <a:defRPr sz="1013">
                <a:solidFill>
                  <a:srgbClr val="374151"/>
                </a:solidFill>
                <a:latin typeface="Arial"/>
                <a:ea typeface="Arial"/>
                <a:cs typeface="Arial"/>
              </a:defRPr>
            </a:pPr>
            <a:r>
              <a:rPr sz="1013">
                <a:solidFill>
                  <a:srgbClr val="374151"/>
                </a:solidFill>
                <a:latin typeface="Times New Roman" panose="02020603050405020304" pitchFamily="18" charset="0"/>
                <a:ea typeface="Arial"/>
                <a:cs typeface="Times New Roman" panose="02020603050405020304" pitchFamily="18" charset="0"/>
              </a:rPr>
              <a:t>max output tokens</a:t>
            </a:r>
          </a:p>
          <a:p>
            <a:pPr algn="ctr">
              <a:buNone/>
              <a:defRPr sz="1013">
                <a:solidFill>
                  <a:srgbClr val="374151"/>
                </a:solidFill>
                <a:latin typeface="Arial"/>
                <a:ea typeface="Arial"/>
                <a:cs typeface="Arial"/>
              </a:defRPr>
            </a:pPr>
            <a:r>
              <a:rPr sz="1013">
                <a:solidFill>
                  <a:srgbClr val="374151"/>
                </a:solidFill>
                <a:latin typeface="Times New Roman" panose="02020603050405020304" pitchFamily="18" charset="0"/>
                <a:ea typeface="Arial"/>
                <a:cs typeface="Times New Roman" panose="02020603050405020304" pitchFamily="18" charset="0"/>
              </a:rPr>
              <a:t>temperature · top-p · seed</a:t>
            </a:r>
          </a:p>
        </p:txBody>
      </p:sp>
      <p:sp>
        <p:nvSpPr>
          <p:cNvPr id="41" name="Runtime stack node">
            <a:extLst>
              <a:ext uri="{FF2B5EF4-FFF2-40B4-BE49-F238E27FC236}">
                <a16:creationId xmlns:a16="http://schemas.microsoft.com/office/drawing/2014/main" id="{6E837FB7-BAC0-40DF-8654-64EEDEFEDC76}"/>
              </a:ext>
            </a:extLst>
          </p:cNvPr>
          <p:cNvSpPr>
            <a:spLocks noGrp="1"/>
          </p:cNvSpPr>
          <p:nvPr/>
        </p:nvSpPr>
        <p:spPr>
          <a:xfrm>
            <a:off x="9239250" y="3714750"/>
            <a:ext cx="2238375" cy="571500"/>
          </a:xfrm>
          <a:prstGeom prst="roundRect">
            <a:avLst>
              <a:gd name="adj" fmla="val 11940"/>
            </a:avLst>
          </a:prstGeom>
          <a:solidFill>
            <a:srgbClr val="FFFFFF"/>
          </a:solidFill>
          <a:ln w="12859">
            <a:solidFill>
              <a:schemeClr val="accent1">
                <a:lumMod val="40000"/>
                <a:lumOff val="60000"/>
              </a:schemeClr>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42" name="Runtime stack title">
            <a:extLst>
              <a:ext uri="{FF2B5EF4-FFF2-40B4-BE49-F238E27FC236}">
                <a16:creationId xmlns:a16="http://schemas.microsoft.com/office/drawing/2014/main" id="{87E48964-3DED-4621-99F7-4BE5BB713079}"/>
              </a:ext>
            </a:extLst>
          </p:cNvPr>
          <p:cNvSpPr>
            <a:spLocks noGrp="1"/>
          </p:cNvSpPr>
          <p:nvPr/>
        </p:nvSpPr>
        <p:spPr>
          <a:xfrm>
            <a:off x="9353550" y="3714750"/>
            <a:ext cx="2009775" cy="5715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dirty="0" err="1">
                <a:solidFill>
                  <a:srgbClr val="111827"/>
                </a:solidFill>
                <a:latin typeface="Times New Roman" panose="02020603050405020304" pitchFamily="18" charset="0"/>
                <a:ea typeface="Arial"/>
                <a:cs typeface="Times New Roman" panose="02020603050405020304" pitchFamily="18" charset="0"/>
              </a:rPr>
              <a:t>PyTorch</a:t>
            </a:r>
            <a:r>
              <a:rPr sz="1238" b="1" dirty="0">
                <a:solidFill>
                  <a:srgbClr val="111827"/>
                </a:solidFill>
                <a:latin typeface="Times New Roman" panose="02020603050405020304" pitchFamily="18" charset="0"/>
                <a:ea typeface="Arial"/>
                <a:cs typeface="Times New Roman" panose="02020603050405020304" pitchFamily="18" charset="0"/>
              </a:rPr>
              <a:t> + </a:t>
            </a:r>
            <a:r>
              <a:rPr lang="en-DE" sz="1238" b="1" dirty="0">
                <a:solidFill>
                  <a:srgbClr val="111827"/>
                </a:solidFill>
                <a:latin typeface="Times New Roman" panose="02020603050405020304" pitchFamily="18" charset="0"/>
                <a:cs typeface="Times New Roman" panose="02020603050405020304" pitchFamily="18" charset="0"/>
              </a:rPr>
              <a:t>Hugging Face </a:t>
            </a:r>
            <a:r>
              <a:rPr sz="1238" b="1" dirty="0">
                <a:solidFill>
                  <a:srgbClr val="111827"/>
                </a:solidFill>
                <a:latin typeface="Times New Roman" panose="02020603050405020304" pitchFamily="18" charset="0"/>
                <a:ea typeface="Arial"/>
                <a:cs typeface="Times New Roman" panose="02020603050405020304" pitchFamily="18" charset="0"/>
              </a:rPr>
              <a:t>Transformers</a:t>
            </a:r>
          </a:p>
        </p:txBody>
      </p:sp>
      <p:sp>
        <p:nvSpPr>
          <p:cNvPr id="43" name="Hardware node">
            <a:extLst>
              <a:ext uri="{FF2B5EF4-FFF2-40B4-BE49-F238E27FC236}">
                <a16:creationId xmlns:a16="http://schemas.microsoft.com/office/drawing/2014/main" id="{14DBADC7-69A7-4208-83C8-9F2D43334156}"/>
              </a:ext>
            </a:extLst>
          </p:cNvPr>
          <p:cNvSpPr>
            <a:spLocks noGrp="1"/>
          </p:cNvSpPr>
          <p:nvPr/>
        </p:nvSpPr>
        <p:spPr>
          <a:xfrm>
            <a:off x="9239250" y="4476750"/>
            <a:ext cx="2238375" cy="571500"/>
          </a:xfrm>
          <a:prstGeom prst="roundRect">
            <a:avLst>
              <a:gd name="adj" fmla="val 12903"/>
            </a:avLst>
          </a:prstGeom>
          <a:solidFill>
            <a:srgbClr val="FFF7ED"/>
          </a:solidFill>
          <a:ln w="12859">
            <a:solidFill>
              <a:srgbClr val="D97706"/>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44" name="Hardware title">
            <a:extLst>
              <a:ext uri="{FF2B5EF4-FFF2-40B4-BE49-F238E27FC236}">
                <a16:creationId xmlns:a16="http://schemas.microsoft.com/office/drawing/2014/main" id="{C55DF12F-7A3A-43E4-A39E-B3D2A08208B3}"/>
              </a:ext>
            </a:extLst>
          </p:cNvPr>
          <p:cNvSpPr>
            <a:spLocks noGrp="1"/>
          </p:cNvSpPr>
          <p:nvPr/>
        </p:nvSpPr>
        <p:spPr>
          <a:xfrm>
            <a:off x="9353550" y="4543425"/>
            <a:ext cx="2009775" cy="238125"/>
          </a:xfrm>
          <a:prstGeom prst="rect">
            <a:avLst/>
          </a:prstGeom>
          <a:noFill/>
          <a:ln w="0">
            <a:noFill/>
            <a:prstDash val="solid"/>
          </a:ln>
        </p:spPr>
        <p:txBody>
          <a:bodyPr lIns="0" tIns="0" rIns="0" bIns="0" anchor="ctr">
            <a:noAutofit/>
          </a:bodyPr>
          <a:lstStyle/>
          <a:p>
            <a:pPr algn="ctr">
              <a:buNone/>
              <a:defRPr sz="1275" b="1">
                <a:solidFill>
                  <a:srgbClr val="111827"/>
                </a:solidFill>
                <a:latin typeface="Arial"/>
                <a:ea typeface="Arial"/>
                <a:cs typeface="Arial"/>
              </a:defRPr>
            </a:pPr>
            <a:r>
              <a:rPr sz="1275" b="1">
                <a:solidFill>
                  <a:srgbClr val="111827"/>
                </a:solidFill>
                <a:latin typeface="Times New Roman" panose="02020603050405020304" pitchFamily="18" charset="0"/>
                <a:ea typeface="Arial"/>
                <a:cs typeface="Times New Roman" panose="02020603050405020304" pitchFamily="18" charset="0"/>
              </a:rPr>
              <a:t>Apple M1 / MPS</a:t>
            </a:r>
          </a:p>
        </p:txBody>
      </p:sp>
      <p:sp>
        <p:nvSpPr>
          <p:cNvPr id="45" name="Hardware subtitle">
            <a:extLst>
              <a:ext uri="{FF2B5EF4-FFF2-40B4-BE49-F238E27FC236}">
                <a16:creationId xmlns:a16="http://schemas.microsoft.com/office/drawing/2014/main" id="{269660C2-FC65-4E15-8AF9-24D9667898F7}"/>
              </a:ext>
            </a:extLst>
          </p:cNvPr>
          <p:cNvSpPr>
            <a:spLocks noGrp="1"/>
          </p:cNvSpPr>
          <p:nvPr/>
        </p:nvSpPr>
        <p:spPr>
          <a:xfrm>
            <a:off x="9353550" y="4800600"/>
            <a:ext cx="2009775" cy="171450"/>
          </a:xfrm>
          <a:prstGeom prst="rect">
            <a:avLst/>
          </a:prstGeom>
          <a:noFill/>
          <a:ln w="0">
            <a:noFill/>
            <a:prstDash val="solid"/>
          </a:ln>
        </p:spPr>
        <p:txBody>
          <a:bodyPr lIns="0" tIns="0" rIns="0" bIns="0" anchor="ctr">
            <a:noAutofit/>
          </a:bodyPr>
          <a:lstStyle/>
          <a:p>
            <a:pPr algn="ctr">
              <a:buNone/>
              <a:defRPr sz="975">
                <a:solidFill>
                  <a:srgbClr val="374151"/>
                </a:solidFill>
                <a:latin typeface="Arial"/>
                <a:ea typeface="Arial"/>
                <a:cs typeface="Arial"/>
              </a:defRPr>
            </a:pPr>
            <a:r>
              <a:rPr sz="1200" dirty="0">
                <a:solidFill>
                  <a:schemeClr val="tx1">
                    <a:lumMod val="95000"/>
                    <a:lumOff val="5000"/>
                  </a:schemeClr>
                </a:solidFill>
                <a:latin typeface="Times New Roman" panose="02020603050405020304" pitchFamily="18" charset="0"/>
                <a:ea typeface="Arial"/>
                <a:cs typeface="Times New Roman" panose="02020603050405020304" pitchFamily="18" charset="0"/>
              </a:rPr>
              <a:t>tested execution environment</a:t>
            </a:r>
          </a:p>
        </p:txBody>
      </p:sp>
      <p:sp>
        <p:nvSpPr>
          <p:cNvPr id="46" name="Generated response node">
            <a:extLst>
              <a:ext uri="{FF2B5EF4-FFF2-40B4-BE49-F238E27FC236}">
                <a16:creationId xmlns:a16="http://schemas.microsoft.com/office/drawing/2014/main" id="{3741AA32-3D8A-4391-9115-EC15C790D975}"/>
              </a:ext>
            </a:extLst>
          </p:cNvPr>
          <p:cNvSpPr>
            <a:spLocks noGrp="1"/>
          </p:cNvSpPr>
          <p:nvPr/>
        </p:nvSpPr>
        <p:spPr>
          <a:xfrm>
            <a:off x="9239250" y="5238750"/>
            <a:ext cx="2238375" cy="552450"/>
          </a:xfrm>
          <a:prstGeom prst="roundRect">
            <a:avLst>
              <a:gd name="adj" fmla="val 14286"/>
            </a:avLst>
          </a:prstGeom>
          <a:solidFill>
            <a:srgbClr val="FFFFFF"/>
          </a:solidFill>
          <a:ln w="12859">
            <a:solidFill>
              <a:schemeClr val="accent1">
                <a:lumMod val="40000"/>
                <a:lumOff val="60000"/>
              </a:schemeClr>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47" name="Generated response title">
            <a:extLst>
              <a:ext uri="{FF2B5EF4-FFF2-40B4-BE49-F238E27FC236}">
                <a16:creationId xmlns:a16="http://schemas.microsoft.com/office/drawing/2014/main" id="{191B703B-F22C-4273-9D64-7A2725BAA48D}"/>
              </a:ext>
            </a:extLst>
          </p:cNvPr>
          <p:cNvSpPr>
            <a:spLocks noGrp="1"/>
          </p:cNvSpPr>
          <p:nvPr/>
        </p:nvSpPr>
        <p:spPr>
          <a:xfrm>
            <a:off x="9353550" y="5238750"/>
            <a:ext cx="2009775" cy="552450"/>
          </a:xfrm>
          <a:prstGeom prst="rect">
            <a:avLst/>
          </a:prstGeom>
          <a:noFill/>
          <a:ln w="0">
            <a:noFill/>
            <a:prstDash val="solid"/>
          </a:ln>
        </p:spPr>
        <p:txBody>
          <a:bodyPr lIns="0" tIns="0" rIns="0" bIns="0" anchor="ctr">
            <a:noAutofit/>
          </a:bodyPr>
          <a:lstStyle/>
          <a:p>
            <a:pPr algn="ctr">
              <a:buNone/>
              <a:defRPr sz="1275" b="1">
                <a:solidFill>
                  <a:srgbClr val="111827"/>
                </a:solidFill>
                <a:latin typeface="Arial"/>
                <a:ea typeface="Arial"/>
                <a:cs typeface="Arial"/>
              </a:defRPr>
            </a:pPr>
            <a:r>
              <a:rPr sz="1275" b="1">
                <a:solidFill>
                  <a:srgbClr val="111827"/>
                </a:solidFill>
                <a:latin typeface="Times New Roman" panose="02020603050405020304" pitchFamily="18" charset="0"/>
                <a:ea typeface="Arial"/>
                <a:cs typeface="Times New Roman" panose="02020603050405020304" pitchFamily="18" charset="0"/>
              </a:rPr>
              <a:t>Generated Response</a:t>
            </a:r>
          </a:p>
        </p:txBody>
      </p:sp>
      <p:cxnSp>
        <p:nvCxnSpPr>
          <p:cNvPr id="1157" name="Elbow Connector 1156"/>
          <p:cNvCxnSpPr>
            <a:stCxn id="11" idx="0"/>
            <a:endCxn id="13" idx="1"/>
          </p:cNvCxnSpPr>
          <p:nvPr/>
        </p:nvCxnSpPr>
        <p:spPr>
          <a:xfrm rot="5400000" flipH="1" flipV="1">
            <a:off x="704850" y="2057400"/>
            <a:ext cx="1047750" cy="1066800"/>
          </a:xfrm>
          <a:prstGeom prst="bentConnector2">
            <a:avLst/>
          </a:prstGeom>
          <a:ln w="24765">
            <a:solidFill>
              <a:schemeClr val="accent2"/>
            </a:solidFill>
            <a:prstDash val="solid"/>
            <a:tailEnd type="arrow" w="med" len="med"/>
          </a:ln>
        </p:spPr>
      </p:cxnSp>
      <p:cxnSp>
        <p:nvCxnSpPr>
          <p:cNvPr id="1158" name="Straight Arrow Connector 1157"/>
          <p:cNvCxnSpPr>
            <a:cxnSpLocks/>
            <a:stCxn id="11" idx="6"/>
            <a:endCxn id="19" idx="1"/>
          </p:cNvCxnSpPr>
          <p:nvPr/>
        </p:nvCxnSpPr>
        <p:spPr>
          <a:xfrm>
            <a:off x="1123950" y="3543300"/>
            <a:ext cx="542925" cy="0"/>
          </a:xfrm>
          <a:prstGeom prst="straightConnector1">
            <a:avLst/>
          </a:prstGeom>
          <a:ln w="24765">
            <a:solidFill>
              <a:srgbClr val="008A72"/>
            </a:solidFill>
            <a:prstDash val="solid"/>
            <a:tailEnd type="arrow" w="med" len="med"/>
          </a:ln>
        </p:spPr>
      </p:cxnSp>
      <p:cxnSp>
        <p:nvCxnSpPr>
          <p:cNvPr id="1159" name="Straight Arrow Connector 1158"/>
          <p:cNvCxnSpPr>
            <a:stCxn id="13" idx="3"/>
            <a:endCxn id="16" idx="1"/>
          </p:cNvCxnSpPr>
          <p:nvPr/>
        </p:nvCxnSpPr>
        <p:spPr>
          <a:xfrm>
            <a:off x="3571875" y="2066925"/>
            <a:ext cx="1095375" cy="0"/>
          </a:xfrm>
          <a:prstGeom prst="straightConnector1">
            <a:avLst/>
          </a:prstGeom>
          <a:ln w="24765">
            <a:solidFill>
              <a:schemeClr val="accent2"/>
            </a:solidFill>
            <a:prstDash val="solid"/>
            <a:tailEnd type="arrow" w="med" len="med"/>
          </a:ln>
        </p:spPr>
      </p:cxnSp>
      <p:cxnSp>
        <p:nvCxnSpPr>
          <p:cNvPr id="1160" name="Straight Arrow Connector 1159"/>
          <p:cNvCxnSpPr>
            <a:cxnSpLocks/>
            <a:stCxn id="16" idx="3"/>
          </p:cNvCxnSpPr>
          <p:nvPr/>
        </p:nvCxnSpPr>
        <p:spPr>
          <a:xfrm>
            <a:off x="7048500" y="2066925"/>
            <a:ext cx="2047875" cy="194691"/>
          </a:xfrm>
          <a:prstGeom prst="straightConnector1">
            <a:avLst/>
          </a:prstGeom>
          <a:ln w="24765">
            <a:solidFill>
              <a:schemeClr val="accent2"/>
            </a:solidFill>
            <a:prstDash val="solid"/>
            <a:tailEnd type="arrow" w="med" len="med"/>
          </a:ln>
        </p:spPr>
      </p:cxnSp>
      <p:cxnSp>
        <p:nvCxnSpPr>
          <p:cNvPr id="1161" name="Straight Arrow Connector 1160"/>
          <p:cNvCxnSpPr>
            <a:stCxn id="19" idx="3"/>
            <a:endCxn id="22" idx="1"/>
          </p:cNvCxnSpPr>
          <p:nvPr/>
        </p:nvCxnSpPr>
        <p:spPr>
          <a:xfrm>
            <a:off x="3000375" y="3543300"/>
            <a:ext cx="190500" cy="0"/>
          </a:xfrm>
          <a:prstGeom prst="straightConnector1">
            <a:avLst/>
          </a:prstGeom>
          <a:ln w="24765">
            <a:solidFill>
              <a:srgbClr val="008A72"/>
            </a:solidFill>
            <a:prstDash val="solid"/>
            <a:tailEnd type="arrow" w="med" len="med"/>
          </a:ln>
        </p:spPr>
      </p:cxnSp>
      <p:cxnSp>
        <p:nvCxnSpPr>
          <p:cNvPr id="1162" name="Straight Arrow Connector 1161"/>
          <p:cNvCxnSpPr>
            <a:stCxn id="22" idx="3"/>
            <a:endCxn id="24" idx="1"/>
          </p:cNvCxnSpPr>
          <p:nvPr/>
        </p:nvCxnSpPr>
        <p:spPr>
          <a:xfrm>
            <a:off x="3952875" y="3543300"/>
            <a:ext cx="142875" cy="0"/>
          </a:xfrm>
          <a:prstGeom prst="straightConnector1">
            <a:avLst/>
          </a:prstGeom>
          <a:ln w="24765">
            <a:solidFill>
              <a:srgbClr val="008A72"/>
            </a:solidFill>
            <a:prstDash val="solid"/>
            <a:tailEnd type="arrow" w="med" len="med"/>
          </a:ln>
        </p:spPr>
      </p:cxnSp>
      <p:cxnSp>
        <p:nvCxnSpPr>
          <p:cNvPr id="1163" name="Straight Arrow Connector 1162"/>
          <p:cNvCxnSpPr>
            <a:stCxn id="24" idx="3"/>
            <a:endCxn id="27" idx="1"/>
          </p:cNvCxnSpPr>
          <p:nvPr/>
        </p:nvCxnSpPr>
        <p:spPr>
          <a:xfrm>
            <a:off x="5524500" y="3543300"/>
            <a:ext cx="142875" cy="0"/>
          </a:xfrm>
          <a:prstGeom prst="straightConnector1">
            <a:avLst/>
          </a:prstGeom>
          <a:ln w="24765">
            <a:solidFill>
              <a:srgbClr val="008A72"/>
            </a:solidFill>
            <a:prstDash val="solid"/>
            <a:tailEnd type="arrow" w="med" len="med"/>
          </a:ln>
        </p:spPr>
      </p:cxnSp>
      <p:cxnSp>
        <p:nvCxnSpPr>
          <p:cNvPr id="1164" name="Straight Arrow Connector 1163"/>
          <p:cNvCxnSpPr>
            <a:stCxn id="27" idx="3"/>
            <a:endCxn id="30" idx="1"/>
          </p:cNvCxnSpPr>
          <p:nvPr/>
        </p:nvCxnSpPr>
        <p:spPr>
          <a:xfrm>
            <a:off x="6905625" y="3543300"/>
            <a:ext cx="142875" cy="0"/>
          </a:xfrm>
          <a:prstGeom prst="straightConnector1">
            <a:avLst/>
          </a:prstGeom>
          <a:ln w="24765">
            <a:solidFill>
              <a:srgbClr val="008A72"/>
            </a:solidFill>
            <a:prstDash val="solid"/>
            <a:tailEnd type="arrow" w="med" len="med"/>
          </a:ln>
        </p:spPr>
      </p:cxnSp>
      <p:cxnSp>
        <p:nvCxnSpPr>
          <p:cNvPr id="1165" name="Elbow Connector 1164"/>
          <p:cNvCxnSpPr>
            <a:stCxn id="30" idx="3"/>
            <a:endCxn id="33" idx="1"/>
          </p:cNvCxnSpPr>
          <p:nvPr/>
        </p:nvCxnSpPr>
        <p:spPr>
          <a:xfrm flipV="1">
            <a:off x="8620125" y="2809875"/>
            <a:ext cx="476250" cy="733425"/>
          </a:xfrm>
          <a:prstGeom prst="bentConnector3">
            <a:avLst>
              <a:gd name="adj1" fmla="val 50000"/>
            </a:avLst>
          </a:prstGeom>
          <a:ln w="24765">
            <a:solidFill>
              <a:srgbClr val="008A72"/>
            </a:solidFill>
            <a:prstDash val="solid"/>
            <a:tailEnd type="arrow" w="med" len="med"/>
          </a:ln>
        </p:spPr>
      </p:cxnSp>
      <p:cxnSp>
        <p:nvCxnSpPr>
          <p:cNvPr id="1166" name="Straight Arrow Connector 1165"/>
          <p:cNvCxnSpPr>
            <a:stCxn id="27" idx="2"/>
            <a:endCxn id="36" idx="0"/>
          </p:cNvCxnSpPr>
          <p:nvPr/>
        </p:nvCxnSpPr>
        <p:spPr>
          <a:xfrm flipH="1">
            <a:off x="6096000" y="3848100"/>
            <a:ext cx="190500" cy="342900"/>
          </a:xfrm>
          <a:prstGeom prst="straightConnector1">
            <a:avLst/>
          </a:prstGeom>
          <a:ln w="14288">
            <a:solidFill>
              <a:srgbClr val="008A72"/>
            </a:solidFill>
            <a:prstDash val="dash"/>
            <a:tailEnd type="arrow" w="med" len="med"/>
          </a:ln>
        </p:spPr>
      </p:cxnSp>
      <p:cxnSp>
        <p:nvCxnSpPr>
          <p:cNvPr id="1167" name="Elbow Connector 1166"/>
          <p:cNvCxnSpPr>
            <a:stCxn id="27" idx="2"/>
            <a:endCxn id="38" idx="0"/>
          </p:cNvCxnSpPr>
          <p:nvPr/>
        </p:nvCxnSpPr>
        <p:spPr>
          <a:xfrm>
            <a:off x="6286500" y="3848100"/>
            <a:ext cx="1571625" cy="266700"/>
          </a:xfrm>
          <a:prstGeom prst="bentConnector4">
            <a:avLst>
              <a:gd name="adj1" fmla="val 0"/>
              <a:gd name="adj2" fmla="val 50000"/>
            </a:avLst>
          </a:prstGeom>
          <a:ln w="14288">
            <a:solidFill>
              <a:srgbClr val="008A72"/>
            </a:solidFill>
            <a:prstDash val="dash"/>
            <a:tailEnd type="arrow" w="med" len="med"/>
          </a:ln>
        </p:spPr>
      </p:cxnSp>
      <p:cxnSp>
        <p:nvCxnSpPr>
          <p:cNvPr id="1168" name="Straight Arrow Connector 1167"/>
          <p:cNvCxnSpPr>
            <a:stCxn id="33" idx="2"/>
            <a:endCxn id="41" idx="0"/>
          </p:cNvCxnSpPr>
          <p:nvPr/>
        </p:nvCxnSpPr>
        <p:spPr>
          <a:xfrm>
            <a:off x="10358438" y="3524250"/>
            <a:ext cx="0" cy="190500"/>
          </a:xfrm>
          <a:prstGeom prst="straightConnector1">
            <a:avLst/>
          </a:prstGeom>
          <a:ln w="24765">
            <a:solidFill>
              <a:srgbClr val="2563A8"/>
            </a:solidFill>
            <a:prstDash val="solid"/>
            <a:tailEnd type="arrow" w="med" len="med"/>
          </a:ln>
        </p:spPr>
      </p:cxnSp>
      <p:cxnSp>
        <p:nvCxnSpPr>
          <p:cNvPr id="1169" name="Straight Arrow Connector 1168"/>
          <p:cNvCxnSpPr>
            <a:stCxn id="41" idx="2"/>
            <a:endCxn id="43" idx="0"/>
          </p:cNvCxnSpPr>
          <p:nvPr/>
        </p:nvCxnSpPr>
        <p:spPr>
          <a:xfrm>
            <a:off x="10358438" y="4286250"/>
            <a:ext cx="0" cy="190500"/>
          </a:xfrm>
          <a:prstGeom prst="straightConnector1">
            <a:avLst/>
          </a:prstGeom>
          <a:ln w="24765">
            <a:solidFill>
              <a:srgbClr val="2563A8"/>
            </a:solidFill>
            <a:prstDash val="solid"/>
            <a:tailEnd type="arrow" w="med" len="med"/>
          </a:ln>
        </p:spPr>
      </p:cxnSp>
      <p:cxnSp>
        <p:nvCxnSpPr>
          <p:cNvPr id="1170" name="Straight Arrow Connector 1169"/>
          <p:cNvCxnSpPr>
            <a:stCxn id="43" idx="2"/>
            <a:endCxn id="46" idx="0"/>
          </p:cNvCxnSpPr>
          <p:nvPr/>
        </p:nvCxnSpPr>
        <p:spPr>
          <a:xfrm>
            <a:off x="10358438" y="5048250"/>
            <a:ext cx="0" cy="190500"/>
          </a:xfrm>
          <a:prstGeom prst="straightConnector1">
            <a:avLst/>
          </a:prstGeom>
          <a:ln w="24765">
            <a:solidFill>
              <a:srgbClr val="2563A8"/>
            </a:solidFill>
            <a:prstDash val="solid"/>
            <a:tailEnd type="arrow" w="med" len="med"/>
          </a:ln>
        </p:spPr>
      </p:cxnSp>
      <p:sp>
        <p:nvSpPr>
          <p:cNvPr id="62" name="Architecture takeaway band">
            <a:extLst>
              <a:ext uri="{FF2B5EF4-FFF2-40B4-BE49-F238E27FC236}">
                <a16:creationId xmlns:a16="http://schemas.microsoft.com/office/drawing/2014/main" id="{CBDF52A6-7547-4032-9597-E30071395450}"/>
              </a:ext>
            </a:extLst>
          </p:cNvPr>
          <p:cNvSpPr>
            <a:spLocks noGrp="1"/>
          </p:cNvSpPr>
          <p:nvPr/>
        </p:nvSpPr>
        <p:spPr>
          <a:xfrm>
            <a:off x="476250" y="6000750"/>
            <a:ext cx="11144250" cy="438150"/>
          </a:xfrm>
          <a:prstGeom prst="roundRect">
            <a:avLst>
              <a:gd name="adj" fmla="val 19048"/>
            </a:avLst>
          </a:prstGeom>
          <a:noFill/>
          <a:ln w="10478">
            <a:solidFill>
              <a:srgbClr val="CAD9EA"/>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64" name="Architecture takeaway">
            <a:extLst>
              <a:ext uri="{FF2B5EF4-FFF2-40B4-BE49-F238E27FC236}">
                <a16:creationId xmlns:a16="http://schemas.microsoft.com/office/drawing/2014/main" id="{2E2F0F42-5E91-4A74-BC9F-0D2078AAB75F}"/>
              </a:ext>
            </a:extLst>
          </p:cNvPr>
          <p:cNvSpPr>
            <a:spLocks noGrp="1"/>
          </p:cNvSpPr>
          <p:nvPr/>
        </p:nvSpPr>
        <p:spPr>
          <a:xfrm>
            <a:off x="685800" y="6057900"/>
            <a:ext cx="10744200" cy="32385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400" b="1" i="1" dirty="0">
                <a:solidFill>
                  <a:srgbClr val="111827"/>
                </a:solidFill>
                <a:latin typeface="Times New Roman" panose="02020603050405020304" pitchFamily="18" charset="0"/>
                <a:ea typeface="Arial"/>
                <a:cs typeface="Times New Roman" panose="02020603050405020304" pitchFamily="18" charset="0"/>
              </a:rPr>
              <a:t>CLI and GUI use different interaction paths but share the same local model execution environment.</a:t>
            </a:r>
          </a:p>
        </p:txBody>
      </p:sp>
      <p:sp>
        <p:nvSpPr>
          <p:cNvPr id="184" name="Architecture subtitle">
            <a:extLst>
              <a:ext uri="{FF2B5EF4-FFF2-40B4-BE49-F238E27FC236}">
                <a16:creationId xmlns:a16="http://schemas.microsoft.com/office/drawing/2014/main" id="{3C426D06-73F9-4418-8EC9-D927ABBA9FF8}"/>
              </a:ext>
            </a:extLst>
          </p:cNvPr>
          <p:cNvSpPr>
            <a:spLocks noGrp="1"/>
          </p:cNvSpPr>
          <p:nvPr/>
        </p:nvSpPr>
        <p:spPr>
          <a:xfrm>
            <a:off x="400050" y="942975"/>
            <a:ext cx="7239000" cy="228600"/>
          </a:xfrm>
          <a:prstGeom prst="rect">
            <a:avLst/>
          </a:prstGeom>
          <a:noFill/>
          <a:ln w="0">
            <a:noFill/>
            <a:prstDash val="solid"/>
          </a:ln>
        </p:spPr>
        <p:txBody>
          <a:bodyPr lIns="0" tIns="0" rIns="0" bIns="0" anchor="ctr">
            <a:noAutofit/>
          </a:bodyPr>
          <a:lstStyle/>
          <a:p>
            <a:pPr algn="l">
              <a:buNone/>
              <a:defRPr sz="1163">
                <a:solidFill>
                  <a:srgbClr val="6B7280"/>
                </a:solidFill>
                <a:latin typeface="Arial"/>
                <a:ea typeface="Arial"/>
                <a:cs typeface="Arial"/>
              </a:defRPr>
            </a:pPr>
            <a:r>
              <a:rPr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Two interaction paths, one on-device inference stack</a:t>
            </a:r>
          </a:p>
        </p:txBody>
      </p:sp>
      <p:cxnSp>
        <p:nvCxnSpPr>
          <p:cNvPr id="4" name="Straight Connector 3">
            <a:extLst>
              <a:ext uri="{FF2B5EF4-FFF2-40B4-BE49-F238E27FC236}">
                <a16:creationId xmlns:a16="http://schemas.microsoft.com/office/drawing/2014/main" id="{5DA82744-949B-E931-5182-446F5C66753D}"/>
              </a:ext>
            </a:extLst>
          </p:cNvPr>
          <p:cNvCxnSpPr>
            <a:cxnSpLocks/>
            <a:endCxn id="46" idx="1"/>
          </p:cNvCxnSpPr>
          <p:nvPr/>
        </p:nvCxnSpPr>
        <p:spPr>
          <a:xfrm>
            <a:off x="696000" y="5514975"/>
            <a:ext cx="8543250" cy="0"/>
          </a:xfrm>
          <a:prstGeom prst="line">
            <a:avLst/>
          </a:prstGeom>
          <a:ln>
            <a:solidFill>
              <a:schemeClr val="bg2">
                <a:lumMod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2B56336-4097-8FCB-A110-9F07BBE362ED}"/>
              </a:ext>
            </a:extLst>
          </p:cNvPr>
          <p:cNvCxnSpPr>
            <a:cxnSpLocks/>
            <a:endCxn id="11" idx="4"/>
          </p:cNvCxnSpPr>
          <p:nvPr/>
        </p:nvCxnSpPr>
        <p:spPr>
          <a:xfrm flipV="1">
            <a:off x="685800" y="3971925"/>
            <a:ext cx="9525" cy="1543050"/>
          </a:xfrm>
          <a:prstGeom prst="straightConnector1">
            <a:avLst/>
          </a:prstGeom>
          <a:ln>
            <a:solidFill>
              <a:schemeClr val="bg2">
                <a:lumMod val="2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00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9334500" cy="552450"/>
          </a:xfrm>
        </p:spPr>
        <p:txBody>
          <a:bodyPr lIns="0" tIns="0" rIns="0" bIns="0" anchor="t">
            <a:noAutofit/>
          </a:bodyPr>
          <a:lstStyle/>
          <a:p>
            <a:pPr marL="0" indent="0" algn="l">
              <a:buNone/>
              <a:defRPr sz="240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QUANTIZATION FOR MEMORY-EFFICIENT LOCAL</a:t>
            </a:r>
            <a:r>
              <a:rPr lang="de-DE" sz="3200" b="1" dirty="0">
                <a:solidFill>
                  <a:srgbClr val="050505"/>
                </a:solidFill>
                <a:latin typeface="Times New Roman" panose="02020603050405020304" pitchFamily="18" charset="0"/>
                <a:cs typeface="Times New Roman" panose="02020603050405020304" pitchFamily="18" charset="0"/>
              </a:rPr>
              <a:t> </a:t>
            </a:r>
            <a:r>
              <a:rPr sz="3200" b="1" dirty="0">
                <a:solidFill>
                  <a:srgbClr val="050505"/>
                </a:solidFill>
                <a:latin typeface="Times New Roman" panose="02020603050405020304" pitchFamily="18" charset="0"/>
                <a:cs typeface="Times New Roman" panose="02020603050405020304" pitchFamily="18" charset="0"/>
              </a:rPr>
              <a:t>INFERENCE</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8C630A04-5A25-9E0C-9436-126091DB86B3}" type="slidenum">
              <a:rPr>
                <a:latin typeface="Times New Roman" panose="02020603050405020304" pitchFamily="18" charset="0"/>
                <a:cs typeface="Times New Roman" panose="02020603050405020304" pitchFamily="18" charset="0"/>
              </a:rPr>
              <a:t>6</a:t>
            </a:fld>
            <a:endParaRPr>
              <a:latin typeface="Times New Roman" panose="02020603050405020304" pitchFamily="18" charset="0"/>
              <a:cs typeface="Times New Roman" panose="02020603050405020304" pitchFamily="18" charset="0"/>
            </a:endParaRPr>
          </a:p>
        </p:txBody>
      </p:sp>
      <p:sp>
        <p:nvSpPr>
          <p:cNvPr id="6" name="Quantization definition">
            <a:extLst>
              <a:ext uri="{FF2B5EF4-FFF2-40B4-BE49-F238E27FC236}">
                <a16:creationId xmlns:a16="http://schemas.microsoft.com/office/drawing/2014/main" id="{7A19FD4D-8B68-46E5-BA13-2E8EA1585377}"/>
              </a:ext>
            </a:extLst>
          </p:cNvPr>
          <p:cNvSpPr>
            <a:spLocks noGrp="1"/>
          </p:cNvSpPr>
          <p:nvPr/>
        </p:nvSpPr>
        <p:spPr>
          <a:xfrm>
            <a:off x="381000" y="1083570"/>
            <a:ext cx="11144250" cy="323850"/>
          </a:xfrm>
          <a:prstGeom prst="rect">
            <a:avLst/>
          </a:prstGeom>
          <a:noFill/>
          <a:ln w="0">
            <a:noFill/>
            <a:prstDash val="solid"/>
          </a:ln>
        </p:spPr>
        <p:txBody>
          <a:bodyPr lIns="0" tIns="0" rIns="0" bIns="0" anchor="ctr">
            <a:noAutofit/>
          </a:bodyPr>
          <a:lstStyle/>
          <a:p>
            <a:pPr algn="l">
              <a:buNone/>
              <a:defRPr sz="1313">
                <a:solidFill>
                  <a:srgbClr val="374151"/>
                </a:solidFill>
                <a:latin typeface="Arial"/>
                <a:ea typeface="Arial"/>
                <a:cs typeface="Arial"/>
              </a:defRPr>
            </a:pPr>
            <a:r>
              <a:rPr sz="1600" dirty="0">
                <a:solidFill>
                  <a:schemeClr val="tx1">
                    <a:lumMod val="85000"/>
                    <a:lumOff val="15000"/>
                  </a:schemeClr>
                </a:solidFill>
                <a:latin typeface="Times New Roman" panose="02020603050405020304" pitchFamily="18" charset="0"/>
                <a:ea typeface="Arial"/>
                <a:cs typeface="Times New Roman" panose="02020603050405020304" pitchFamily="18" charset="0"/>
              </a:rPr>
              <a:t>Quantization represents model weights with fewer bits, reducing the memory required to store them during local inference.</a:t>
            </a:r>
          </a:p>
        </p:txBody>
      </p:sp>
      <p:sp>
        <p:nvSpPr>
          <p:cNvPr id="7" name="What quantization does">
            <a:extLst>
              <a:ext uri="{FF2B5EF4-FFF2-40B4-BE49-F238E27FC236}">
                <a16:creationId xmlns:a16="http://schemas.microsoft.com/office/drawing/2014/main" id="{DCD4F098-6090-4E94-AC43-521B7C38F69F}"/>
              </a:ext>
            </a:extLst>
          </p:cNvPr>
          <p:cNvSpPr>
            <a:spLocks noGrp="1"/>
          </p:cNvSpPr>
          <p:nvPr/>
        </p:nvSpPr>
        <p:spPr>
          <a:xfrm>
            <a:off x="489066" y="1698302"/>
            <a:ext cx="2952750" cy="209550"/>
          </a:xfrm>
          <a:prstGeom prst="rect">
            <a:avLst/>
          </a:prstGeom>
          <a:noFill/>
          <a:ln w="0">
            <a:noFill/>
            <a:prstDash val="solid"/>
          </a:ln>
        </p:spPr>
        <p:txBody>
          <a:bodyPr lIns="0" tIns="0" rIns="0" bIns="0" anchor="ctr">
            <a:noAutofit/>
          </a:bodyPr>
          <a:lstStyle/>
          <a:p>
            <a:pPr algn="l">
              <a:buNone/>
              <a:defRPr sz="1163" b="1">
                <a:solidFill>
                  <a:srgbClr val="2563A8"/>
                </a:solidFill>
                <a:latin typeface="Arial"/>
                <a:ea typeface="Arial"/>
                <a:cs typeface="Arial"/>
              </a:defRPr>
            </a:pPr>
            <a:r>
              <a:rPr sz="1163" b="1" dirty="0">
                <a:solidFill>
                  <a:schemeClr val="tx1">
                    <a:lumMod val="95000"/>
                    <a:lumOff val="5000"/>
                  </a:schemeClr>
                </a:solidFill>
                <a:latin typeface="Times New Roman" panose="02020603050405020304" pitchFamily="18" charset="0"/>
                <a:ea typeface="Arial"/>
                <a:cs typeface="Times New Roman" panose="02020603050405020304" pitchFamily="18" charset="0"/>
              </a:rPr>
              <a:t>WHAT QUANTIZATION DOES</a:t>
            </a:r>
          </a:p>
        </p:txBody>
      </p:sp>
      <p:sp>
        <p:nvSpPr>
          <p:cNvPr id="8" name="Quantization visual rule">
            <a:extLst>
              <a:ext uri="{FF2B5EF4-FFF2-40B4-BE49-F238E27FC236}">
                <a16:creationId xmlns:a16="http://schemas.microsoft.com/office/drawing/2014/main" id="{1E5BA6F2-98DD-42A4-8A7D-8F763B3FC3FB}"/>
              </a:ext>
            </a:extLst>
          </p:cNvPr>
          <p:cNvSpPr>
            <a:spLocks noGrp="1"/>
          </p:cNvSpPr>
          <p:nvPr/>
        </p:nvSpPr>
        <p:spPr>
          <a:xfrm>
            <a:off x="489066" y="1945952"/>
            <a:ext cx="11144250" cy="19050"/>
          </a:xfrm>
          <a:prstGeom prst="roundRect">
            <a:avLst>
              <a:gd name="adj" fmla="val 50000"/>
            </a:avLst>
          </a:prstGeom>
          <a:solidFill>
            <a:srgbClr val="C9D9EC"/>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9" name="FP16 to 8-bit arrow">
            <a:extLst>
              <a:ext uri="{FF2B5EF4-FFF2-40B4-BE49-F238E27FC236}">
                <a16:creationId xmlns:a16="http://schemas.microsoft.com/office/drawing/2014/main" id="{7C9CC046-A1B4-42D8-B63F-CB86F8172273}"/>
              </a:ext>
            </a:extLst>
          </p:cNvPr>
          <p:cNvSpPr>
            <a:spLocks noGrp="1"/>
          </p:cNvSpPr>
          <p:nvPr/>
        </p:nvSpPr>
        <p:spPr>
          <a:xfrm>
            <a:off x="3565641" y="2488877"/>
            <a:ext cx="742950" cy="457200"/>
          </a:xfrm>
          <a:prstGeom prst="rect">
            <a:avLst/>
          </a:prstGeom>
          <a:noFill/>
          <a:ln w="0">
            <a:noFill/>
            <a:prstDash val="solid"/>
          </a:ln>
        </p:spPr>
        <p:txBody>
          <a:bodyPr lIns="0" tIns="0" rIns="0" bIns="0" anchor="ctr">
            <a:noAutofit/>
          </a:bodyPr>
          <a:lstStyle/>
          <a:p>
            <a:pPr algn="ctr">
              <a:buNone/>
              <a:defRPr sz="2175" b="1">
                <a:solidFill>
                  <a:srgbClr val="6B7280"/>
                </a:solidFill>
                <a:latin typeface="Arial"/>
                <a:ea typeface="Arial"/>
                <a:cs typeface="Arial"/>
              </a:defRPr>
            </a:pPr>
            <a:r>
              <a:rPr sz="2175" b="1">
                <a:solidFill>
                  <a:srgbClr val="6B7280"/>
                </a:solidFill>
                <a:latin typeface="Times New Roman" panose="02020603050405020304" pitchFamily="18" charset="0"/>
                <a:ea typeface="Arial"/>
                <a:cs typeface="Times New Roman" panose="02020603050405020304" pitchFamily="18" charset="0"/>
              </a:rPr>
              <a:t>→</a:t>
            </a:r>
          </a:p>
        </p:txBody>
      </p:sp>
      <p:sp>
        <p:nvSpPr>
          <p:cNvPr id="10" name="8-bit to 4-bit arrow">
            <a:extLst>
              <a:ext uri="{FF2B5EF4-FFF2-40B4-BE49-F238E27FC236}">
                <a16:creationId xmlns:a16="http://schemas.microsoft.com/office/drawing/2014/main" id="{1FF053A9-75F0-45F6-8B08-CF0604CC366C}"/>
              </a:ext>
            </a:extLst>
          </p:cNvPr>
          <p:cNvSpPr>
            <a:spLocks noGrp="1"/>
          </p:cNvSpPr>
          <p:nvPr/>
        </p:nvSpPr>
        <p:spPr>
          <a:xfrm>
            <a:off x="7556616" y="2488877"/>
            <a:ext cx="742950" cy="457200"/>
          </a:xfrm>
          <a:prstGeom prst="rect">
            <a:avLst/>
          </a:prstGeom>
          <a:noFill/>
          <a:ln w="0">
            <a:noFill/>
            <a:prstDash val="solid"/>
          </a:ln>
        </p:spPr>
        <p:txBody>
          <a:bodyPr lIns="0" tIns="0" rIns="0" bIns="0" anchor="ctr">
            <a:noAutofit/>
          </a:bodyPr>
          <a:lstStyle/>
          <a:p>
            <a:pPr algn="ctr">
              <a:buNone/>
              <a:defRPr sz="2175" b="1">
                <a:solidFill>
                  <a:srgbClr val="6B7280"/>
                </a:solidFill>
                <a:latin typeface="Arial"/>
                <a:ea typeface="Arial"/>
                <a:cs typeface="Arial"/>
              </a:defRPr>
            </a:pPr>
            <a:r>
              <a:rPr sz="2175" b="1" dirty="0">
                <a:solidFill>
                  <a:srgbClr val="6B7280"/>
                </a:solidFill>
                <a:latin typeface="Times New Roman" panose="02020603050405020304" pitchFamily="18" charset="0"/>
                <a:ea typeface="Arial"/>
                <a:cs typeface="Times New Roman" panose="02020603050405020304" pitchFamily="18" charset="0"/>
              </a:rPr>
              <a:t>→</a:t>
            </a:r>
          </a:p>
        </p:txBody>
      </p:sp>
      <p:sp>
        <p:nvSpPr>
          <p:cNvPr id="11" name="FP16 heading">
            <a:extLst>
              <a:ext uri="{FF2B5EF4-FFF2-40B4-BE49-F238E27FC236}">
                <a16:creationId xmlns:a16="http://schemas.microsoft.com/office/drawing/2014/main" id="{0D4BACD9-6136-4118-B62D-EED71D71FF90}"/>
              </a:ext>
            </a:extLst>
          </p:cNvPr>
          <p:cNvSpPr>
            <a:spLocks noGrp="1"/>
          </p:cNvSpPr>
          <p:nvPr/>
        </p:nvSpPr>
        <p:spPr>
          <a:xfrm>
            <a:off x="679566" y="2060252"/>
            <a:ext cx="2857500" cy="266700"/>
          </a:xfrm>
          <a:prstGeom prst="rect">
            <a:avLst/>
          </a:prstGeom>
          <a:noFill/>
          <a:ln w="0">
            <a:noFill/>
            <a:prstDash val="solid"/>
          </a:ln>
        </p:spPr>
        <p:txBody>
          <a:bodyPr lIns="0" tIns="0" rIns="0" bIns="0" anchor="ctr">
            <a:noAutofit/>
          </a:bodyPr>
          <a:lstStyle/>
          <a:p>
            <a:pPr algn="ctr">
              <a:buNone/>
              <a:defRPr sz="1575" b="1">
                <a:solidFill>
                  <a:srgbClr val="2563A8"/>
                </a:solidFill>
                <a:latin typeface="Arial"/>
                <a:ea typeface="Arial"/>
                <a:cs typeface="Arial"/>
              </a:defRPr>
            </a:pPr>
            <a:r>
              <a:rPr sz="1575" b="1" dirty="0">
                <a:solidFill>
                  <a:schemeClr val="tx1">
                    <a:lumMod val="95000"/>
                    <a:lumOff val="5000"/>
                  </a:schemeClr>
                </a:solidFill>
                <a:latin typeface="Times New Roman" panose="02020603050405020304" pitchFamily="18" charset="0"/>
                <a:ea typeface="Arial"/>
                <a:cs typeface="Times New Roman" panose="02020603050405020304" pitchFamily="18" charset="0"/>
              </a:rPr>
              <a:t>FP16</a:t>
            </a:r>
          </a:p>
        </p:txBody>
      </p:sp>
      <p:sp>
        <p:nvSpPr>
          <p:cNvPr id="12" name="FP16 bit label">
            <a:extLst>
              <a:ext uri="{FF2B5EF4-FFF2-40B4-BE49-F238E27FC236}">
                <a16:creationId xmlns:a16="http://schemas.microsoft.com/office/drawing/2014/main" id="{A0B11D93-9B4F-437A-B37E-FFBD000736AA}"/>
              </a:ext>
            </a:extLst>
          </p:cNvPr>
          <p:cNvSpPr>
            <a:spLocks noGrp="1"/>
          </p:cNvSpPr>
          <p:nvPr/>
        </p:nvSpPr>
        <p:spPr>
          <a:xfrm>
            <a:off x="679566" y="2336477"/>
            <a:ext cx="2857500" cy="209550"/>
          </a:xfrm>
          <a:prstGeom prst="rect">
            <a:avLst/>
          </a:prstGeom>
          <a:noFill/>
          <a:ln w="0">
            <a:noFill/>
            <a:prstDash val="solid"/>
          </a:ln>
        </p:spPr>
        <p:txBody>
          <a:bodyPr lIns="0" tIns="0" rIns="0" bIns="0" anchor="ctr">
            <a:noAutofit/>
          </a:bodyPr>
          <a:lstStyle/>
          <a:p>
            <a:pPr algn="ctr">
              <a:buNone/>
              <a:defRPr sz="1088">
                <a:solidFill>
                  <a:srgbClr val="6B7280"/>
                </a:solidFill>
                <a:latin typeface="Arial"/>
                <a:ea typeface="Arial"/>
                <a:cs typeface="Arial"/>
              </a:defRPr>
            </a:pPr>
            <a:r>
              <a:rPr sz="1088" dirty="0">
                <a:solidFill>
                  <a:schemeClr val="tx1">
                    <a:lumMod val="85000"/>
                    <a:lumOff val="15000"/>
                  </a:schemeClr>
                </a:solidFill>
                <a:latin typeface="Times New Roman" panose="02020603050405020304" pitchFamily="18" charset="0"/>
                <a:ea typeface="Arial"/>
                <a:cs typeface="Times New Roman" panose="02020603050405020304" pitchFamily="18" charset="0"/>
              </a:rPr>
              <a:t>16 bits / weight</a:t>
            </a:r>
          </a:p>
        </p:txBody>
      </p:sp>
      <p:sp>
        <p:nvSpPr>
          <p:cNvPr id="13" name="FP16 guide">
            <a:extLst>
              <a:ext uri="{FF2B5EF4-FFF2-40B4-BE49-F238E27FC236}">
                <a16:creationId xmlns:a16="http://schemas.microsoft.com/office/drawing/2014/main" id="{671383E8-F280-491F-8092-88BF0249287E}"/>
              </a:ext>
            </a:extLst>
          </p:cNvPr>
          <p:cNvSpPr>
            <a:spLocks noGrp="1"/>
          </p:cNvSpPr>
          <p:nvPr/>
        </p:nvSpPr>
        <p:spPr>
          <a:xfrm>
            <a:off x="760529" y="2612702"/>
            <a:ext cx="2695575" cy="590550"/>
          </a:xfrm>
          <a:prstGeom prst="roundRect">
            <a:avLst>
              <a:gd name="adj" fmla="val 12903"/>
            </a:avLst>
          </a:prstGeom>
          <a:noFill/>
          <a:ln w="11430">
            <a:solidFill>
              <a:srgbClr val="2563A8"/>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14" name="FP16 bit 1">
            <a:extLst>
              <a:ext uri="{FF2B5EF4-FFF2-40B4-BE49-F238E27FC236}">
                <a16:creationId xmlns:a16="http://schemas.microsoft.com/office/drawing/2014/main" id="{F53B6F99-55AF-4370-8402-C3FF8621B363}"/>
              </a:ext>
            </a:extLst>
          </p:cNvPr>
          <p:cNvSpPr>
            <a:spLocks noGrp="1"/>
          </p:cNvSpPr>
          <p:nvPr/>
        </p:nvSpPr>
        <p:spPr>
          <a:xfrm>
            <a:off x="82720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5" name="FP16 bit 2">
            <a:extLst>
              <a:ext uri="{FF2B5EF4-FFF2-40B4-BE49-F238E27FC236}">
                <a16:creationId xmlns:a16="http://schemas.microsoft.com/office/drawing/2014/main" id="{26050184-652F-48FC-A167-771BFC5CE18F}"/>
              </a:ext>
            </a:extLst>
          </p:cNvPr>
          <p:cNvSpPr>
            <a:spLocks noGrp="1"/>
          </p:cNvSpPr>
          <p:nvPr/>
        </p:nvSpPr>
        <p:spPr>
          <a:xfrm>
            <a:off x="98912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6" name="FP16 bit 3">
            <a:extLst>
              <a:ext uri="{FF2B5EF4-FFF2-40B4-BE49-F238E27FC236}">
                <a16:creationId xmlns:a16="http://schemas.microsoft.com/office/drawing/2014/main" id="{257A9D6C-228C-4A6B-B9C6-79068468A34F}"/>
              </a:ext>
            </a:extLst>
          </p:cNvPr>
          <p:cNvSpPr>
            <a:spLocks noGrp="1"/>
          </p:cNvSpPr>
          <p:nvPr/>
        </p:nvSpPr>
        <p:spPr>
          <a:xfrm>
            <a:off x="115105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7" name="FP16 bit 4">
            <a:extLst>
              <a:ext uri="{FF2B5EF4-FFF2-40B4-BE49-F238E27FC236}">
                <a16:creationId xmlns:a16="http://schemas.microsoft.com/office/drawing/2014/main" id="{62EBAE4D-C358-4318-ACFD-BBA734A2EBCF}"/>
              </a:ext>
            </a:extLst>
          </p:cNvPr>
          <p:cNvSpPr>
            <a:spLocks noGrp="1"/>
          </p:cNvSpPr>
          <p:nvPr/>
        </p:nvSpPr>
        <p:spPr>
          <a:xfrm>
            <a:off x="131297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8" name="FP16 bit 5">
            <a:extLst>
              <a:ext uri="{FF2B5EF4-FFF2-40B4-BE49-F238E27FC236}">
                <a16:creationId xmlns:a16="http://schemas.microsoft.com/office/drawing/2014/main" id="{CABA0102-54D8-4C8D-81A5-8C29D2A6D971}"/>
              </a:ext>
            </a:extLst>
          </p:cNvPr>
          <p:cNvSpPr>
            <a:spLocks noGrp="1"/>
          </p:cNvSpPr>
          <p:nvPr/>
        </p:nvSpPr>
        <p:spPr>
          <a:xfrm>
            <a:off x="147490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9" name="FP16 bit 6">
            <a:extLst>
              <a:ext uri="{FF2B5EF4-FFF2-40B4-BE49-F238E27FC236}">
                <a16:creationId xmlns:a16="http://schemas.microsoft.com/office/drawing/2014/main" id="{8832E653-370F-47F3-938F-215B08A0A29F}"/>
              </a:ext>
            </a:extLst>
          </p:cNvPr>
          <p:cNvSpPr>
            <a:spLocks noGrp="1"/>
          </p:cNvSpPr>
          <p:nvPr/>
        </p:nvSpPr>
        <p:spPr>
          <a:xfrm>
            <a:off x="163682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0" name="FP16 bit 7">
            <a:extLst>
              <a:ext uri="{FF2B5EF4-FFF2-40B4-BE49-F238E27FC236}">
                <a16:creationId xmlns:a16="http://schemas.microsoft.com/office/drawing/2014/main" id="{017F5811-DAA2-400F-BD79-80AD959C10BA}"/>
              </a:ext>
            </a:extLst>
          </p:cNvPr>
          <p:cNvSpPr>
            <a:spLocks noGrp="1"/>
          </p:cNvSpPr>
          <p:nvPr/>
        </p:nvSpPr>
        <p:spPr>
          <a:xfrm>
            <a:off x="179875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1" name="FP16 bit 8">
            <a:extLst>
              <a:ext uri="{FF2B5EF4-FFF2-40B4-BE49-F238E27FC236}">
                <a16:creationId xmlns:a16="http://schemas.microsoft.com/office/drawing/2014/main" id="{12271CF7-BF41-473D-AA13-B101F8085264}"/>
              </a:ext>
            </a:extLst>
          </p:cNvPr>
          <p:cNvSpPr>
            <a:spLocks noGrp="1"/>
          </p:cNvSpPr>
          <p:nvPr/>
        </p:nvSpPr>
        <p:spPr>
          <a:xfrm>
            <a:off x="196067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2" name="FP16 bit 9">
            <a:extLst>
              <a:ext uri="{FF2B5EF4-FFF2-40B4-BE49-F238E27FC236}">
                <a16:creationId xmlns:a16="http://schemas.microsoft.com/office/drawing/2014/main" id="{4E74AFCB-FE3F-43E1-89A9-A0F9F4CBF8E0}"/>
              </a:ext>
            </a:extLst>
          </p:cNvPr>
          <p:cNvSpPr>
            <a:spLocks noGrp="1"/>
          </p:cNvSpPr>
          <p:nvPr/>
        </p:nvSpPr>
        <p:spPr>
          <a:xfrm>
            <a:off x="212260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3" name="FP16 bit 10">
            <a:extLst>
              <a:ext uri="{FF2B5EF4-FFF2-40B4-BE49-F238E27FC236}">
                <a16:creationId xmlns:a16="http://schemas.microsoft.com/office/drawing/2014/main" id="{2612BDFD-92A7-4528-AF6B-E0FC4AEC0BD3}"/>
              </a:ext>
            </a:extLst>
          </p:cNvPr>
          <p:cNvSpPr>
            <a:spLocks noGrp="1"/>
          </p:cNvSpPr>
          <p:nvPr/>
        </p:nvSpPr>
        <p:spPr>
          <a:xfrm>
            <a:off x="228452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4" name="FP16 bit 11">
            <a:extLst>
              <a:ext uri="{FF2B5EF4-FFF2-40B4-BE49-F238E27FC236}">
                <a16:creationId xmlns:a16="http://schemas.microsoft.com/office/drawing/2014/main" id="{A277A997-AE4B-454D-AAB9-FB845419870B}"/>
              </a:ext>
            </a:extLst>
          </p:cNvPr>
          <p:cNvSpPr>
            <a:spLocks noGrp="1"/>
          </p:cNvSpPr>
          <p:nvPr/>
        </p:nvSpPr>
        <p:spPr>
          <a:xfrm>
            <a:off x="244645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5" name="FP16 bit 12">
            <a:extLst>
              <a:ext uri="{FF2B5EF4-FFF2-40B4-BE49-F238E27FC236}">
                <a16:creationId xmlns:a16="http://schemas.microsoft.com/office/drawing/2014/main" id="{843C529F-268E-4AA5-BD02-95461618E0FB}"/>
              </a:ext>
            </a:extLst>
          </p:cNvPr>
          <p:cNvSpPr>
            <a:spLocks noGrp="1"/>
          </p:cNvSpPr>
          <p:nvPr/>
        </p:nvSpPr>
        <p:spPr>
          <a:xfrm>
            <a:off x="260837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6" name="FP16 bit 13">
            <a:extLst>
              <a:ext uri="{FF2B5EF4-FFF2-40B4-BE49-F238E27FC236}">
                <a16:creationId xmlns:a16="http://schemas.microsoft.com/office/drawing/2014/main" id="{8ADD3C86-7DB8-464B-B742-1FD205029175}"/>
              </a:ext>
            </a:extLst>
          </p:cNvPr>
          <p:cNvSpPr>
            <a:spLocks noGrp="1"/>
          </p:cNvSpPr>
          <p:nvPr/>
        </p:nvSpPr>
        <p:spPr>
          <a:xfrm>
            <a:off x="277030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7" name="FP16 bit 14">
            <a:extLst>
              <a:ext uri="{FF2B5EF4-FFF2-40B4-BE49-F238E27FC236}">
                <a16:creationId xmlns:a16="http://schemas.microsoft.com/office/drawing/2014/main" id="{0647CC97-EAC6-4E65-AE64-C16BFAF5512F}"/>
              </a:ext>
            </a:extLst>
          </p:cNvPr>
          <p:cNvSpPr>
            <a:spLocks noGrp="1"/>
          </p:cNvSpPr>
          <p:nvPr/>
        </p:nvSpPr>
        <p:spPr>
          <a:xfrm>
            <a:off x="293222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8" name="FP16 bit 15">
            <a:extLst>
              <a:ext uri="{FF2B5EF4-FFF2-40B4-BE49-F238E27FC236}">
                <a16:creationId xmlns:a16="http://schemas.microsoft.com/office/drawing/2014/main" id="{5C35680C-2F71-4C0F-991E-32B0797CFB0E}"/>
              </a:ext>
            </a:extLst>
          </p:cNvPr>
          <p:cNvSpPr>
            <a:spLocks noGrp="1"/>
          </p:cNvSpPr>
          <p:nvPr/>
        </p:nvSpPr>
        <p:spPr>
          <a:xfrm>
            <a:off x="3094154" y="2679377"/>
            <a:ext cx="133350" cy="457200"/>
          </a:xfrm>
          <a:prstGeom prst="roundRect">
            <a:avLst>
              <a:gd name="adj" fmla="val 50000"/>
            </a:avLst>
          </a:prstGeom>
          <a:solidFill>
            <a:srgbClr val="2563A8"/>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9" name="FP16 bit 16">
            <a:extLst>
              <a:ext uri="{FF2B5EF4-FFF2-40B4-BE49-F238E27FC236}">
                <a16:creationId xmlns:a16="http://schemas.microsoft.com/office/drawing/2014/main" id="{F5D2C052-30A1-40AE-8C02-201D411D833F}"/>
              </a:ext>
            </a:extLst>
          </p:cNvPr>
          <p:cNvSpPr>
            <a:spLocks noGrp="1"/>
          </p:cNvSpPr>
          <p:nvPr/>
        </p:nvSpPr>
        <p:spPr>
          <a:xfrm>
            <a:off x="3256079" y="2679377"/>
            <a:ext cx="133350" cy="457200"/>
          </a:xfrm>
          <a:prstGeom prst="roundRect">
            <a:avLst>
              <a:gd name="adj" fmla="val 50000"/>
            </a:avLst>
          </a:prstGeom>
          <a:solidFill>
            <a:srgbClr val="EAF2FB"/>
          </a:solidFill>
          <a:ln w="7620">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0" name="FP16 relative label">
            <a:extLst>
              <a:ext uri="{FF2B5EF4-FFF2-40B4-BE49-F238E27FC236}">
                <a16:creationId xmlns:a16="http://schemas.microsoft.com/office/drawing/2014/main" id="{48433937-CD8B-4FD4-84D2-AA00FA5AA0CB}"/>
              </a:ext>
            </a:extLst>
          </p:cNvPr>
          <p:cNvSpPr>
            <a:spLocks noGrp="1"/>
          </p:cNvSpPr>
          <p:nvPr/>
        </p:nvSpPr>
        <p:spPr>
          <a:xfrm>
            <a:off x="679566" y="3279452"/>
            <a:ext cx="2857500" cy="2286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a:solidFill>
                  <a:srgbClr val="111827"/>
                </a:solidFill>
                <a:latin typeface="Times New Roman" panose="02020603050405020304" pitchFamily="18" charset="0"/>
                <a:ea typeface="Arial"/>
                <a:cs typeface="Times New Roman" panose="02020603050405020304" pitchFamily="18" charset="0"/>
              </a:rPr>
              <a:t>1× baseline</a:t>
            </a:r>
          </a:p>
        </p:txBody>
      </p:sp>
      <p:sp>
        <p:nvSpPr>
          <p:cNvPr id="31" name="8-bit Metal heading">
            <a:extLst>
              <a:ext uri="{FF2B5EF4-FFF2-40B4-BE49-F238E27FC236}">
                <a16:creationId xmlns:a16="http://schemas.microsoft.com/office/drawing/2014/main" id="{280A3FCC-8763-4217-BDA0-94A1A1E3A9C6}"/>
              </a:ext>
            </a:extLst>
          </p:cNvPr>
          <p:cNvSpPr>
            <a:spLocks noGrp="1"/>
          </p:cNvSpPr>
          <p:nvPr/>
        </p:nvSpPr>
        <p:spPr>
          <a:xfrm>
            <a:off x="4489566" y="2060252"/>
            <a:ext cx="2857500" cy="266700"/>
          </a:xfrm>
          <a:prstGeom prst="rect">
            <a:avLst/>
          </a:prstGeom>
          <a:noFill/>
          <a:ln w="0">
            <a:noFill/>
            <a:prstDash val="solid"/>
          </a:ln>
        </p:spPr>
        <p:txBody>
          <a:bodyPr lIns="0" tIns="0" rIns="0" bIns="0" anchor="ctr">
            <a:noAutofit/>
          </a:bodyPr>
          <a:lstStyle/>
          <a:p>
            <a:pPr algn="ctr">
              <a:buNone/>
              <a:defRPr sz="1575" b="1">
                <a:solidFill>
                  <a:srgbClr val="7C3AED"/>
                </a:solidFill>
                <a:latin typeface="Arial"/>
                <a:ea typeface="Arial"/>
                <a:cs typeface="Arial"/>
              </a:defRPr>
            </a:pPr>
            <a:r>
              <a:rPr sz="1575" b="1" dirty="0">
                <a:solidFill>
                  <a:schemeClr val="tx1">
                    <a:lumMod val="95000"/>
                    <a:lumOff val="5000"/>
                  </a:schemeClr>
                </a:solidFill>
                <a:latin typeface="Times New Roman" panose="02020603050405020304" pitchFamily="18" charset="0"/>
                <a:ea typeface="Arial"/>
                <a:cs typeface="Times New Roman" panose="02020603050405020304" pitchFamily="18" charset="0"/>
              </a:rPr>
              <a:t>8-bit Metal</a:t>
            </a:r>
          </a:p>
        </p:txBody>
      </p:sp>
      <p:sp>
        <p:nvSpPr>
          <p:cNvPr id="32" name="8-bit Metal bit label">
            <a:extLst>
              <a:ext uri="{FF2B5EF4-FFF2-40B4-BE49-F238E27FC236}">
                <a16:creationId xmlns:a16="http://schemas.microsoft.com/office/drawing/2014/main" id="{BC331310-F22B-4ACC-AD9C-AA129B77D66A}"/>
              </a:ext>
            </a:extLst>
          </p:cNvPr>
          <p:cNvSpPr>
            <a:spLocks noGrp="1"/>
          </p:cNvSpPr>
          <p:nvPr/>
        </p:nvSpPr>
        <p:spPr>
          <a:xfrm>
            <a:off x="4489566" y="2336477"/>
            <a:ext cx="2857500" cy="209550"/>
          </a:xfrm>
          <a:prstGeom prst="rect">
            <a:avLst/>
          </a:prstGeom>
          <a:noFill/>
          <a:ln w="0">
            <a:noFill/>
            <a:prstDash val="solid"/>
          </a:ln>
        </p:spPr>
        <p:txBody>
          <a:bodyPr lIns="0" tIns="0" rIns="0" bIns="0" anchor="ctr">
            <a:noAutofit/>
          </a:bodyPr>
          <a:lstStyle/>
          <a:p>
            <a:pPr algn="ctr">
              <a:buNone/>
              <a:defRPr sz="1088">
                <a:solidFill>
                  <a:srgbClr val="6B7280"/>
                </a:solidFill>
                <a:latin typeface="Arial"/>
                <a:ea typeface="Arial"/>
                <a:cs typeface="Arial"/>
              </a:defRPr>
            </a:pPr>
            <a:r>
              <a:rPr sz="1088" dirty="0">
                <a:solidFill>
                  <a:schemeClr val="tx1">
                    <a:lumMod val="85000"/>
                    <a:lumOff val="15000"/>
                  </a:schemeClr>
                </a:solidFill>
                <a:latin typeface="Times New Roman" panose="02020603050405020304" pitchFamily="18" charset="0"/>
                <a:ea typeface="Arial"/>
                <a:cs typeface="Times New Roman" panose="02020603050405020304" pitchFamily="18" charset="0"/>
              </a:rPr>
              <a:t>8 bits / weight</a:t>
            </a:r>
          </a:p>
        </p:txBody>
      </p:sp>
      <p:sp>
        <p:nvSpPr>
          <p:cNvPr id="33" name="8-bit Metal guide">
            <a:extLst>
              <a:ext uri="{FF2B5EF4-FFF2-40B4-BE49-F238E27FC236}">
                <a16:creationId xmlns:a16="http://schemas.microsoft.com/office/drawing/2014/main" id="{BF2B8138-B19E-4466-84D8-B5E7F9CFE2AE}"/>
              </a:ext>
            </a:extLst>
          </p:cNvPr>
          <p:cNvSpPr>
            <a:spLocks noGrp="1"/>
          </p:cNvSpPr>
          <p:nvPr/>
        </p:nvSpPr>
        <p:spPr>
          <a:xfrm>
            <a:off x="5218229" y="2612702"/>
            <a:ext cx="1400175" cy="590550"/>
          </a:xfrm>
          <a:prstGeom prst="roundRect">
            <a:avLst>
              <a:gd name="adj" fmla="val 12903"/>
            </a:avLst>
          </a:prstGeom>
          <a:noFill/>
          <a:ln w="11430">
            <a:solidFill>
              <a:srgbClr val="7C3AED"/>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34" name="8-bit Metal bit 1">
            <a:extLst>
              <a:ext uri="{FF2B5EF4-FFF2-40B4-BE49-F238E27FC236}">
                <a16:creationId xmlns:a16="http://schemas.microsoft.com/office/drawing/2014/main" id="{8F19089D-81DE-4C54-8587-2840AA2EE618}"/>
              </a:ext>
            </a:extLst>
          </p:cNvPr>
          <p:cNvSpPr>
            <a:spLocks noGrp="1"/>
          </p:cNvSpPr>
          <p:nvPr/>
        </p:nvSpPr>
        <p:spPr>
          <a:xfrm>
            <a:off x="5284904" y="2679377"/>
            <a:ext cx="133350" cy="457200"/>
          </a:xfrm>
          <a:prstGeom prst="roundRect">
            <a:avLst>
              <a:gd name="adj" fmla="val 50000"/>
            </a:avLst>
          </a:prstGeom>
          <a:solidFill>
            <a:srgbClr val="7C3AED"/>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5" name="8-bit Metal bit 2">
            <a:extLst>
              <a:ext uri="{FF2B5EF4-FFF2-40B4-BE49-F238E27FC236}">
                <a16:creationId xmlns:a16="http://schemas.microsoft.com/office/drawing/2014/main" id="{7BA8DA41-7066-4FD1-9AFA-95C21B783C2C}"/>
              </a:ext>
            </a:extLst>
          </p:cNvPr>
          <p:cNvSpPr>
            <a:spLocks noGrp="1"/>
          </p:cNvSpPr>
          <p:nvPr/>
        </p:nvSpPr>
        <p:spPr>
          <a:xfrm>
            <a:off x="5446829" y="2679377"/>
            <a:ext cx="133350" cy="457200"/>
          </a:xfrm>
          <a:prstGeom prst="roundRect">
            <a:avLst>
              <a:gd name="adj" fmla="val 50000"/>
            </a:avLst>
          </a:prstGeom>
          <a:solidFill>
            <a:srgbClr val="F2ECFF"/>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6" name="8-bit Metal bit 3">
            <a:extLst>
              <a:ext uri="{FF2B5EF4-FFF2-40B4-BE49-F238E27FC236}">
                <a16:creationId xmlns:a16="http://schemas.microsoft.com/office/drawing/2014/main" id="{E4FDA104-D08F-42DE-B5FA-D3ED0D111381}"/>
              </a:ext>
            </a:extLst>
          </p:cNvPr>
          <p:cNvSpPr>
            <a:spLocks noGrp="1"/>
          </p:cNvSpPr>
          <p:nvPr/>
        </p:nvSpPr>
        <p:spPr>
          <a:xfrm>
            <a:off x="5608754" y="2679377"/>
            <a:ext cx="133350" cy="457200"/>
          </a:xfrm>
          <a:prstGeom prst="roundRect">
            <a:avLst>
              <a:gd name="adj" fmla="val 50000"/>
            </a:avLst>
          </a:prstGeom>
          <a:solidFill>
            <a:srgbClr val="7C3AED"/>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7" name="8-bit Metal bit 4">
            <a:extLst>
              <a:ext uri="{FF2B5EF4-FFF2-40B4-BE49-F238E27FC236}">
                <a16:creationId xmlns:a16="http://schemas.microsoft.com/office/drawing/2014/main" id="{08415067-17B7-4EBD-83C9-D5C9A5B0B2D3}"/>
              </a:ext>
            </a:extLst>
          </p:cNvPr>
          <p:cNvSpPr>
            <a:spLocks noGrp="1"/>
          </p:cNvSpPr>
          <p:nvPr/>
        </p:nvSpPr>
        <p:spPr>
          <a:xfrm>
            <a:off x="5770679" y="2679377"/>
            <a:ext cx="133350" cy="457200"/>
          </a:xfrm>
          <a:prstGeom prst="roundRect">
            <a:avLst>
              <a:gd name="adj" fmla="val 50000"/>
            </a:avLst>
          </a:prstGeom>
          <a:solidFill>
            <a:srgbClr val="F2ECFF"/>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8" name="8-bit Metal bit 5">
            <a:extLst>
              <a:ext uri="{FF2B5EF4-FFF2-40B4-BE49-F238E27FC236}">
                <a16:creationId xmlns:a16="http://schemas.microsoft.com/office/drawing/2014/main" id="{AECD91B2-B0A0-41C9-A0C6-2D4ACBBAA060}"/>
              </a:ext>
            </a:extLst>
          </p:cNvPr>
          <p:cNvSpPr>
            <a:spLocks noGrp="1"/>
          </p:cNvSpPr>
          <p:nvPr/>
        </p:nvSpPr>
        <p:spPr>
          <a:xfrm>
            <a:off x="5932604" y="2679377"/>
            <a:ext cx="133350" cy="457200"/>
          </a:xfrm>
          <a:prstGeom prst="roundRect">
            <a:avLst>
              <a:gd name="adj" fmla="val 50000"/>
            </a:avLst>
          </a:prstGeom>
          <a:solidFill>
            <a:srgbClr val="7C3AED"/>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9" name="8-bit Metal bit 6">
            <a:extLst>
              <a:ext uri="{FF2B5EF4-FFF2-40B4-BE49-F238E27FC236}">
                <a16:creationId xmlns:a16="http://schemas.microsoft.com/office/drawing/2014/main" id="{02680093-4E48-4CF3-A388-B1BBF57CCDAF}"/>
              </a:ext>
            </a:extLst>
          </p:cNvPr>
          <p:cNvSpPr>
            <a:spLocks noGrp="1"/>
          </p:cNvSpPr>
          <p:nvPr/>
        </p:nvSpPr>
        <p:spPr>
          <a:xfrm>
            <a:off x="6094529" y="2679377"/>
            <a:ext cx="133350" cy="457200"/>
          </a:xfrm>
          <a:prstGeom prst="roundRect">
            <a:avLst>
              <a:gd name="adj" fmla="val 50000"/>
            </a:avLst>
          </a:prstGeom>
          <a:solidFill>
            <a:srgbClr val="F2ECFF"/>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0" name="8-bit Metal bit 7">
            <a:extLst>
              <a:ext uri="{FF2B5EF4-FFF2-40B4-BE49-F238E27FC236}">
                <a16:creationId xmlns:a16="http://schemas.microsoft.com/office/drawing/2014/main" id="{905AF68B-8D81-4E90-B8A6-843B3BF61F61}"/>
              </a:ext>
            </a:extLst>
          </p:cNvPr>
          <p:cNvSpPr>
            <a:spLocks noGrp="1"/>
          </p:cNvSpPr>
          <p:nvPr/>
        </p:nvSpPr>
        <p:spPr>
          <a:xfrm>
            <a:off x="6256454" y="2679377"/>
            <a:ext cx="133350" cy="457200"/>
          </a:xfrm>
          <a:prstGeom prst="roundRect">
            <a:avLst>
              <a:gd name="adj" fmla="val 50000"/>
            </a:avLst>
          </a:prstGeom>
          <a:solidFill>
            <a:srgbClr val="7C3AED"/>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1" name="8-bit Metal bit 8">
            <a:extLst>
              <a:ext uri="{FF2B5EF4-FFF2-40B4-BE49-F238E27FC236}">
                <a16:creationId xmlns:a16="http://schemas.microsoft.com/office/drawing/2014/main" id="{9B73C46B-AD1E-48B0-B902-5BF1905C50D8}"/>
              </a:ext>
            </a:extLst>
          </p:cNvPr>
          <p:cNvSpPr>
            <a:spLocks noGrp="1"/>
          </p:cNvSpPr>
          <p:nvPr/>
        </p:nvSpPr>
        <p:spPr>
          <a:xfrm>
            <a:off x="6418379" y="2679377"/>
            <a:ext cx="133350" cy="457200"/>
          </a:xfrm>
          <a:prstGeom prst="roundRect">
            <a:avLst>
              <a:gd name="adj" fmla="val 50000"/>
            </a:avLst>
          </a:prstGeom>
          <a:solidFill>
            <a:srgbClr val="F2ECFF"/>
          </a:solidFill>
          <a:ln w="7620">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2" name="8-bit Metal relative label">
            <a:extLst>
              <a:ext uri="{FF2B5EF4-FFF2-40B4-BE49-F238E27FC236}">
                <a16:creationId xmlns:a16="http://schemas.microsoft.com/office/drawing/2014/main" id="{A4AD2B85-944B-4F03-8824-667F647D228B}"/>
              </a:ext>
            </a:extLst>
          </p:cNvPr>
          <p:cNvSpPr>
            <a:spLocks noGrp="1"/>
          </p:cNvSpPr>
          <p:nvPr/>
        </p:nvSpPr>
        <p:spPr>
          <a:xfrm>
            <a:off x="4489566" y="3279452"/>
            <a:ext cx="2857500" cy="2286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238" b="1" dirty="0">
                <a:solidFill>
                  <a:srgbClr val="111827"/>
                </a:solidFill>
                <a:latin typeface="Times New Roman" panose="02020603050405020304" pitchFamily="18" charset="0"/>
                <a:ea typeface="Arial"/>
                <a:cs typeface="Times New Roman" panose="02020603050405020304" pitchFamily="18" charset="0"/>
              </a:rPr>
              <a:t>~½ theoretical</a:t>
            </a:r>
          </a:p>
        </p:txBody>
      </p:sp>
      <p:sp>
        <p:nvSpPr>
          <p:cNvPr id="43" name="4-bit Metal heading">
            <a:extLst>
              <a:ext uri="{FF2B5EF4-FFF2-40B4-BE49-F238E27FC236}">
                <a16:creationId xmlns:a16="http://schemas.microsoft.com/office/drawing/2014/main" id="{278F17BD-7916-46A5-B8AC-E96CF3F8216C}"/>
              </a:ext>
            </a:extLst>
          </p:cNvPr>
          <p:cNvSpPr>
            <a:spLocks noGrp="1"/>
          </p:cNvSpPr>
          <p:nvPr/>
        </p:nvSpPr>
        <p:spPr>
          <a:xfrm>
            <a:off x="8442441" y="2060252"/>
            <a:ext cx="2857500" cy="266700"/>
          </a:xfrm>
          <a:prstGeom prst="rect">
            <a:avLst/>
          </a:prstGeom>
          <a:noFill/>
          <a:ln w="0">
            <a:noFill/>
            <a:prstDash val="solid"/>
          </a:ln>
        </p:spPr>
        <p:txBody>
          <a:bodyPr lIns="0" tIns="0" rIns="0" bIns="0" anchor="ctr">
            <a:noAutofit/>
          </a:bodyPr>
          <a:lstStyle/>
          <a:p>
            <a:pPr algn="ctr">
              <a:buNone/>
              <a:defRPr sz="1575" b="1">
                <a:solidFill>
                  <a:srgbClr val="008A72"/>
                </a:solidFill>
                <a:latin typeface="Arial"/>
                <a:ea typeface="Arial"/>
                <a:cs typeface="Arial"/>
              </a:defRPr>
            </a:pPr>
            <a:r>
              <a:rPr sz="1575" b="1" dirty="0">
                <a:solidFill>
                  <a:schemeClr val="tx1">
                    <a:lumMod val="95000"/>
                    <a:lumOff val="5000"/>
                  </a:schemeClr>
                </a:solidFill>
                <a:latin typeface="Times New Roman" panose="02020603050405020304" pitchFamily="18" charset="0"/>
                <a:ea typeface="Arial"/>
                <a:cs typeface="Times New Roman" panose="02020603050405020304" pitchFamily="18" charset="0"/>
              </a:rPr>
              <a:t>4-bit Metal</a:t>
            </a:r>
          </a:p>
        </p:txBody>
      </p:sp>
      <p:sp>
        <p:nvSpPr>
          <p:cNvPr id="44" name="4-bit Metal bit label">
            <a:extLst>
              <a:ext uri="{FF2B5EF4-FFF2-40B4-BE49-F238E27FC236}">
                <a16:creationId xmlns:a16="http://schemas.microsoft.com/office/drawing/2014/main" id="{1DF50F33-C9C1-4EC1-B12B-97CFDAD3F01F}"/>
              </a:ext>
            </a:extLst>
          </p:cNvPr>
          <p:cNvSpPr>
            <a:spLocks noGrp="1"/>
          </p:cNvSpPr>
          <p:nvPr/>
        </p:nvSpPr>
        <p:spPr>
          <a:xfrm>
            <a:off x="8442441" y="2336477"/>
            <a:ext cx="2857500" cy="209550"/>
          </a:xfrm>
          <a:prstGeom prst="rect">
            <a:avLst/>
          </a:prstGeom>
          <a:noFill/>
          <a:ln w="0">
            <a:noFill/>
            <a:prstDash val="solid"/>
          </a:ln>
        </p:spPr>
        <p:txBody>
          <a:bodyPr lIns="0" tIns="0" rIns="0" bIns="0" anchor="ctr">
            <a:noAutofit/>
          </a:bodyPr>
          <a:lstStyle/>
          <a:p>
            <a:pPr algn="ctr">
              <a:buNone/>
              <a:defRPr sz="1088">
                <a:solidFill>
                  <a:srgbClr val="6B7280"/>
                </a:solidFill>
                <a:latin typeface="Arial"/>
                <a:ea typeface="Arial"/>
                <a:cs typeface="Arial"/>
              </a:defRPr>
            </a:pPr>
            <a:r>
              <a:rPr sz="1088" dirty="0">
                <a:solidFill>
                  <a:schemeClr val="tx1">
                    <a:lumMod val="85000"/>
                    <a:lumOff val="15000"/>
                  </a:schemeClr>
                </a:solidFill>
                <a:latin typeface="Times New Roman" panose="02020603050405020304" pitchFamily="18" charset="0"/>
                <a:ea typeface="Arial"/>
                <a:cs typeface="Times New Roman" panose="02020603050405020304" pitchFamily="18" charset="0"/>
              </a:rPr>
              <a:t>4 bits / weight</a:t>
            </a:r>
          </a:p>
        </p:txBody>
      </p:sp>
      <p:sp>
        <p:nvSpPr>
          <p:cNvPr id="45" name="4-bit Metal guide">
            <a:extLst>
              <a:ext uri="{FF2B5EF4-FFF2-40B4-BE49-F238E27FC236}">
                <a16:creationId xmlns:a16="http://schemas.microsoft.com/office/drawing/2014/main" id="{7C02ED2C-1722-4182-8969-904333290626}"/>
              </a:ext>
            </a:extLst>
          </p:cNvPr>
          <p:cNvSpPr>
            <a:spLocks noGrp="1"/>
          </p:cNvSpPr>
          <p:nvPr/>
        </p:nvSpPr>
        <p:spPr>
          <a:xfrm>
            <a:off x="9494954" y="2612702"/>
            <a:ext cx="752475" cy="590550"/>
          </a:xfrm>
          <a:prstGeom prst="roundRect">
            <a:avLst>
              <a:gd name="adj" fmla="val 12903"/>
            </a:avLst>
          </a:prstGeom>
          <a:noFill/>
          <a:ln w="11430">
            <a:solidFill>
              <a:srgbClr val="008A72"/>
            </a:solidFill>
            <a:prstDash val="solid"/>
          </a:ln>
        </p:spPr>
        <p:style>
          <a:lnRef idx="0">
            <a:scrgbClr r="0" g="0" b="0"/>
          </a:lnRef>
          <a:fillRef idx="0">
            <a:scrgbClr r="0" g="0" b="0"/>
          </a:fillRef>
          <a:effectRef idx="4">
            <a:scrgbClr r="0" g="0" b="0"/>
          </a:effectRef>
          <a:fontRef idx="major"/>
        </p:style>
        <p:txBody>
          <a:bodyPr/>
          <a:lstStyle/>
          <a:p>
            <a:endParaRPr lang="en-DE">
              <a:latin typeface="Times New Roman" panose="02020603050405020304" pitchFamily="18" charset="0"/>
              <a:cs typeface="Times New Roman" panose="02020603050405020304" pitchFamily="18" charset="0"/>
            </a:endParaRPr>
          </a:p>
        </p:txBody>
      </p:sp>
      <p:sp>
        <p:nvSpPr>
          <p:cNvPr id="46" name="4-bit Metal bit 1">
            <a:extLst>
              <a:ext uri="{FF2B5EF4-FFF2-40B4-BE49-F238E27FC236}">
                <a16:creationId xmlns:a16="http://schemas.microsoft.com/office/drawing/2014/main" id="{E51B4435-C558-4DCC-9A62-D72F63B7BD0A}"/>
              </a:ext>
            </a:extLst>
          </p:cNvPr>
          <p:cNvSpPr>
            <a:spLocks noGrp="1"/>
          </p:cNvSpPr>
          <p:nvPr/>
        </p:nvSpPr>
        <p:spPr>
          <a:xfrm>
            <a:off x="9561629" y="2679377"/>
            <a:ext cx="133350" cy="457200"/>
          </a:xfrm>
          <a:prstGeom prst="roundRect">
            <a:avLst>
              <a:gd name="adj" fmla="val 50000"/>
            </a:avLst>
          </a:prstGeom>
          <a:solidFill>
            <a:srgbClr val="008A72"/>
          </a:solidFill>
          <a:ln w="7620">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7" name="4-bit Metal bit 2">
            <a:extLst>
              <a:ext uri="{FF2B5EF4-FFF2-40B4-BE49-F238E27FC236}">
                <a16:creationId xmlns:a16="http://schemas.microsoft.com/office/drawing/2014/main" id="{B4966C68-BC7B-4CC5-A268-FD4B0B316B25}"/>
              </a:ext>
            </a:extLst>
          </p:cNvPr>
          <p:cNvSpPr>
            <a:spLocks noGrp="1"/>
          </p:cNvSpPr>
          <p:nvPr/>
        </p:nvSpPr>
        <p:spPr>
          <a:xfrm>
            <a:off x="9723554" y="2679377"/>
            <a:ext cx="133350" cy="457200"/>
          </a:xfrm>
          <a:prstGeom prst="roundRect">
            <a:avLst>
              <a:gd name="adj" fmla="val 50000"/>
            </a:avLst>
          </a:prstGeom>
          <a:solidFill>
            <a:srgbClr val="E8F8F4"/>
          </a:solidFill>
          <a:ln w="7620">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8" name="4-bit Metal bit 3">
            <a:extLst>
              <a:ext uri="{FF2B5EF4-FFF2-40B4-BE49-F238E27FC236}">
                <a16:creationId xmlns:a16="http://schemas.microsoft.com/office/drawing/2014/main" id="{7E048B31-DD05-432F-89A2-8BCD274918C3}"/>
              </a:ext>
            </a:extLst>
          </p:cNvPr>
          <p:cNvSpPr>
            <a:spLocks noGrp="1"/>
          </p:cNvSpPr>
          <p:nvPr/>
        </p:nvSpPr>
        <p:spPr>
          <a:xfrm>
            <a:off x="9885479" y="2679377"/>
            <a:ext cx="133350" cy="457200"/>
          </a:xfrm>
          <a:prstGeom prst="roundRect">
            <a:avLst>
              <a:gd name="adj" fmla="val 50000"/>
            </a:avLst>
          </a:prstGeom>
          <a:solidFill>
            <a:srgbClr val="008A72"/>
          </a:solidFill>
          <a:ln w="7620">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9" name="4-bit Metal bit 4">
            <a:extLst>
              <a:ext uri="{FF2B5EF4-FFF2-40B4-BE49-F238E27FC236}">
                <a16:creationId xmlns:a16="http://schemas.microsoft.com/office/drawing/2014/main" id="{554D44B8-F986-4259-AF65-74B841368819}"/>
              </a:ext>
            </a:extLst>
          </p:cNvPr>
          <p:cNvSpPr>
            <a:spLocks noGrp="1"/>
          </p:cNvSpPr>
          <p:nvPr/>
        </p:nvSpPr>
        <p:spPr>
          <a:xfrm>
            <a:off x="10047404" y="2679377"/>
            <a:ext cx="133350" cy="457200"/>
          </a:xfrm>
          <a:prstGeom prst="roundRect">
            <a:avLst>
              <a:gd name="adj" fmla="val 50000"/>
            </a:avLst>
          </a:prstGeom>
          <a:solidFill>
            <a:srgbClr val="E8F8F4"/>
          </a:solidFill>
          <a:ln w="7620">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50" name="4-bit Metal relative label">
            <a:extLst>
              <a:ext uri="{FF2B5EF4-FFF2-40B4-BE49-F238E27FC236}">
                <a16:creationId xmlns:a16="http://schemas.microsoft.com/office/drawing/2014/main" id="{E9743C13-CC9C-4DDF-985C-0A7A705103C8}"/>
              </a:ext>
            </a:extLst>
          </p:cNvPr>
          <p:cNvSpPr>
            <a:spLocks noGrp="1"/>
          </p:cNvSpPr>
          <p:nvPr/>
        </p:nvSpPr>
        <p:spPr>
          <a:xfrm>
            <a:off x="8442441" y="3279452"/>
            <a:ext cx="2857500" cy="228600"/>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400" b="1" dirty="0">
                <a:solidFill>
                  <a:srgbClr val="111827"/>
                </a:solidFill>
                <a:latin typeface="Times New Roman" panose="02020603050405020304" pitchFamily="18" charset="0"/>
                <a:ea typeface="Arial"/>
                <a:cs typeface="Times New Roman" panose="02020603050405020304" pitchFamily="18" charset="0"/>
              </a:rPr>
              <a:t>~¼ theoretical</a:t>
            </a:r>
          </a:p>
        </p:txBody>
      </p:sp>
      <p:sp>
        <p:nvSpPr>
          <p:cNvPr id="51" name="SANZI precision modes">
            <a:extLst>
              <a:ext uri="{FF2B5EF4-FFF2-40B4-BE49-F238E27FC236}">
                <a16:creationId xmlns:a16="http://schemas.microsoft.com/office/drawing/2014/main" id="{8893A8C0-1F3B-455C-9132-362550588072}"/>
              </a:ext>
            </a:extLst>
          </p:cNvPr>
          <p:cNvSpPr>
            <a:spLocks noGrp="1"/>
          </p:cNvSpPr>
          <p:nvPr/>
        </p:nvSpPr>
        <p:spPr>
          <a:xfrm>
            <a:off x="-3316171" y="3654193"/>
            <a:ext cx="11144250" cy="228600"/>
          </a:xfrm>
          <a:prstGeom prst="rect">
            <a:avLst/>
          </a:prstGeom>
          <a:noFill/>
          <a:ln w="0">
            <a:noFill/>
            <a:prstDash val="solid"/>
          </a:ln>
        </p:spPr>
        <p:txBody>
          <a:bodyPr lIns="0" tIns="0" rIns="0" bIns="0" anchor="ctr">
            <a:noAutofit/>
          </a:bodyPr>
          <a:lstStyle/>
          <a:p>
            <a:pPr algn="ctr">
              <a:buNone/>
              <a:defRPr sz="1163" b="1">
                <a:solidFill>
                  <a:srgbClr val="2563A8"/>
                </a:solidFill>
                <a:latin typeface="Arial"/>
                <a:ea typeface="Arial"/>
                <a:cs typeface="Arial"/>
              </a:defRPr>
            </a:pPr>
            <a:r>
              <a:rPr sz="1163" b="1" dirty="0">
                <a:solidFill>
                  <a:srgbClr val="2563A8"/>
                </a:solidFill>
                <a:latin typeface="Times New Roman" panose="02020603050405020304" pitchFamily="18" charset="0"/>
                <a:ea typeface="Arial"/>
                <a:cs typeface="Times New Roman" panose="02020603050405020304" pitchFamily="18" charset="0"/>
              </a:rPr>
              <a:t>SANZI MODES    FP16   ·   8-bit Metal   ·   4-bit Metal</a:t>
            </a:r>
          </a:p>
        </p:txBody>
      </p:sp>
      <p:sp>
        <p:nvSpPr>
          <p:cNvPr id="53" name="Why it matters heading">
            <a:extLst>
              <a:ext uri="{FF2B5EF4-FFF2-40B4-BE49-F238E27FC236}">
                <a16:creationId xmlns:a16="http://schemas.microsoft.com/office/drawing/2014/main" id="{29C9C0E0-48B5-4F9D-A21F-0B28B17E6FCA}"/>
              </a:ext>
            </a:extLst>
          </p:cNvPr>
          <p:cNvSpPr>
            <a:spLocks noGrp="1"/>
          </p:cNvSpPr>
          <p:nvPr/>
        </p:nvSpPr>
        <p:spPr>
          <a:xfrm>
            <a:off x="631941" y="4271128"/>
            <a:ext cx="4000500" cy="228600"/>
          </a:xfrm>
          <a:prstGeom prst="rect">
            <a:avLst/>
          </a:prstGeom>
          <a:noFill/>
          <a:ln w="0">
            <a:noFill/>
            <a:prstDash val="solid"/>
          </a:ln>
        </p:spPr>
        <p:txBody>
          <a:bodyPr lIns="0" tIns="0" rIns="0" bIns="0" anchor="ctr">
            <a:noAutofit/>
          </a:bodyPr>
          <a:lstStyle/>
          <a:p>
            <a:pPr algn="l">
              <a:buNone/>
              <a:defRPr sz="1238" b="1">
                <a:solidFill>
                  <a:srgbClr val="008A72"/>
                </a:solidFill>
                <a:latin typeface="Arial"/>
                <a:ea typeface="Arial"/>
                <a:cs typeface="Arial"/>
              </a:defRPr>
            </a:pPr>
            <a:r>
              <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WHY IT MATTERS FOR SANZI</a:t>
            </a:r>
          </a:p>
        </p:txBody>
      </p:sp>
      <p:sp>
        <p:nvSpPr>
          <p:cNvPr id="54" name="M1 memory badge">
            <a:extLst>
              <a:ext uri="{FF2B5EF4-FFF2-40B4-BE49-F238E27FC236}">
                <a16:creationId xmlns:a16="http://schemas.microsoft.com/office/drawing/2014/main" id="{2ED2E2FA-37D3-4CD6-8BA7-58735FD54D74}"/>
              </a:ext>
            </a:extLst>
          </p:cNvPr>
          <p:cNvSpPr>
            <a:spLocks noGrp="1"/>
          </p:cNvSpPr>
          <p:nvPr/>
        </p:nvSpPr>
        <p:spPr>
          <a:xfrm>
            <a:off x="631941" y="4670102"/>
            <a:ext cx="838200" cy="838200"/>
          </a:xfrm>
          <a:prstGeom prst="ellipse">
            <a:avLst/>
          </a:prstGeom>
          <a:solidFill>
            <a:srgbClr val="FFF7ED"/>
          </a:solidFill>
          <a:ln w="14288">
            <a:solidFill>
              <a:schemeClr val="tx1"/>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55" name="M1 memory badge text">
            <a:extLst>
              <a:ext uri="{FF2B5EF4-FFF2-40B4-BE49-F238E27FC236}">
                <a16:creationId xmlns:a16="http://schemas.microsoft.com/office/drawing/2014/main" id="{BA84ADCD-BE9F-4555-8B3D-4CF96FD015D4}"/>
              </a:ext>
            </a:extLst>
          </p:cNvPr>
          <p:cNvSpPr>
            <a:spLocks noGrp="1"/>
          </p:cNvSpPr>
          <p:nvPr/>
        </p:nvSpPr>
        <p:spPr>
          <a:xfrm>
            <a:off x="679566" y="4698677"/>
            <a:ext cx="742950" cy="762000"/>
          </a:xfrm>
          <a:prstGeom prst="rect">
            <a:avLst/>
          </a:prstGeom>
          <a:noFill/>
          <a:ln w="0">
            <a:noFill/>
            <a:prstDash val="solid"/>
          </a:ln>
        </p:spPr>
        <p:txBody>
          <a:bodyPr lIns="0" tIns="0" rIns="0" bIns="0" anchor="ctr">
            <a:noAutofit/>
          </a:bodyPr>
          <a:lstStyle/>
          <a:p>
            <a:pPr algn="ctr">
              <a:buNone/>
              <a:defRPr sz="1500" b="1">
                <a:solidFill>
                  <a:srgbClr val="D97706"/>
                </a:solidFill>
                <a:latin typeface="Arial"/>
                <a:ea typeface="Arial"/>
                <a:cs typeface="Arial"/>
              </a:defRPr>
            </a:pPr>
            <a:r>
              <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M1</a:t>
            </a:r>
          </a:p>
          <a:p>
            <a:pPr algn="ctr">
              <a:buNone/>
              <a:defRPr sz="1500" b="1">
                <a:solidFill>
                  <a:srgbClr val="D97706"/>
                </a:solidFill>
                <a:latin typeface="Arial"/>
                <a:ea typeface="Arial"/>
                <a:cs typeface="Arial"/>
              </a:defRPr>
            </a:pPr>
            <a:r>
              <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8 GB</a:t>
            </a:r>
          </a:p>
        </p:txBody>
      </p:sp>
      <p:sp>
        <p:nvSpPr>
          <p:cNvPr id="56" name="Unified memory marker">
            <a:extLst>
              <a:ext uri="{FF2B5EF4-FFF2-40B4-BE49-F238E27FC236}">
                <a16:creationId xmlns:a16="http://schemas.microsoft.com/office/drawing/2014/main" id="{431888F1-D935-4027-BAD2-EB4CBD57B214}"/>
              </a:ext>
            </a:extLst>
          </p:cNvPr>
          <p:cNvSpPr>
            <a:spLocks noGrp="1"/>
          </p:cNvSpPr>
          <p:nvPr/>
        </p:nvSpPr>
        <p:spPr>
          <a:xfrm>
            <a:off x="1670166" y="4584377"/>
            <a:ext cx="57150" cy="171450"/>
          </a:xfrm>
          <a:prstGeom prst="roundRect">
            <a:avLst>
              <a:gd name="adj" fmla="val 50000"/>
            </a:avLst>
          </a:prstGeom>
          <a:solidFill>
            <a:schemeClr val="tx1">
              <a:lumMod val="50000"/>
              <a:lumOff val="50000"/>
            </a:schemeClr>
          </a:solidFill>
          <a:ln w="0">
            <a:noFill/>
            <a:prstDash val="solid"/>
          </a:ln>
        </p:spPr>
        <p:txBody>
          <a:bodyPr/>
          <a:lstStyle/>
          <a:p>
            <a:endParaRPr lang="en-DE">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7" name="Unified memory text">
            <a:extLst>
              <a:ext uri="{FF2B5EF4-FFF2-40B4-BE49-F238E27FC236}">
                <a16:creationId xmlns:a16="http://schemas.microsoft.com/office/drawing/2014/main" id="{5EA68D60-F7CF-4025-9494-C13566E73D57}"/>
              </a:ext>
            </a:extLst>
          </p:cNvPr>
          <p:cNvSpPr>
            <a:spLocks noGrp="1"/>
          </p:cNvSpPr>
          <p:nvPr/>
        </p:nvSpPr>
        <p:spPr>
          <a:xfrm>
            <a:off x="1841616" y="4508177"/>
            <a:ext cx="3857625" cy="323850"/>
          </a:xfrm>
          <a:prstGeom prst="rect">
            <a:avLst/>
          </a:prstGeom>
          <a:noFill/>
          <a:ln w="0">
            <a:noFill/>
            <a:prstDash val="solid"/>
          </a:ln>
        </p:spPr>
        <p:txBody>
          <a:bodyPr lIns="0" tIns="0" rIns="0" bIns="0" anchor="ctr">
            <a:noAutofit/>
          </a:bodyPr>
          <a:lstStyle/>
          <a:p>
            <a:pPr algn="l">
              <a:buNone/>
              <a:defRPr sz="1238">
                <a:solidFill>
                  <a:srgbClr val="374151"/>
                </a:solidFill>
                <a:latin typeface="Arial"/>
                <a:ea typeface="Arial"/>
                <a:cs typeface="Arial"/>
              </a:defRPr>
            </a:pPr>
            <a:r>
              <a:rPr sz="1400" dirty="0">
                <a:solidFill>
                  <a:schemeClr val="tx1">
                    <a:lumMod val="95000"/>
                    <a:lumOff val="5000"/>
                  </a:schemeClr>
                </a:solidFill>
                <a:latin typeface="Times New Roman" panose="02020603050405020304" pitchFamily="18" charset="0"/>
                <a:ea typeface="Arial"/>
                <a:cs typeface="Times New Roman" panose="02020603050405020304" pitchFamily="18" charset="0"/>
              </a:rPr>
              <a:t>MacBook Air M1 with 8 GB unified memory</a:t>
            </a:r>
          </a:p>
        </p:txBody>
      </p:sp>
      <p:sp>
        <p:nvSpPr>
          <p:cNvPr id="58" name="Lower pressure marker">
            <a:extLst>
              <a:ext uri="{FF2B5EF4-FFF2-40B4-BE49-F238E27FC236}">
                <a16:creationId xmlns:a16="http://schemas.microsoft.com/office/drawing/2014/main" id="{A4E75C6F-AAD5-4189-A6C0-2EA76AD1D6C3}"/>
              </a:ext>
            </a:extLst>
          </p:cNvPr>
          <p:cNvSpPr>
            <a:spLocks noGrp="1"/>
          </p:cNvSpPr>
          <p:nvPr/>
        </p:nvSpPr>
        <p:spPr>
          <a:xfrm>
            <a:off x="1670166" y="4965377"/>
            <a:ext cx="57150" cy="171450"/>
          </a:xfrm>
          <a:prstGeom prst="roundRect">
            <a:avLst>
              <a:gd name="adj" fmla="val 50000"/>
            </a:avLst>
          </a:prstGeom>
          <a:solidFill>
            <a:schemeClr val="tx1">
              <a:lumMod val="50000"/>
              <a:lumOff val="50000"/>
            </a:schemeClr>
          </a:solidFill>
          <a:ln w="0">
            <a:noFill/>
            <a:prstDash val="solid"/>
          </a:ln>
        </p:spPr>
        <p:txBody>
          <a:bodyPr/>
          <a:lstStyle/>
          <a:p>
            <a:endParaRPr lang="en-DE">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9" name="Lower pressure text">
            <a:extLst>
              <a:ext uri="{FF2B5EF4-FFF2-40B4-BE49-F238E27FC236}">
                <a16:creationId xmlns:a16="http://schemas.microsoft.com/office/drawing/2014/main" id="{F26E9936-D29F-448D-A9AE-248E6307FA4D}"/>
              </a:ext>
            </a:extLst>
          </p:cNvPr>
          <p:cNvSpPr>
            <a:spLocks noGrp="1"/>
          </p:cNvSpPr>
          <p:nvPr/>
        </p:nvSpPr>
        <p:spPr>
          <a:xfrm>
            <a:off x="1841616" y="4889177"/>
            <a:ext cx="4548188" cy="323850"/>
          </a:xfrm>
          <a:prstGeom prst="rect">
            <a:avLst/>
          </a:prstGeom>
          <a:noFill/>
          <a:ln w="0">
            <a:noFill/>
            <a:prstDash val="solid"/>
          </a:ln>
        </p:spPr>
        <p:txBody>
          <a:bodyPr lIns="0" tIns="0" rIns="0" bIns="0" anchor="ctr">
            <a:noAutofit/>
          </a:bodyPr>
          <a:lstStyle/>
          <a:p>
            <a:pPr algn="l">
              <a:buNone/>
              <a:defRPr sz="1238">
                <a:solidFill>
                  <a:srgbClr val="374151"/>
                </a:solidFill>
                <a:latin typeface="Arial"/>
                <a:ea typeface="Arial"/>
                <a:cs typeface="Arial"/>
              </a:defRPr>
            </a:pPr>
            <a:r>
              <a:rPr sz="1400" dirty="0">
                <a:solidFill>
                  <a:schemeClr val="tx1">
                    <a:lumMod val="95000"/>
                    <a:lumOff val="5000"/>
                  </a:schemeClr>
                </a:solidFill>
                <a:latin typeface="Times New Roman" panose="02020603050405020304" pitchFamily="18" charset="0"/>
                <a:ea typeface="Arial"/>
                <a:cs typeface="Times New Roman" panose="02020603050405020304" pitchFamily="18" charset="0"/>
              </a:rPr>
              <a:t>Lower-bit weights reduce pressure on limited shared memory</a:t>
            </a:r>
          </a:p>
        </p:txBody>
      </p:sp>
      <p:sp>
        <p:nvSpPr>
          <p:cNvPr id="60" name="Runtime headroom marker">
            <a:extLst>
              <a:ext uri="{FF2B5EF4-FFF2-40B4-BE49-F238E27FC236}">
                <a16:creationId xmlns:a16="http://schemas.microsoft.com/office/drawing/2014/main" id="{608A7E68-8BB5-4D6F-8027-509ED00ECF35}"/>
              </a:ext>
            </a:extLst>
          </p:cNvPr>
          <p:cNvSpPr>
            <a:spLocks noGrp="1"/>
          </p:cNvSpPr>
          <p:nvPr/>
        </p:nvSpPr>
        <p:spPr>
          <a:xfrm>
            <a:off x="1670166" y="5346377"/>
            <a:ext cx="57150" cy="171450"/>
          </a:xfrm>
          <a:prstGeom prst="roundRect">
            <a:avLst>
              <a:gd name="adj" fmla="val 50000"/>
            </a:avLst>
          </a:prstGeom>
          <a:solidFill>
            <a:schemeClr val="tx1">
              <a:lumMod val="50000"/>
              <a:lumOff val="50000"/>
            </a:schemeClr>
          </a:solidFill>
          <a:ln w="0">
            <a:noFill/>
            <a:prstDash val="solid"/>
          </a:ln>
        </p:spPr>
        <p:txBody>
          <a:bodyPr/>
          <a:lstStyle/>
          <a:p>
            <a:endParaRPr lang="en-DE">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1" name="Runtime headroom text">
            <a:extLst>
              <a:ext uri="{FF2B5EF4-FFF2-40B4-BE49-F238E27FC236}">
                <a16:creationId xmlns:a16="http://schemas.microsoft.com/office/drawing/2014/main" id="{1330C4E7-FA31-4F08-B694-9EFB9EC08893}"/>
              </a:ext>
            </a:extLst>
          </p:cNvPr>
          <p:cNvSpPr>
            <a:spLocks noGrp="1"/>
          </p:cNvSpPr>
          <p:nvPr/>
        </p:nvSpPr>
        <p:spPr>
          <a:xfrm>
            <a:off x="1841616" y="5270177"/>
            <a:ext cx="4386263" cy="323850"/>
          </a:xfrm>
          <a:prstGeom prst="rect">
            <a:avLst/>
          </a:prstGeom>
          <a:noFill/>
          <a:ln w="0">
            <a:noFill/>
            <a:prstDash val="solid"/>
          </a:ln>
        </p:spPr>
        <p:txBody>
          <a:bodyPr lIns="0" tIns="0" rIns="0" bIns="0" anchor="ctr">
            <a:noAutofit/>
          </a:bodyPr>
          <a:lstStyle/>
          <a:p>
            <a:pPr algn="l">
              <a:buNone/>
              <a:defRPr sz="1238">
                <a:solidFill>
                  <a:srgbClr val="374151"/>
                </a:solidFill>
                <a:latin typeface="Arial"/>
                <a:ea typeface="Arial"/>
                <a:cs typeface="Arial"/>
              </a:defRPr>
            </a:pPr>
            <a:r>
              <a:rPr sz="1400" dirty="0">
                <a:solidFill>
                  <a:schemeClr val="tx1">
                    <a:lumMod val="95000"/>
                    <a:lumOff val="5000"/>
                  </a:schemeClr>
                </a:solidFill>
                <a:latin typeface="Times New Roman" panose="02020603050405020304" pitchFamily="18" charset="0"/>
                <a:ea typeface="Arial"/>
                <a:cs typeface="Times New Roman" panose="02020603050405020304" pitchFamily="18" charset="0"/>
              </a:rPr>
              <a:t>More memory remains for runtime and conversation context</a:t>
            </a:r>
          </a:p>
        </p:txBody>
      </p:sp>
      <p:sp>
        <p:nvSpPr>
          <p:cNvPr id="69" name="Accuracy footnote">
            <a:extLst>
              <a:ext uri="{FF2B5EF4-FFF2-40B4-BE49-F238E27FC236}">
                <a16:creationId xmlns:a16="http://schemas.microsoft.com/office/drawing/2014/main" id="{A2CE1261-9B66-4781-9FBD-53FE4C0A4A38}"/>
              </a:ext>
            </a:extLst>
          </p:cNvPr>
          <p:cNvSpPr>
            <a:spLocks noGrp="1"/>
          </p:cNvSpPr>
          <p:nvPr/>
        </p:nvSpPr>
        <p:spPr>
          <a:xfrm>
            <a:off x="105066" y="6034073"/>
            <a:ext cx="12086934" cy="381000"/>
          </a:xfrm>
          <a:prstGeom prst="rect">
            <a:avLst/>
          </a:prstGeom>
          <a:noFill/>
          <a:ln w="0">
            <a:noFill/>
            <a:prstDash val="solid"/>
          </a:ln>
        </p:spPr>
        <p:txBody>
          <a:bodyPr lIns="0" tIns="0" rIns="0" bIns="0" anchor="ctr">
            <a:noAutofit/>
          </a:bodyPr>
          <a:lstStyle/>
          <a:p>
            <a:pPr algn="ctr">
              <a:buNone/>
              <a:defRPr sz="975">
                <a:solidFill>
                  <a:srgbClr val="6B7280"/>
                </a:solidFill>
                <a:latin typeface="Arial"/>
                <a:ea typeface="Arial"/>
                <a:cs typeface="Arial"/>
              </a:defRPr>
            </a:pPr>
            <a:r>
              <a:rPr lang="en-GB" sz="1400" b="1" i="1" dirty="0">
                <a:solidFill>
                  <a:schemeClr val="tx1">
                    <a:lumMod val="95000"/>
                    <a:lumOff val="5000"/>
                  </a:schemeClr>
                </a:solidFill>
                <a:latin typeface="Times New Roman" panose="02020603050405020304" pitchFamily="18" charset="0"/>
                <a:cs typeface="Times New Roman" panose="02020603050405020304" pitchFamily="18" charset="0"/>
              </a:rPr>
              <a:t>Values show theoretical weight memory only; actual runtime memory also includes metadata, activations, context and framework overhead.</a:t>
            </a:r>
            <a:endParaRPr sz="1100" b="1" i="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3" name="Architecture takeaway band">
            <a:extLst>
              <a:ext uri="{FF2B5EF4-FFF2-40B4-BE49-F238E27FC236}">
                <a16:creationId xmlns:a16="http://schemas.microsoft.com/office/drawing/2014/main" id="{A71917DF-D6B8-DFFF-B4F5-432DEB1E7E72}"/>
              </a:ext>
            </a:extLst>
          </p:cNvPr>
          <p:cNvSpPr>
            <a:spLocks noGrp="1"/>
          </p:cNvSpPr>
          <p:nvPr/>
        </p:nvSpPr>
        <p:spPr>
          <a:xfrm>
            <a:off x="476250" y="6000750"/>
            <a:ext cx="11144250" cy="438150"/>
          </a:xfrm>
          <a:prstGeom prst="roundRect">
            <a:avLst>
              <a:gd name="adj" fmla="val 19048"/>
            </a:avLst>
          </a:prstGeom>
          <a:noFill/>
          <a:ln w="10478">
            <a:solidFill>
              <a:srgbClr val="CAD9EA"/>
            </a:solidFill>
            <a:prstDash val="solid"/>
          </a:ln>
        </p:spPr>
        <p:txBody>
          <a:bodyPr/>
          <a:lstStyle/>
          <a:p>
            <a:endParaRPr lang="en-DE">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A71BD76-5F1D-1ED2-7680-B46A26E9D3EA}"/>
              </a:ext>
            </a:extLst>
          </p:cNvPr>
          <p:cNvGraphicFramePr>
            <a:graphicFrameLocks noGrp="1"/>
          </p:cNvGraphicFramePr>
          <p:nvPr>
            <p:extLst>
              <p:ext uri="{D42A27DB-BD31-4B8C-83A1-F6EECF244321}">
                <p14:modId xmlns:p14="http://schemas.microsoft.com/office/powerpoint/2010/main" val="3327583414"/>
              </p:ext>
            </p:extLst>
          </p:nvPr>
        </p:nvGraphicFramePr>
        <p:xfrm>
          <a:off x="7064608" y="4272723"/>
          <a:ext cx="4509144" cy="1584960"/>
        </p:xfrm>
        <a:graphic>
          <a:graphicData uri="http://schemas.openxmlformats.org/drawingml/2006/table">
            <a:tbl>
              <a:tblPr>
                <a:tableStyleId>{35758FB7-9AC5-4552-8A53-C91805E547FA}</a:tableStyleId>
              </a:tblPr>
              <a:tblGrid>
                <a:gridCol w="1503048">
                  <a:extLst>
                    <a:ext uri="{9D8B030D-6E8A-4147-A177-3AD203B41FA5}">
                      <a16:colId xmlns:a16="http://schemas.microsoft.com/office/drawing/2014/main" val="1015944518"/>
                    </a:ext>
                  </a:extLst>
                </a:gridCol>
                <a:gridCol w="1503048">
                  <a:extLst>
                    <a:ext uri="{9D8B030D-6E8A-4147-A177-3AD203B41FA5}">
                      <a16:colId xmlns:a16="http://schemas.microsoft.com/office/drawing/2014/main" val="1265676955"/>
                    </a:ext>
                  </a:extLst>
                </a:gridCol>
                <a:gridCol w="1503048">
                  <a:extLst>
                    <a:ext uri="{9D8B030D-6E8A-4147-A177-3AD203B41FA5}">
                      <a16:colId xmlns:a16="http://schemas.microsoft.com/office/drawing/2014/main" val="3035946491"/>
                    </a:ext>
                  </a:extLst>
                </a:gridCol>
              </a:tblGrid>
              <a:tr h="290748">
                <a:tc>
                  <a:txBody>
                    <a:bodyPr/>
                    <a:lstStyle/>
                    <a:p>
                      <a:pPr>
                        <a:buNone/>
                      </a:pPr>
                      <a:r>
                        <a:rPr lang="en-DE" sz="1600" dirty="0">
                          <a:solidFill>
                            <a:schemeClr val="tx1">
                              <a:lumMod val="95000"/>
                              <a:lumOff val="5000"/>
                            </a:schemeClr>
                          </a:solidFill>
                        </a:rPr>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Llama 1B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Qwen 0.5B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626709"/>
                  </a:ext>
                </a:extLst>
              </a:tr>
              <a:tr h="502200">
                <a:tc>
                  <a:txBody>
                    <a:bodyPr/>
                    <a:lstStyle/>
                    <a:p>
                      <a:pPr>
                        <a:buNone/>
                      </a:pPr>
                      <a:r>
                        <a:rPr lang="en-DE" sz="1600" dirty="0">
                          <a:solidFill>
                            <a:schemeClr val="tx1">
                              <a:lumMod val="95000"/>
                              <a:lumOff val="5000"/>
                            </a:schemeClr>
                          </a:solidFill>
                        </a:rPr>
                        <a:t>FP16 (Baseline)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~2.0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~1.0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1090252"/>
                  </a:ext>
                </a:extLst>
              </a:tr>
              <a:tr h="290748">
                <a:tc>
                  <a:txBody>
                    <a:bodyPr/>
                    <a:lstStyle/>
                    <a:p>
                      <a:pPr>
                        <a:buNone/>
                      </a:pPr>
                      <a:r>
                        <a:rPr lang="en-DE" sz="1600" dirty="0">
                          <a:solidFill>
                            <a:schemeClr val="tx1">
                              <a:lumMod val="95000"/>
                              <a:lumOff val="5000"/>
                            </a:schemeClr>
                          </a:solidFill>
                        </a:rPr>
                        <a:t>8-bit Metal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~1.0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a:solidFill>
                            <a:schemeClr val="tx1">
                              <a:lumMod val="95000"/>
                              <a:lumOff val="5000"/>
                            </a:schemeClr>
                          </a:solidFill>
                        </a:rPr>
                        <a:t>~0.5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9067368"/>
                  </a:ext>
                </a:extLst>
              </a:tr>
              <a:tr h="290748">
                <a:tc>
                  <a:txBody>
                    <a:bodyPr/>
                    <a:lstStyle/>
                    <a:p>
                      <a:pPr>
                        <a:buNone/>
                      </a:pPr>
                      <a:r>
                        <a:rPr lang="en-DE" sz="1600" dirty="0">
                          <a:solidFill>
                            <a:schemeClr val="tx1">
                              <a:lumMod val="95000"/>
                              <a:lumOff val="5000"/>
                            </a:schemeClr>
                          </a:solidFill>
                        </a:rPr>
                        <a:t>4-bit Metal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~0.5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buNone/>
                      </a:pPr>
                      <a:r>
                        <a:rPr lang="en-DE" sz="1600" dirty="0">
                          <a:solidFill>
                            <a:schemeClr val="tx1">
                              <a:lumMod val="95000"/>
                              <a:lumOff val="5000"/>
                            </a:schemeClr>
                          </a:solidFill>
                        </a:rPr>
                        <a:t>~0.25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6853914"/>
                  </a:ext>
                </a:extLst>
              </a:tr>
            </a:tbl>
          </a:graphicData>
        </a:graphic>
      </p:graphicFrame>
      <p:sp>
        <p:nvSpPr>
          <p:cNvPr id="70" name="Two Local Models card">
            <a:extLst>
              <a:ext uri="{FF2B5EF4-FFF2-40B4-BE49-F238E27FC236}">
                <a16:creationId xmlns:a16="http://schemas.microsoft.com/office/drawing/2014/main" id="{FE344A9C-35D3-EA65-CD59-7EDF18B3C984}"/>
              </a:ext>
            </a:extLst>
          </p:cNvPr>
          <p:cNvSpPr>
            <a:spLocks noGrp="1"/>
          </p:cNvSpPr>
          <p:nvPr/>
        </p:nvSpPr>
        <p:spPr>
          <a:xfrm>
            <a:off x="476250" y="4165277"/>
            <a:ext cx="5942129" cy="1692406"/>
          </a:xfrm>
          <a:prstGeom prst="roundRect">
            <a:avLst>
              <a:gd name="adj" fmla="val 4167"/>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72" name="TextBox 71">
            <a:extLst>
              <a:ext uri="{FF2B5EF4-FFF2-40B4-BE49-F238E27FC236}">
                <a16:creationId xmlns:a16="http://schemas.microsoft.com/office/drawing/2014/main" id="{95948750-AECA-5442-A903-A65263296A26}"/>
              </a:ext>
            </a:extLst>
          </p:cNvPr>
          <p:cNvSpPr txBox="1"/>
          <p:nvPr/>
        </p:nvSpPr>
        <p:spPr>
          <a:xfrm>
            <a:off x="7153529" y="3840458"/>
            <a:ext cx="4949550" cy="338554"/>
          </a:xfrm>
          <a:prstGeom prst="rect">
            <a:avLst/>
          </a:prstGeom>
          <a:noFill/>
        </p:spPr>
        <p:txBody>
          <a:bodyPr wrap="square">
            <a:spAutoFit/>
          </a:bodyPr>
          <a:lstStyle/>
          <a:p>
            <a:r>
              <a:rPr lang="en-DE" sz="1600" dirty="0">
                <a:latin typeface="Times New Roman" panose="02020603050405020304" pitchFamily="18" charset="0"/>
                <a:cs typeface="Times New Roman" panose="02020603050405020304" pitchFamily="18" charset="0"/>
              </a:rPr>
              <a:t>THEORETICAL WEIGHT MEMORY IN SANZI</a:t>
            </a:r>
          </a:p>
        </p:txBody>
      </p:sp>
      <p:sp>
        <p:nvSpPr>
          <p:cNvPr id="73" name="Two Local Models card">
            <a:extLst>
              <a:ext uri="{FF2B5EF4-FFF2-40B4-BE49-F238E27FC236}">
                <a16:creationId xmlns:a16="http://schemas.microsoft.com/office/drawing/2014/main" id="{5393AAD6-C9C9-C4BA-E417-37B330668EEC}"/>
              </a:ext>
            </a:extLst>
          </p:cNvPr>
          <p:cNvSpPr>
            <a:spLocks noGrp="1"/>
          </p:cNvSpPr>
          <p:nvPr/>
        </p:nvSpPr>
        <p:spPr>
          <a:xfrm>
            <a:off x="7064608" y="3847869"/>
            <a:ext cx="4509144" cy="352332"/>
          </a:xfrm>
          <a:prstGeom prst="roundRect">
            <a:avLst>
              <a:gd name="adj" fmla="val 4167"/>
            </a:avLst>
          </a:prstGeom>
          <a:noFill/>
          <a:ln w="11906">
            <a:solidFill>
              <a:srgbClr val="D7DEE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800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Context memory control">
            <a:extLst>
              <a:ext uri="{FF2B5EF4-FFF2-40B4-BE49-F238E27FC236}">
                <a16:creationId xmlns:a16="http://schemas.microsoft.com/office/drawing/2014/main" id="{FE78DB4A-3352-5A57-C47D-5C265E6285E2}"/>
              </a:ext>
            </a:extLst>
          </p:cNvPr>
          <p:cNvSpPr>
            <a:spLocks noGrp="1"/>
          </p:cNvSpPr>
          <p:nvPr/>
        </p:nvSpPr>
        <p:spPr>
          <a:xfrm>
            <a:off x="334649" y="1885949"/>
            <a:ext cx="11539833" cy="3377907"/>
          </a:xfrm>
          <a:prstGeom prst="roundRect">
            <a:avLst>
              <a:gd name="adj" fmla="val 5797"/>
            </a:avLst>
          </a:prstGeom>
          <a:solidFill>
            <a:schemeClr val="bg2">
              <a:lumMod val="90000"/>
            </a:schemeClr>
          </a:solidFill>
          <a:ln w="11430">
            <a:solidFill>
              <a:srgbClr val="BFE7DE"/>
            </a:solidFill>
            <a:prstDash val="solid"/>
          </a:ln>
        </p:spPr>
        <p:txBody>
          <a:bodyPr/>
          <a:lstStyle/>
          <a:p>
            <a:endParaRPr lang="en-DE" sz="1100" dirty="0">
              <a:latin typeface="Times New Roman" panose="02020603050405020304" pitchFamily="18" charset="0"/>
              <a:cs typeface="Times New Roman" panose="02020603050405020304" pitchFamily="18" charset="0"/>
            </a:endParaRPr>
          </a:p>
        </p:txBody>
      </p:sp>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9429750" cy="571500"/>
          </a:xfrm>
        </p:spPr>
        <p:txBody>
          <a:bodyPr lIns="0" tIns="0" rIns="0" bIns="0" anchor="t">
            <a:noAutofit/>
          </a:bodyPr>
          <a:lstStyle/>
          <a:p>
            <a:pPr marL="0" indent="0" algn="l">
              <a:buNone/>
              <a:defRPr sz="285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MAKING LOCAL INFERENCE WORK ON 8 GB</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D3D7D1C8-AE23-AA48-DF65-C742588DBE47}" type="slidenum">
              <a:rPr>
                <a:latin typeface="Times New Roman" panose="02020603050405020304" pitchFamily="18" charset="0"/>
                <a:cs typeface="Times New Roman" panose="02020603050405020304" pitchFamily="18" charset="0"/>
              </a:rPr>
              <a:t>7</a:t>
            </a:fld>
            <a:endParaRPr>
              <a:latin typeface="Times New Roman" panose="02020603050405020304" pitchFamily="18" charset="0"/>
              <a:cs typeface="Times New Roman" panose="02020603050405020304" pitchFamily="18" charset="0"/>
            </a:endParaRPr>
          </a:p>
        </p:txBody>
      </p:sp>
      <p:sp>
        <p:nvSpPr>
          <p:cNvPr id="14" name="Unified memory constraint">
            <a:extLst>
              <a:ext uri="{FF2B5EF4-FFF2-40B4-BE49-F238E27FC236}">
                <a16:creationId xmlns:a16="http://schemas.microsoft.com/office/drawing/2014/main" id="{51D97A9F-928C-4270-9A30-DAC1E055DC70}"/>
              </a:ext>
            </a:extLst>
          </p:cNvPr>
          <p:cNvSpPr>
            <a:spLocks noGrp="1"/>
          </p:cNvSpPr>
          <p:nvPr/>
        </p:nvSpPr>
        <p:spPr>
          <a:xfrm>
            <a:off x="314685" y="1045054"/>
            <a:ext cx="11559797" cy="781050"/>
          </a:xfrm>
          <a:prstGeom prst="roundRect">
            <a:avLst>
              <a:gd name="adj" fmla="val 9756"/>
            </a:avLst>
          </a:prstGeom>
          <a:noFill/>
          <a:ln w="11430">
            <a:solidFill>
              <a:srgbClr val="C8D9EC"/>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6" name="M1 memory badge">
            <a:extLst>
              <a:ext uri="{FF2B5EF4-FFF2-40B4-BE49-F238E27FC236}">
                <a16:creationId xmlns:a16="http://schemas.microsoft.com/office/drawing/2014/main" id="{54D21017-BA95-487F-8FA5-91A666DD9DCA}"/>
              </a:ext>
            </a:extLst>
          </p:cNvPr>
          <p:cNvSpPr>
            <a:spLocks noGrp="1"/>
          </p:cNvSpPr>
          <p:nvPr/>
        </p:nvSpPr>
        <p:spPr>
          <a:xfrm>
            <a:off x="524236" y="1140304"/>
            <a:ext cx="590550" cy="590550"/>
          </a:xfrm>
          <a:prstGeom prst="ellipse">
            <a:avLst/>
          </a:prstGeom>
          <a:solidFill>
            <a:srgbClr val="FFFFFF"/>
          </a:solidFill>
          <a:ln w="14288">
            <a:solidFill>
              <a:schemeClr val="tx1"/>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7" name="M1 memory badge text">
            <a:extLst>
              <a:ext uri="{FF2B5EF4-FFF2-40B4-BE49-F238E27FC236}">
                <a16:creationId xmlns:a16="http://schemas.microsoft.com/office/drawing/2014/main" id="{FF4E1FF8-EF79-4253-A631-5ECA32DBDDC9}"/>
              </a:ext>
            </a:extLst>
          </p:cNvPr>
          <p:cNvSpPr>
            <a:spLocks noGrp="1"/>
          </p:cNvSpPr>
          <p:nvPr/>
        </p:nvSpPr>
        <p:spPr>
          <a:xfrm>
            <a:off x="581386" y="1178404"/>
            <a:ext cx="476250" cy="514350"/>
          </a:xfrm>
          <a:prstGeom prst="rect">
            <a:avLst/>
          </a:prstGeom>
          <a:noFill/>
          <a:ln w="0">
            <a:noFill/>
            <a:prstDash val="solid"/>
          </a:ln>
        </p:spPr>
        <p:txBody>
          <a:bodyPr lIns="0" tIns="0" rIns="0" bIns="0" anchor="ctr">
            <a:noAutofit/>
          </a:bodyPr>
          <a:lstStyle/>
          <a:p>
            <a:pPr algn="ctr">
              <a:buNone/>
              <a:defRPr sz="1200" b="1">
                <a:solidFill>
                  <a:srgbClr val="2563A8"/>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M1</a:t>
            </a:r>
          </a:p>
          <a:p>
            <a:pPr algn="ctr">
              <a:buNone/>
              <a:defRPr sz="1200" b="1">
                <a:solidFill>
                  <a:srgbClr val="2563A8"/>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8 GB</a:t>
            </a:r>
          </a:p>
        </p:txBody>
      </p:sp>
      <p:sp>
        <p:nvSpPr>
          <p:cNvPr id="18" name="Constraint label">
            <a:extLst>
              <a:ext uri="{FF2B5EF4-FFF2-40B4-BE49-F238E27FC236}">
                <a16:creationId xmlns:a16="http://schemas.microsoft.com/office/drawing/2014/main" id="{0891520A-B393-4480-83CB-1FA58701C35A}"/>
              </a:ext>
            </a:extLst>
          </p:cNvPr>
          <p:cNvSpPr>
            <a:spLocks noGrp="1"/>
          </p:cNvSpPr>
          <p:nvPr/>
        </p:nvSpPr>
        <p:spPr>
          <a:xfrm>
            <a:off x="1314810" y="1200149"/>
            <a:ext cx="2981189" cy="231625"/>
          </a:xfrm>
          <a:prstGeom prst="rect">
            <a:avLst/>
          </a:prstGeom>
          <a:noFill/>
          <a:ln w="0">
            <a:noFill/>
            <a:prstDash val="solid"/>
          </a:ln>
        </p:spPr>
        <p:txBody>
          <a:bodyPr lIns="0" tIns="0" rIns="0" bIns="0" anchor="ctr">
            <a:noAutofit/>
          </a:bodyPr>
          <a:lstStyle/>
          <a:p>
            <a:pPr algn="l">
              <a:buNone/>
              <a:defRPr sz="1013" b="1">
                <a:solidFill>
                  <a:srgbClr val="2563A8"/>
                </a:solidFill>
                <a:latin typeface="Arial"/>
                <a:ea typeface="Arial"/>
                <a:cs typeface="Arial"/>
              </a:defRPr>
            </a:pPr>
            <a:r>
              <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HARDWARE CONSTRAINT</a:t>
            </a:r>
          </a:p>
        </p:txBody>
      </p:sp>
      <p:sp>
        <p:nvSpPr>
          <p:cNvPr id="19" name="Constraint title">
            <a:extLst>
              <a:ext uri="{FF2B5EF4-FFF2-40B4-BE49-F238E27FC236}">
                <a16:creationId xmlns:a16="http://schemas.microsoft.com/office/drawing/2014/main" id="{CD7AE970-677C-4EBC-A079-A7B7857B0C15}"/>
              </a:ext>
            </a:extLst>
          </p:cNvPr>
          <p:cNvSpPr>
            <a:spLocks noGrp="1"/>
          </p:cNvSpPr>
          <p:nvPr/>
        </p:nvSpPr>
        <p:spPr>
          <a:xfrm>
            <a:off x="1314811" y="1438715"/>
            <a:ext cx="3143250" cy="295275"/>
          </a:xfrm>
          <a:prstGeom prst="rect">
            <a:avLst/>
          </a:prstGeom>
          <a:noFill/>
          <a:ln w="0">
            <a:noFill/>
            <a:prstDash val="solid"/>
          </a:ln>
        </p:spPr>
        <p:txBody>
          <a:bodyPr lIns="0" tIns="0" rIns="0" bIns="0" anchor="ctr">
            <a:noAutofit/>
          </a:bodyPr>
          <a:lstStyle/>
          <a:p>
            <a:pPr algn="l">
              <a:buNone/>
              <a:defRPr sz="1575" b="1">
                <a:solidFill>
                  <a:srgbClr val="111827"/>
                </a:solidFill>
                <a:latin typeface="Arial"/>
                <a:ea typeface="Arial"/>
                <a:cs typeface="Arial"/>
              </a:defRPr>
            </a:pPr>
            <a:r>
              <a:rPr sz="1400" b="1" dirty="0">
                <a:solidFill>
                  <a:schemeClr val="bg2">
                    <a:lumMod val="50000"/>
                  </a:schemeClr>
                </a:solidFill>
                <a:latin typeface="Times New Roman" panose="02020603050405020304" pitchFamily="18" charset="0"/>
                <a:ea typeface="Arial"/>
                <a:cs typeface="Times New Roman" panose="02020603050405020304" pitchFamily="18" charset="0"/>
              </a:rPr>
              <a:t>Apple M1 · 8 GB Unified Memory</a:t>
            </a:r>
          </a:p>
        </p:txBody>
      </p:sp>
      <p:sp>
        <p:nvSpPr>
          <p:cNvPr id="20" name="Constraint explanation">
            <a:extLst>
              <a:ext uri="{FF2B5EF4-FFF2-40B4-BE49-F238E27FC236}">
                <a16:creationId xmlns:a16="http://schemas.microsoft.com/office/drawing/2014/main" id="{8A63DCC7-E646-4FCE-959B-912A3D9AE549}"/>
              </a:ext>
            </a:extLst>
          </p:cNvPr>
          <p:cNvSpPr>
            <a:spLocks noGrp="1"/>
          </p:cNvSpPr>
          <p:nvPr/>
        </p:nvSpPr>
        <p:spPr>
          <a:xfrm>
            <a:off x="4600936" y="1206979"/>
            <a:ext cx="6619875" cy="457200"/>
          </a:xfrm>
          <a:prstGeom prst="rect">
            <a:avLst/>
          </a:prstGeom>
          <a:noFill/>
          <a:ln w="0">
            <a:noFill/>
            <a:prstDash val="solid"/>
          </a:ln>
        </p:spPr>
        <p:txBody>
          <a:bodyPr lIns="0" tIns="0" rIns="0" bIns="0" anchor="ctr">
            <a:noAutofit/>
          </a:bodyPr>
          <a:lstStyle/>
          <a:p>
            <a:pPr algn="l">
              <a:buNone/>
              <a:defRPr sz="1275">
                <a:solidFill>
                  <a:srgbClr val="374151"/>
                </a:solidFill>
                <a:latin typeface="Arial"/>
                <a:ea typeface="Arial"/>
                <a:cs typeface="Arial"/>
              </a:defRPr>
            </a:pPr>
            <a:r>
              <a:rPr sz="1300" dirty="0">
                <a:solidFill>
                  <a:schemeClr val="tx1">
                    <a:lumMod val="95000"/>
                    <a:lumOff val="5000"/>
                  </a:schemeClr>
                </a:solidFill>
                <a:latin typeface="Times New Roman" panose="02020603050405020304" pitchFamily="18" charset="0"/>
                <a:ea typeface="Arial"/>
                <a:cs typeface="Times New Roman" panose="02020603050405020304" pitchFamily="18" charset="0"/>
              </a:rPr>
              <a:t>Model weights, conversation context, runtime tensors and macOS share the same memory pool.</a:t>
            </a:r>
          </a:p>
        </p:txBody>
      </p:sp>
      <p:sp>
        <p:nvSpPr>
          <p:cNvPr id="34" name="Context control heading">
            <a:extLst>
              <a:ext uri="{FF2B5EF4-FFF2-40B4-BE49-F238E27FC236}">
                <a16:creationId xmlns:a16="http://schemas.microsoft.com/office/drawing/2014/main" id="{5AAE91E1-1362-4A05-9CF9-2B58903EC493}"/>
              </a:ext>
            </a:extLst>
          </p:cNvPr>
          <p:cNvSpPr>
            <a:spLocks noGrp="1"/>
          </p:cNvSpPr>
          <p:nvPr/>
        </p:nvSpPr>
        <p:spPr>
          <a:xfrm>
            <a:off x="590550" y="2042413"/>
            <a:ext cx="3705449" cy="186765"/>
          </a:xfrm>
          <a:prstGeom prst="rect">
            <a:avLst/>
          </a:prstGeom>
          <a:noFill/>
          <a:ln w="0">
            <a:noFill/>
            <a:prstDash val="solid"/>
          </a:ln>
        </p:spPr>
        <p:txBody>
          <a:bodyPr lIns="0" tIns="0" rIns="0" bIns="0" anchor="ctr">
            <a:noAutofit/>
          </a:bodyPr>
          <a:lstStyle/>
          <a:p>
            <a:pPr>
              <a:defRPr sz="1238" b="1">
                <a:solidFill>
                  <a:srgbClr val="008A72"/>
                </a:solidFill>
                <a:latin typeface="Arial"/>
                <a:ea typeface="Arial"/>
                <a:cs typeface="Arial"/>
              </a:defRPr>
            </a:pPr>
            <a:r>
              <a:rPr lang="en-GB"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PROACTIVE MEMORY SAFEGUARDS</a:t>
            </a:r>
            <a:endPar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35" name="One active model marker">
            <a:extLst>
              <a:ext uri="{FF2B5EF4-FFF2-40B4-BE49-F238E27FC236}">
                <a16:creationId xmlns:a16="http://schemas.microsoft.com/office/drawing/2014/main" id="{4FA7CB81-A8C4-4669-9D4E-BBBDFECCF953}"/>
              </a:ext>
            </a:extLst>
          </p:cNvPr>
          <p:cNvSpPr>
            <a:spLocks noGrp="1"/>
          </p:cNvSpPr>
          <p:nvPr/>
        </p:nvSpPr>
        <p:spPr>
          <a:xfrm>
            <a:off x="587829" y="2341663"/>
            <a:ext cx="47625" cy="1714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6" name="One active model text">
            <a:extLst>
              <a:ext uri="{FF2B5EF4-FFF2-40B4-BE49-F238E27FC236}">
                <a16:creationId xmlns:a16="http://schemas.microsoft.com/office/drawing/2014/main" id="{563C27FC-6019-4613-97B0-C17C98F0DF5A}"/>
              </a:ext>
            </a:extLst>
          </p:cNvPr>
          <p:cNvSpPr>
            <a:spLocks noGrp="1"/>
          </p:cNvSpPr>
          <p:nvPr/>
        </p:nvSpPr>
        <p:spPr>
          <a:xfrm>
            <a:off x="6807927" y="2272606"/>
            <a:ext cx="2581275" cy="2857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One active model at a time</a:t>
            </a:r>
          </a:p>
        </p:txBody>
      </p:sp>
      <p:sp>
        <p:nvSpPr>
          <p:cNvPr id="37" name="Safe input budget marker">
            <a:extLst>
              <a:ext uri="{FF2B5EF4-FFF2-40B4-BE49-F238E27FC236}">
                <a16:creationId xmlns:a16="http://schemas.microsoft.com/office/drawing/2014/main" id="{4BEE8B39-2E26-4255-9A79-6C1E4D2979B6}"/>
              </a:ext>
            </a:extLst>
          </p:cNvPr>
          <p:cNvSpPr>
            <a:spLocks noGrp="1"/>
          </p:cNvSpPr>
          <p:nvPr/>
        </p:nvSpPr>
        <p:spPr>
          <a:xfrm>
            <a:off x="3635829" y="2341663"/>
            <a:ext cx="47625" cy="1714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66" name="Memory takeaway band">
            <a:extLst>
              <a:ext uri="{FF2B5EF4-FFF2-40B4-BE49-F238E27FC236}">
                <a16:creationId xmlns:a16="http://schemas.microsoft.com/office/drawing/2014/main" id="{7C99E42E-3B2D-47D2-BFCF-9150C4C018FB}"/>
              </a:ext>
            </a:extLst>
          </p:cNvPr>
          <p:cNvSpPr>
            <a:spLocks noGrp="1"/>
          </p:cNvSpPr>
          <p:nvPr/>
        </p:nvSpPr>
        <p:spPr>
          <a:xfrm>
            <a:off x="419097" y="6102496"/>
            <a:ext cx="11455385" cy="457200"/>
          </a:xfrm>
          <a:prstGeom prst="roundRect">
            <a:avLst>
              <a:gd name="adj" fmla="val 16667"/>
            </a:avLst>
          </a:prstGeom>
          <a:noFill/>
          <a:ln w="10478">
            <a:solidFill>
              <a:srgbClr val="C8D9EC"/>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68" name="Memory takeaway">
            <a:extLst>
              <a:ext uri="{FF2B5EF4-FFF2-40B4-BE49-F238E27FC236}">
                <a16:creationId xmlns:a16="http://schemas.microsoft.com/office/drawing/2014/main" id="{30B33AA7-BABB-40EF-9A83-6F1171C728C1}"/>
              </a:ext>
            </a:extLst>
          </p:cNvPr>
          <p:cNvSpPr>
            <a:spLocks noGrp="1"/>
          </p:cNvSpPr>
          <p:nvPr/>
        </p:nvSpPr>
        <p:spPr>
          <a:xfrm>
            <a:off x="666749" y="6150121"/>
            <a:ext cx="10335901" cy="361950"/>
          </a:xfrm>
          <a:prstGeom prst="rect">
            <a:avLst/>
          </a:prstGeom>
          <a:noFill/>
          <a:ln w="0">
            <a:noFill/>
            <a:prstDash val="solid"/>
          </a:ln>
        </p:spPr>
        <p:txBody>
          <a:bodyPr lIns="0" tIns="0" rIns="0" bIns="0" anchor="ctr">
            <a:noAutofit/>
          </a:bodyPr>
          <a:lstStyle/>
          <a:p>
            <a:pPr algn="ctr">
              <a:buNone/>
              <a:defRPr sz="1275" b="1">
                <a:solidFill>
                  <a:srgbClr val="111827"/>
                </a:solidFill>
                <a:latin typeface="Arial"/>
                <a:ea typeface="Arial"/>
                <a:cs typeface="Arial"/>
              </a:defRPr>
            </a:pPr>
            <a:r>
              <a:rPr lang="en-DE" sz="1400" b="1" i="1" dirty="0">
                <a:solidFill>
                  <a:srgbClr val="111827"/>
                </a:solidFill>
                <a:latin typeface="Times New Roman" panose="02020603050405020304" pitchFamily="18" charset="0"/>
                <a:cs typeface="Times New Roman" panose="02020603050405020304" pitchFamily="18" charset="0"/>
              </a:rPr>
              <a:t>SANZI prevents memory pressure early and uses OOM recovery as a final safety layer.</a:t>
            </a:r>
            <a:endParaRPr sz="1400" b="1" i="1" dirty="0">
              <a:solidFill>
                <a:srgbClr val="111827"/>
              </a:solidFill>
              <a:latin typeface="Times New Roman" panose="02020603050405020304" pitchFamily="18" charset="0"/>
              <a:ea typeface="Arial"/>
              <a:cs typeface="Times New Roman" panose="02020603050405020304" pitchFamily="18" charset="0"/>
            </a:endParaRPr>
          </a:p>
        </p:txBody>
      </p:sp>
      <p:sp>
        <p:nvSpPr>
          <p:cNvPr id="3" name="One active model marker">
            <a:extLst>
              <a:ext uri="{FF2B5EF4-FFF2-40B4-BE49-F238E27FC236}">
                <a16:creationId xmlns:a16="http://schemas.microsoft.com/office/drawing/2014/main" id="{31764F81-F82D-62F8-E693-DA96FACAF213}"/>
              </a:ext>
            </a:extLst>
          </p:cNvPr>
          <p:cNvSpPr>
            <a:spLocks noGrp="1"/>
          </p:cNvSpPr>
          <p:nvPr/>
        </p:nvSpPr>
        <p:spPr>
          <a:xfrm>
            <a:off x="6664779" y="2336900"/>
            <a:ext cx="47625" cy="171450"/>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 name="One active model text">
            <a:extLst>
              <a:ext uri="{FF2B5EF4-FFF2-40B4-BE49-F238E27FC236}">
                <a16:creationId xmlns:a16="http://schemas.microsoft.com/office/drawing/2014/main" id="{A967A937-6651-8104-2AD4-76F839776F26}"/>
              </a:ext>
            </a:extLst>
          </p:cNvPr>
          <p:cNvSpPr>
            <a:spLocks noGrp="1"/>
          </p:cNvSpPr>
          <p:nvPr/>
        </p:nvSpPr>
        <p:spPr>
          <a:xfrm>
            <a:off x="740405" y="2279750"/>
            <a:ext cx="2581275" cy="285750"/>
          </a:xfrm>
          <a:prstGeom prst="rect">
            <a:avLst/>
          </a:prstGeom>
          <a:noFill/>
          <a:ln w="0">
            <a:noFill/>
            <a:prstDash val="solid"/>
          </a:ln>
        </p:spPr>
        <p:txBody>
          <a:bodyPr lIns="0" tIns="0" rIns="0" bIns="0" anchor="ctr">
            <a:noAutofit/>
          </a:bodyPr>
          <a:lstStyle/>
          <a:p>
            <a:pPr>
              <a:defRPr sz="1163">
                <a:solidFill>
                  <a:srgbClr val="374151"/>
                </a:solidFill>
                <a:latin typeface="Arial"/>
                <a:ea typeface="Arial"/>
                <a:cs typeface="Arial"/>
              </a:defRPr>
            </a:pPr>
            <a:r>
              <a:rPr lang="en-DE" sz="1200" b="1" dirty="0">
                <a:solidFill>
                  <a:schemeClr val="tx1">
                    <a:lumMod val="95000"/>
                    <a:lumOff val="5000"/>
                  </a:schemeClr>
                </a:solidFill>
                <a:latin typeface="Times New Roman" panose="02020603050405020304" pitchFamily="18" charset="0"/>
                <a:cs typeface="Times New Roman" panose="02020603050405020304" pitchFamily="18" charset="0"/>
              </a:rPr>
              <a:t>Precision modes (Quantization)</a:t>
            </a:r>
            <a:endPar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76" name="Output length text">
            <a:extLst>
              <a:ext uri="{FF2B5EF4-FFF2-40B4-BE49-F238E27FC236}">
                <a16:creationId xmlns:a16="http://schemas.microsoft.com/office/drawing/2014/main" id="{1AA9B47E-CD04-9B21-9C21-2A1BE57ABD49}"/>
              </a:ext>
            </a:extLst>
          </p:cNvPr>
          <p:cNvSpPr>
            <a:spLocks noGrp="1"/>
          </p:cNvSpPr>
          <p:nvPr/>
        </p:nvSpPr>
        <p:spPr>
          <a:xfrm>
            <a:off x="3774166" y="2277721"/>
            <a:ext cx="2581275" cy="2857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lang="de-DE"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Clean Model Switching</a:t>
            </a:r>
            <a:endPar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82" name="TextBox 81">
            <a:extLst>
              <a:ext uri="{FF2B5EF4-FFF2-40B4-BE49-F238E27FC236}">
                <a16:creationId xmlns:a16="http://schemas.microsoft.com/office/drawing/2014/main" id="{4CA936FC-9948-6CA3-52DC-6F68CA9325F7}"/>
              </a:ext>
            </a:extLst>
          </p:cNvPr>
          <p:cNvSpPr txBox="1"/>
          <p:nvPr/>
        </p:nvSpPr>
        <p:spPr>
          <a:xfrm>
            <a:off x="372033" y="3667606"/>
            <a:ext cx="5580000" cy="276999"/>
          </a:xfrm>
          <a:prstGeom prst="rect">
            <a:avLst/>
          </a:prstGeom>
          <a:noFill/>
        </p:spPr>
        <p:txBody>
          <a:bodyPr wrap="square">
            <a:spAutoFit/>
          </a:bodyPr>
          <a:lstStyle/>
          <a:p>
            <a:r>
              <a:rPr lang="en-DE" sz="1200" dirty="0">
                <a:latin typeface="Times New Roman" panose="02020603050405020304" pitchFamily="18" charset="0"/>
                <a:cs typeface="Times New Roman" panose="02020603050405020304" pitchFamily="18" charset="0"/>
              </a:rPr>
              <a:t>1 Max output reached → generation stops safely → user can continue</a:t>
            </a:r>
          </a:p>
        </p:txBody>
      </p:sp>
      <p:sp>
        <p:nvSpPr>
          <p:cNvPr id="86" name="TextBox 85">
            <a:extLst>
              <a:ext uri="{FF2B5EF4-FFF2-40B4-BE49-F238E27FC236}">
                <a16:creationId xmlns:a16="http://schemas.microsoft.com/office/drawing/2014/main" id="{B287E835-1639-5038-F00A-8AFD88E562A6}"/>
              </a:ext>
            </a:extLst>
          </p:cNvPr>
          <p:cNvSpPr txBox="1"/>
          <p:nvPr/>
        </p:nvSpPr>
        <p:spPr>
          <a:xfrm>
            <a:off x="5926170" y="3667606"/>
            <a:ext cx="4669099" cy="276999"/>
          </a:xfrm>
          <a:prstGeom prst="rect">
            <a:avLst/>
          </a:prstGeom>
          <a:noFill/>
        </p:spPr>
        <p:txBody>
          <a:bodyPr wrap="square">
            <a:spAutoFit/>
          </a:bodyPr>
          <a:lstStyle/>
          <a:p>
            <a:r>
              <a:rPr lang="en-DE" sz="1200" dirty="0">
                <a:latin typeface="Times New Roman" panose="02020603050405020304" pitchFamily="18" charset="0"/>
                <a:cs typeface="Times New Roman" panose="02020603050405020304" pitchFamily="18" charset="0"/>
              </a:rPr>
              <a:t>2 Approaching safe token limit → warning asks user to clean history</a:t>
            </a:r>
          </a:p>
        </p:txBody>
      </p:sp>
      <p:sp>
        <p:nvSpPr>
          <p:cNvPr id="90" name="TextBox 89">
            <a:extLst>
              <a:ext uri="{FF2B5EF4-FFF2-40B4-BE49-F238E27FC236}">
                <a16:creationId xmlns:a16="http://schemas.microsoft.com/office/drawing/2014/main" id="{52D225A1-8E20-7B37-65FE-1674742FB68B}"/>
              </a:ext>
            </a:extLst>
          </p:cNvPr>
          <p:cNvSpPr txBox="1"/>
          <p:nvPr/>
        </p:nvSpPr>
        <p:spPr>
          <a:xfrm>
            <a:off x="5538651" y="5845234"/>
            <a:ext cx="184731" cy="369332"/>
          </a:xfrm>
          <a:prstGeom prst="rect">
            <a:avLst/>
          </a:prstGeom>
          <a:noFill/>
        </p:spPr>
        <p:txBody>
          <a:bodyPr wrap="none" rtlCol="0">
            <a:spAutoFit/>
          </a:bodyPr>
          <a:lstStyle/>
          <a:p>
            <a:endParaRPr lang="en-DE" dirty="0">
              <a:latin typeface="Times New Roman" panose="02020603050405020304" pitchFamily="18" charset="0"/>
              <a:cs typeface="Times New Roman" panose="02020603050405020304" pitchFamily="18" charset="0"/>
            </a:endParaRPr>
          </a:p>
        </p:txBody>
      </p:sp>
      <p:sp>
        <p:nvSpPr>
          <p:cNvPr id="91" name="TextBox 90">
            <a:extLst>
              <a:ext uri="{FF2B5EF4-FFF2-40B4-BE49-F238E27FC236}">
                <a16:creationId xmlns:a16="http://schemas.microsoft.com/office/drawing/2014/main" id="{18ECBF76-36F6-D204-F460-78D2B72CA6A8}"/>
              </a:ext>
            </a:extLst>
          </p:cNvPr>
          <p:cNvSpPr txBox="1"/>
          <p:nvPr/>
        </p:nvSpPr>
        <p:spPr>
          <a:xfrm>
            <a:off x="6275258" y="4955366"/>
            <a:ext cx="5134525" cy="276999"/>
          </a:xfrm>
          <a:prstGeom prst="rect">
            <a:avLst/>
          </a:prstGeom>
          <a:noFill/>
        </p:spPr>
        <p:txBody>
          <a:bodyPr wrap="square">
            <a:spAutoFit/>
          </a:bodyPr>
          <a:lstStyle/>
          <a:p>
            <a:r>
              <a:rPr lang="en-DE" sz="1200" dirty="0">
                <a:latin typeface="Times New Roman" panose="02020603050405020304" pitchFamily="18" charset="0"/>
                <a:cs typeface="Times New Roman" panose="02020603050405020304" pitchFamily="18" charset="0"/>
              </a:rPr>
              <a:t>3 Safe token limit reached → new input blocked until history is reduced</a:t>
            </a:r>
          </a:p>
        </p:txBody>
      </p:sp>
      <p:sp>
        <p:nvSpPr>
          <p:cNvPr id="93" name="OOM recovery arrow">
            <a:extLst>
              <a:ext uri="{FF2B5EF4-FFF2-40B4-BE49-F238E27FC236}">
                <a16:creationId xmlns:a16="http://schemas.microsoft.com/office/drawing/2014/main" id="{511606C9-E23F-DEC3-3047-39700DC2481B}"/>
              </a:ext>
            </a:extLst>
          </p:cNvPr>
          <p:cNvSpPr>
            <a:spLocks noGrp="1"/>
          </p:cNvSpPr>
          <p:nvPr/>
        </p:nvSpPr>
        <p:spPr>
          <a:xfrm>
            <a:off x="5388429" y="5345564"/>
            <a:ext cx="457200" cy="647700"/>
          </a:xfrm>
          <a:prstGeom prst="rect">
            <a:avLst/>
          </a:prstGeom>
          <a:noFill/>
          <a:ln w="0">
            <a:noFill/>
            <a:prstDash val="solid"/>
          </a:ln>
        </p:spPr>
        <p:txBody>
          <a:bodyPr lIns="0" tIns="0" rIns="0" bIns="0" anchor="ctr">
            <a:noAutofit/>
          </a:bodyPr>
          <a:lstStyle/>
          <a:p>
            <a:pPr algn="ctr">
              <a:buNone/>
              <a:defRPr sz="1875" b="1">
                <a:solidFill>
                  <a:srgbClr val="D97706"/>
                </a:solidFill>
                <a:latin typeface="Arial"/>
                <a:ea typeface="Arial"/>
                <a:cs typeface="Arial"/>
              </a:defRPr>
            </a:pPr>
            <a:r>
              <a:rPr sz="20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t>
            </a:r>
          </a:p>
        </p:txBody>
      </p:sp>
      <p:sp>
        <p:nvSpPr>
          <p:cNvPr id="94" name="OOM recovery arrow">
            <a:extLst>
              <a:ext uri="{FF2B5EF4-FFF2-40B4-BE49-F238E27FC236}">
                <a16:creationId xmlns:a16="http://schemas.microsoft.com/office/drawing/2014/main" id="{E0992685-9E37-964B-9BE4-29494CA3F4FD}"/>
              </a:ext>
            </a:extLst>
          </p:cNvPr>
          <p:cNvSpPr>
            <a:spLocks noGrp="1"/>
          </p:cNvSpPr>
          <p:nvPr/>
        </p:nvSpPr>
        <p:spPr>
          <a:xfrm>
            <a:off x="7441406" y="5345564"/>
            <a:ext cx="457200" cy="647700"/>
          </a:xfrm>
          <a:prstGeom prst="rect">
            <a:avLst/>
          </a:prstGeom>
          <a:noFill/>
          <a:ln w="0">
            <a:noFill/>
            <a:prstDash val="solid"/>
          </a:ln>
        </p:spPr>
        <p:txBody>
          <a:bodyPr lIns="0" tIns="0" rIns="0" bIns="0" anchor="ctr">
            <a:noAutofit/>
          </a:bodyPr>
          <a:lstStyle/>
          <a:p>
            <a:pPr algn="ctr">
              <a:buNone/>
              <a:defRPr sz="1875" b="1">
                <a:solidFill>
                  <a:srgbClr val="D97706"/>
                </a:solidFill>
                <a:latin typeface="Arial"/>
                <a:ea typeface="Arial"/>
                <a:cs typeface="Arial"/>
              </a:defRPr>
            </a:pPr>
            <a:r>
              <a:rPr sz="20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t>
            </a:r>
          </a:p>
        </p:txBody>
      </p:sp>
      <p:sp>
        <p:nvSpPr>
          <p:cNvPr id="96" name="OOM heading">
            <a:extLst>
              <a:ext uri="{FF2B5EF4-FFF2-40B4-BE49-F238E27FC236}">
                <a16:creationId xmlns:a16="http://schemas.microsoft.com/office/drawing/2014/main" id="{59E6C629-3B91-690C-1593-7F08D0DB9B0D}"/>
              </a:ext>
            </a:extLst>
          </p:cNvPr>
          <p:cNvSpPr>
            <a:spLocks noGrp="1"/>
          </p:cNvSpPr>
          <p:nvPr/>
        </p:nvSpPr>
        <p:spPr>
          <a:xfrm>
            <a:off x="1416000" y="5400730"/>
            <a:ext cx="2276979" cy="165342"/>
          </a:xfrm>
          <a:prstGeom prst="rect">
            <a:avLst/>
          </a:prstGeom>
          <a:noFill/>
          <a:ln w="0">
            <a:noFill/>
            <a:prstDash val="solid"/>
          </a:ln>
        </p:spPr>
        <p:txBody>
          <a:bodyPr lIns="0" tIns="0" rIns="0" bIns="0" anchor="ctr">
            <a:noAutofit/>
          </a:bodyPr>
          <a:lstStyle/>
          <a:p>
            <a:pPr algn="l">
              <a:buNone/>
              <a:defRPr sz="1163" b="1">
                <a:solidFill>
                  <a:srgbClr val="D97706"/>
                </a:solidFill>
                <a:latin typeface="Arial"/>
                <a:ea typeface="Arial"/>
                <a:cs typeface="Arial"/>
              </a:defRPr>
            </a:pPr>
            <a:r>
              <a:rPr sz="16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OOM RECOVERY</a:t>
            </a:r>
          </a:p>
        </p:txBody>
      </p:sp>
      <p:sp>
        <p:nvSpPr>
          <p:cNvPr id="97" name="OOM subline">
            <a:extLst>
              <a:ext uri="{FF2B5EF4-FFF2-40B4-BE49-F238E27FC236}">
                <a16:creationId xmlns:a16="http://schemas.microsoft.com/office/drawing/2014/main" id="{BAE500ED-2244-2C41-56EC-C5F06A415DA5}"/>
              </a:ext>
            </a:extLst>
          </p:cNvPr>
          <p:cNvSpPr>
            <a:spLocks noGrp="1"/>
          </p:cNvSpPr>
          <p:nvPr/>
        </p:nvSpPr>
        <p:spPr>
          <a:xfrm>
            <a:off x="1463627" y="5638855"/>
            <a:ext cx="2276978" cy="419100"/>
          </a:xfrm>
          <a:prstGeom prst="rect">
            <a:avLst/>
          </a:prstGeom>
          <a:noFill/>
          <a:ln w="0">
            <a:noFill/>
            <a:prstDash val="solid"/>
          </a:ln>
        </p:spPr>
        <p:txBody>
          <a:bodyPr lIns="0" tIns="0" rIns="0" bIns="0" anchor="ctr">
            <a:noAutofit/>
          </a:bodyPr>
          <a:lstStyle/>
          <a:p>
            <a:pPr algn="l">
              <a:buNone/>
              <a:defRPr sz="1013">
                <a:solidFill>
                  <a:srgbClr val="6B7280"/>
                </a:solidFill>
                <a:latin typeface="Arial"/>
                <a:ea typeface="Arial"/>
                <a:cs typeface="Arial"/>
              </a:defRPr>
            </a:pPr>
            <a:r>
              <a:rPr sz="1200" dirty="0">
                <a:solidFill>
                  <a:schemeClr val="tx1">
                    <a:lumMod val="95000"/>
                    <a:lumOff val="5000"/>
                  </a:schemeClr>
                </a:solidFill>
                <a:latin typeface="Times New Roman" panose="02020603050405020304" pitchFamily="18" charset="0"/>
                <a:ea typeface="Arial"/>
                <a:cs typeface="Times New Roman" panose="02020603050405020304" pitchFamily="18" charset="0"/>
              </a:rPr>
              <a:t>Handled during model</a:t>
            </a:r>
          </a:p>
          <a:p>
            <a:pPr algn="l">
              <a:buNone/>
              <a:defRPr sz="1013">
                <a:solidFill>
                  <a:srgbClr val="6B7280"/>
                </a:solidFill>
                <a:latin typeface="Arial"/>
                <a:ea typeface="Arial"/>
                <a:cs typeface="Arial"/>
              </a:defRPr>
            </a:pPr>
            <a:r>
              <a:rPr sz="1200" dirty="0">
                <a:solidFill>
                  <a:schemeClr val="tx1">
                    <a:lumMod val="95000"/>
                    <a:lumOff val="5000"/>
                  </a:schemeClr>
                </a:solidFill>
                <a:latin typeface="Times New Roman" panose="02020603050405020304" pitchFamily="18" charset="0"/>
                <a:ea typeface="Arial"/>
                <a:cs typeface="Times New Roman" panose="02020603050405020304" pitchFamily="18" charset="0"/>
              </a:rPr>
              <a:t>loading and generation</a:t>
            </a:r>
          </a:p>
        </p:txBody>
      </p:sp>
      <p:sp>
        <p:nvSpPr>
          <p:cNvPr id="98" name="OOM detected node">
            <a:extLst>
              <a:ext uri="{FF2B5EF4-FFF2-40B4-BE49-F238E27FC236}">
                <a16:creationId xmlns:a16="http://schemas.microsoft.com/office/drawing/2014/main" id="{C98C0820-8AD8-4D3C-9DCE-2DD989F96DA8}"/>
              </a:ext>
            </a:extLst>
          </p:cNvPr>
          <p:cNvSpPr>
            <a:spLocks noGrp="1"/>
          </p:cNvSpPr>
          <p:nvPr/>
        </p:nvSpPr>
        <p:spPr>
          <a:xfrm>
            <a:off x="3835854" y="5438830"/>
            <a:ext cx="1571625" cy="457200"/>
          </a:xfrm>
          <a:prstGeom prst="roundRect">
            <a:avLst>
              <a:gd name="adj" fmla="val 10526"/>
            </a:avLst>
          </a:prstGeom>
          <a:solidFill>
            <a:srgbClr val="FFF7ED"/>
          </a:solidFill>
          <a:ln w="11906">
            <a:solidFill>
              <a:schemeClr val="tx1"/>
            </a:solidFill>
            <a:prstDash val="solid"/>
          </a:ln>
        </p:spPr>
        <p:style>
          <a:lnRef idx="0">
            <a:scrgbClr r="0" g="0" b="0"/>
          </a:lnRef>
          <a:fillRef idx="0">
            <a:scrgbClr r="0" g="0" b="0"/>
          </a:fillRef>
          <a:effectRef idx="4">
            <a:scrgbClr r="0" g="0" b="0"/>
          </a:effectRef>
          <a:fontRef idx="major"/>
        </p:style>
        <p:txBody>
          <a:bodyPr/>
          <a:lstStyle/>
          <a:p>
            <a:endParaRPr lang="en-DE" sz="1400">
              <a:latin typeface="Times New Roman" panose="02020603050405020304" pitchFamily="18" charset="0"/>
              <a:cs typeface="Times New Roman" panose="02020603050405020304" pitchFamily="18" charset="0"/>
            </a:endParaRPr>
          </a:p>
        </p:txBody>
      </p:sp>
      <p:sp>
        <p:nvSpPr>
          <p:cNvPr id="99" name="OOM detected title">
            <a:extLst>
              <a:ext uri="{FF2B5EF4-FFF2-40B4-BE49-F238E27FC236}">
                <a16:creationId xmlns:a16="http://schemas.microsoft.com/office/drawing/2014/main" id="{0B84B56E-5F6F-16C5-FC17-56DF130E2EB4}"/>
              </a:ext>
            </a:extLst>
          </p:cNvPr>
          <p:cNvSpPr>
            <a:spLocks noGrp="1"/>
          </p:cNvSpPr>
          <p:nvPr/>
        </p:nvSpPr>
        <p:spPr>
          <a:xfrm>
            <a:off x="3943529" y="5435538"/>
            <a:ext cx="1381125" cy="266700"/>
          </a:xfrm>
          <a:prstGeom prst="rect">
            <a:avLst/>
          </a:prstGeom>
          <a:noFill/>
          <a:ln w="0">
            <a:noFill/>
            <a:prstDash val="solid"/>
          </a:ln>
        </p:spPr>
        <p:txBody>
          <a:bodyPr lIns="0" tIns="0" rIns="0" bIns="0" anchor="ctr">
            <a:noAutofit/>
          </a:bodyPr>
          <a:lstStyle/>
          <a:p>
            <a:pPr algn="ctr">
              <a:buNone/>
              <a:defRPr sz="1163" b="1">
                <a:solidFill>
                  <a:srgbClr val="111827"/>
                </a:solidFill>
                <a:latin typeface="Arial"/>
                <a:ea typeface="Arial"/>
                <a:cs typeface="Arial"/>
              </a:defRPr>
            </a:pPr>
            <a:r>
              <a:rPr sz="1050" b="1" dirty="0">
                <a:solidFill>
                  <a:srgbClr val="111827"/>
                </a:solidFill>
                <a:latin typeface="Times New Roman" panose="02020603050405020304" pitchFamily="18" charset="0"/>
                <a:ea typeface="Arial"/>
                <a:cs typeface="Times New Roman" panose="02020603050405020304" pitchFamily="18" charset="0"/>
              </a:rPr>
              <a:t>OOM detected</a:t>
            </a:r>
          </a:p>
        </p:txBody>
      </p:sp>
      <p:sp>
        <p:nvSpPr>
          <p:cNvPr id="100" name="OOM detected subtitle">
            <a:extLst>
              <a:ext uri="{FF2B5EF4-FFF2-40B4-BE49-F238E27FC236}">
                <a16:creationId xmlns:a16="http://schemas.microsoft.com/office/drawing/2014/main" id="{03860563-B93F-ADA4-B86E-349EAB5459C7}"/>
              </a:ext>
            </a:extLst>
          </p:cNvPr>
          <p:cNvSpPr>
            <a:spLocks noGrp="1"/>
          </p:cNvSpPr>
          <p:nvPr/>
        </p:nvSpPr>
        <p:spPr>
          <a:xfrm>
            <a:off x="3943529" y="5700041"/>
            <a:ext cx="1381125" cy="361950"/>
          </a:xfrm>
          <a:prstGeom prst="rect">
            <a:avLst/>
          </a:prstGeom>
          <a:noFill/>
          <a:ln w="0">
            <a:noFill/>
            <a:prstDash val="solid"/>
          </a:ln>
        </p:spPr>
        <p:txBody>
          <a:bodyPr lIns="0" tIns="0" rIns="0" bIns="0" anchor="t">
            <a:noAutofit/>
          </a:bodyPr>
          <a:lstStyle/>
          <a:p>
            <a:pPr algn="ctr">
              <a:buNone/>
              <a:defRPr sz="1013">
                <a:solidFill>
                  <a:srgbClr val="374151"/>
                </a:solidFill>
                <a:latin typeface="Arial"/>
                <a:ea typeface="Arial"/>
                <a:cs typeface="Arial"/>
              </a:defRPr>
            </a:pPr>
            <a:r>
              <a:rPr sz="900" dirty="0">
                <a:solidFill>
                  <a:srgbClr val="374151"/>
                </a:solidFill>
                <a:latin typeface="Times New Roman" panose="02020603050405020304" pitchFamily="18" charset="0"/>
                <a:ea typeface="Arial"/>
                <a:cs typeface="Times New Roman" panose="02020603050405020304" pitchFamily="18" charset="0"/>
              </a:rPr>
              <a:t>loading or generation</a:t>
            </a:r>
          </a:p>
        </p:txBody>
      </p:sp>
      <p:sp>
        <p:nvSpPr>
          <p:cNvPr id="101" name="Memory cleanup node">
            <a:extLst>
              <a:ext uri="{FF2B5EF4-FFF2-40B4-BE49-F238E27FC236}">
                <a16:creationId xmlns:a16="http://schemas.microsoft.com/office/drawing/2014/main" id="{D6736B9F-2D63-C0C1-EC01-98A1670A0769}"/>
              </a:ext>
            </a:extLst>
          </p:cNvPr>
          <p:cNvSpPr>
            <a:spLocks noGrp="1"/>
          </p:cNvSpPr>
          <p:nvPr/>
        </p:nvSpPr>
        <p:spPr>
          <a:xfrm>
            <a:off x="5845629" y="5438831"/>
            <a:ext cx="1619250" cy="457200"/>
          </a:xfrm>
          <a:prstGeom prst="roundRect">
            <a:avLst>
              <a:gd name="adj" fmla="val 10526"/>
            </a:avLst>
          </a:prstGeom>
          <a:solidFill>
            <a:srgbClr val="FFF7ED"/>
          </a:solidFill>
          <a:ln w="11906">
            <a:solidFill>
              <a:schemeClr val="tx1"/>
            </a:solidFill>
            <a:prstDash val="solid"/>
          </a:ln>
        </p:spPr>
        <p:style>
          <a:lnRef idx="0">
            <a:scrgbClr r="0" g="0" b="0"/>
          </a:lnRef>
          <a:fillRef idx="0">
            <a:scrgbClr r="0" g="0" b="0"/>
          </a:fillRef>
          <a:effectRef idx="4">
            <a:scrgbClr r="0" g="0" b="0"/>
          </a:effectRef>
          <a:fontRef idx="major"/>
        </p:style>
        <p:txBody>
          <a:bodyPr/>
          <a:lstStyle/>
          <a:p>
            <a:endParaRPr lang="en-DE" sz="1400">
              <a:latin typeface="Times New Roman" panose="02020603050405020304" pitchFamily="18" charset="0"/>
              <a:cs typeface="Times New Roman" panose="02020603050405020304" pitchFamily="18" charset="0"/>
            </a:endParaRPr>
          </a:p>
        </p:txBody>
      </p:sp>
      <p:sp>
        <p:nvSpPr>
          <p:cNvPr id="102" name="Memory cleanup title">
            <a:extLst>
              <a:ext uri="{FF2B5EF4-FFF2-40B4-BE49-F238E27FC236}">
                <a16:creationId xmlns:a16="http://schemas.microsoft.com/office/drawing/2014/main" id="{EB2E6E16-B4A8-C069-C2C5-5C06D87D1F71}"/>
              </a:ext>
            </a:extLst>
          </p:cNvPr>
          <p:cNvSpPr>
            <a:spLocks noGrp="1"/>
          </p:cNvSpPr>
          <p:nvPr/>
        </p:nvSpPr>
        <p:spPr>
          <a:xfrm>
            <a:off x="5950404" y="5438830"/>
            <a:ext cx="1428750" cy="457200"/>
          </a:xfrm>
          <a:prstGeom prst="rect">
            <a:avLst/>
          </a:prstGeom>
          <a:noFill/>
          <a:ln w="0">
            <a:noFill/>
            <a:prstDash val="solid"/>
          </a:ln>
        </p:spPr>
        <p:txBody>
          <a:bodyPr lIns="0" tIns="0" rIns="0" bIns="0" anchor="ctr">
            <a:noAutofit/>
          </a:bodyPr>
          <a:lstStyle/>
          <a:p>
            <a:pPr algn="ctr">
              <a:buNone/>
              <a:defRPr sz="1163" b="1">
                <a:solidFill>
                  <a:srgbClr val="111827"/>
                </a:solidFill>
                <a:latin typeface="Arial"/>
                <a:ea typeface="Arial"/>
                <a:cs typeface="Arial"/>
              </a:defRPr>
            </a:pPr>
            <a:r>
              <a:rPr sz="1050" b="1" dirty="0">
                <a:solidFill>
                  <a:srgbClr val="111827"/>
                </a:solidFill>
                <a:latin typeface="Times New Roman" panose="02020603050405020304" pitchFamily="18" charset="0"/>
                <a:ea typeface="Arial"/>
                <a:cs typeface="Times New Roman" panose="02020603050405020304" pitchFamily="18" charset="0"/>
              </a:rPr>
              <a:t>Memory cleanup</a:t>
            </a:r>
          </a:p>
        </p:txBody>
      </p:sp>
      <p:sp>
        <p:nvSpPr>
          <p:cNvPr id="103" name="Application alive node">
            <a:extLst>
              <a:ext uri="{FF2B5EF4-FFF2-40B4-BE49-F238E27FC236}">
                <a16:creationId xmlns:a16="http://schemas.microsoft.com/office/drawing/2014/main" id="{B0686F4E-EA7E-8F5D-CDCE-8D650F3B235D}"/>
              </a:ext>
            </a:extLst>
          </p:cNvPr>
          <p:cNvSpPr>
            <a:spLocks noGrp="1"/>
          </p:cNvSpPr>
          <p:nvPr/>
        </p:nvSpPr>
        <p:spPr>
          <a:xfrm>
            <a:off x="7879217" y="5413682"/>
            <a:ext cx="1809750" cy="457200"/>
          </a:xfrm>
          <a:prstGeom prst="roundRect">
            <a:avLst>
              <a:gd name="adj" fmla="val 10526"/>
            </a:avLst>
          </a:prstGeom>
          <a:solidFill>
            <a:srgbClr val="FFF7ED"/>
          </a:solidFill>
          <a:ln w="11906">
            <a:solidFill>
              <a:schemeClr val="tx1"/>
            </a:solidFill>
            <a:prstDash val="solid"/>
          </a:ln>
        </p:spPr>
        <p:style>
          <a:lnRef idx="0">
            <a:scrgbClr r="0" g="0" b="0"/>
          </a:lnRef>
          <a:fillRef idx="0">
            <a:scrgbClr r="0" g="0" b="0"/>
          </a:fillRef>
          <a:effectRef idx="4">
            <a:scrgbClr r="0" g="0" b="0"/>
          </a:effectRef>
          <a:fontRef idx="major"/>
        </p:style>
        <p:txBody>
          <a:bodyPr/>
          <a:lstStyle/>
          <a:p>
            <a:endParaRPr lang="en-DE" sz="1400">
              <a:latin typeface="Times New Roman" panose="02020603050405020304" pitchFamily="18" charset="0"/>
              <a:cs typeface="Times New Roman" panose="02020603050405020304" pitchFamily="18" charset="0"/>
            </a:endParaRPr>
          </a:p>
        </p:txBody>
      </p:sp>
      <p:sp>
        <p:nvSpPr>
          <p:cNvPr id="104" name="Application alive title">
            <a:extLst>
              <a:ext uri="{FF2B5EF4-FFF2-40B4-BE49-F238E27FC236}">
                <a16:creationId xmlns:a16="http://schemas.microsoft.com/office/drawing/2014/main" id="{37C26836-12C2-9746-CCEE-23220E92B0A9}"/>
              </a:ext>
            </a:extLst>
          </p:cNvPr>
          <p:cNvSpPr>
            <a:spLocks noGrp="1"/>
          </p:cNvSpPr>
          <p:nvPr/>
        </p:nvSpPr>
        <p:spPr>
          <a:xfrm>
            <a:off x="8005592" y="5296808"/>
            <a:ext cx="1619250" cy="723900"/>
          </a:xfrm>
          <a:prstGeom prst="rect">
            <a:avLst/>
          </a:prstGeom>
          <a:noFill/>
          <a:ln w="0">
            <a:noFill/>
            <a:prstDash val="solid"/>
          </a:ln>
        </p:spPr>
        <p:txBody>
          <a:bodyPr lIns="0" tIns="0" rIns="0" bIns="0" anchor="ctr">
            <a:noAutofit/>
          </a:bodyPr>
          <a:lstStyle/>
          <a:p>
            <a:pPr algn="ctr">
              <a:buNone/>
              <a:defRPr sz="1163" b="1">
                <a:solidFill>
                  <a:srgbClr val="111827"/>
                </a:solidFill>
                <a:latin typeface="Arial"/>
                <a:ea typeface="Arial"/>
                <a:cs typeface="Arial"/>
              </a:defRPr>
            </a:pPr>
            <a:r>
              <a:rPr sz="1050" b="1" dirty="0">
                <a:solidFill>
                  <a:srgbClr val="111827"/>
                </a:solidFill>
                <a:latin typeface="Times New Roman" panose="02020603050405020304" pitchFamily="18" charset="0"/>
                <a:ea typeface="Arial"/>
                <a:cs typeface="Times New Roman" panose="02020603050405020304" pitchFamily="18" charset="0"/>
              </a:rPr>
              <a:t>Application remains alive</a:t>
            </a:r>
          </a:p>
        </p:txBody>
      </p:sp>
      <p:pic>
        <p:nvPicPr>
          <p:cNvPr id="9" name="Picture 8">
            <a:extLst>
              <a:ext uri="{FF2B5EF4-FFF2-40B4-BE49-F238E27FC236}">
                <a16:creationId xmlns:a16="http://schemas.microsoft.com/office/drawing/2014/main" id="{E7BEBB8C-88D7-BB42-29A1-DD232FD23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835" y="4235751"/>
            <a:ext cx="5799423" cy="986535"/>
          </a:xfrm>
          <a:prstGeom prst="rect">
            <a:avLst/>
          </a:prstGeom>
        </p:spPr>
      </p:pic>
      <p:pic>
        <p:nvPicPr>
          <p:cNvPr id="11" name="Picture 10">
            <a:extLst>
              <a:ext uri="{FF2B5EF4-FFF2-40B4-BE49-F238E27FC236}">
                <a16:creationId xmlns:a16="http://schemas.microsoft.com/office/drawing/2014/main" id="{AEAF6376-3775-5943-219E-1283414E25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835" y="2587442"/>
            <a:ext cx="5372396" cy="1040548"/>
          </a:xfrm>
          <a:prstGeom prst="rect">
            <a:avLst/>
          </a:prstGeom>
        </p:spPr>
      </p:pic>
      <p:pic>
        <p:nvPicPr>
          <p:cNvPr id="13" name="Picture 12">
            <a:extLst>
              <a:ext uri="{FF2B5EF4-FFF2-40B4-BE49-F238E27FC236}">
                <a16:creationId xmlns:a16="http://schemas.microsoft.com/office/drawing/2014/main" id="{0360DF34-9B32-43E3-B2A7-E1EB3D29E8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6299" y="2609540"/>
            <a:ext cx="5799849" cy="1055381"/>
          </a:xfrm>
          <a:prstGeom prst="rect">
            <a:avLst/>
          </a:prstGeom>
        </p:spPr>
      </p:pic>
      <p:sp>
        <p:nvSpPr>
          <p:cNvPr id="6" name="One active model marker">
            <a:extLst>
              <a:ext uri="{FF2B5EF4-FFF2-40B4-BE49-F238E27FC236}">
                <a16:creationId xmlns:a16="http://schemas.microsoft.com/office/drawing/2014/main" id="{FB603612-7BA4-1878-3EA4-4C84A7FAE1C8}"/>
              </a:ext>
            </a:extLst>
          </p:cNvPr>
          <p:cNvSpPr>
            <a:spLocks noGrp="1"/>
          </p:cNvSpPr>
          <p:nvPr/>
        </p:nvSpPr>
        <p:spPr>
          <a:xfrm flipH="1" flipV="1">
            <a:off x="1142098" y="5377960"/>
            <a:ext cx="70978" cy="615303"/>
          </a:xfrm>
          <a:prstGeom prst="roundRect">
            <a:avLst>
              <a:gd name="adj" fmla="val 50000"/>
            </a:avLst>
          </a:prstGeom>
          <a:solidFill>
            <a:schemeClr val="tx1">
              <a:lumMod val="50000"/>
              <a:lumOff val="50000"/>
            </a:schemeClr>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800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6858000" cy="552450"/>
          </a:xfrm>
        </p:spPr>
        <p:txBody>
          <a:bodyPr lIns="0" tIns="0" rIns="0" bIns="0" anchor="t">
            <a:noAutofit/>
          </a:bodyPr>
          <a:lstStyle/>
          <a:p>
            <a:pPr marL="0" indent="0" algn="l">
              <a:buNone/>
              <a:defRPr sz="315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LIVE GUI DEMO</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BA58DA2A-B818-18A9-29C1-B697728D5BCE}" type="slidenum">
              <a:rPr>
                <a:latin typeface="Times New Roman" panose="02020603050405020304" pitchFamily="18" charset="0"/>
                <a:cs typeface="Times New Roman" panose="02020603050405020304" pitchFamily="18" charset="0"/>
              </a:rPr>
              <a:t>8</a:t>
            </a:fld>
            <a:endParaRPr>
              <a:latin typeface="Times New Roman" panose="02020603050405020304" pitchFamily="18" charset="0"/>
              <a:cs typeface="Times New Roman" panose="02020603050405020304" pitchFamily="18" charset="0"/>
            </a:endParaRPr>
          </a:p>
        </p:txBody>
      </p:sp>
      <p:sp>
        <p:nvSpPr>
          <p:cNvPr id="6" name="Demo subtitle">
            <a:extLst>
              <a:ext uri="{FF2B5EF4-FFF2-40B4-BE49-F238E27FC236}">
                <a16:creationId xmlns:a16="http://schemas.microsoft.com/office/drawing/2014/main" id="{02C066DB-B979-4617-A700-66ECD096C04C}"/>
              </a:ext>
            </a:extLst>
          </p:cNvPr>
          <p:cNvSpPr>
            <a:spLocks noGrp="1"/>
          </p:cNvSpPr>
          <p:nvPr/>
        </p:nvSpPr>
        <p:spPr>
          <a:xfrm>
            <a:off x="400050" y="876300"/>
            <a:ext cx="6858000" cy="247650"/>
          </a:xfrm>
          <a:prstGeom prst="rect">
            <a:avLst/>
          </a:prstGeom>
          <a:noFill/>
          <a:ln w="0">
            <a:noFill/>
            <a:prstDash val="solid"/>
          </a:ln>
        </p:spPr>
        <p:txBody>
          <a:bodyPr lIns="0" tIns="0" rIns="0" bIns="0" anchor="ctr">
            <a:noAutofit/>
          </a:bodyPr>
          <a:lstStyle/>
          <a:p>
            <a:pPr algn="l">
              <a:buNone/>
              <a:defRPr sz="1388">
                <a:solidFill>
                  <a:srgbClr val="374151"/>
                </a:solidFill>
                <a:latin typeface="Arial"/>
                <a:ea typeface="Arial"/>
                <a:cs typeface="Arial"/>
              </a:defRPr>
            </a:pPr>
            <a:r>
              <a:rPr sz="1388" dirty="0">
                <a:solidFill>
                  <a:schemeClr val="tx1">
                    <a:lumMod val="85000"/>
                    <a:lumOff val="15000"/>
                  </a:schemeClr>
                </a:solidFill>
                <a:latin typeface="Times New Roman" panose="02020603050405020304" pitchFamily="18" charset="0"/>
                <a:ea typeface="Arial"/>
                <a:cs typeface="Times New Roman" panose="02020603050405020304" pitchFamily="18" charset="0"/>
              </a:rPr>
              <a:t>SANZI running locally on MacBook Air (M1)</a:t>
            </a:r>
          </a:p>
        </p:txBody>
      </p:sp>
      <p:sp>
        <p:nvSpPr>
          <p:cNvPr id="7" name="Demo flow heading">
            <a:extLst>
              <a:ext uri="{FF2B5EF4-FFF2-40B4-BE49-F238E27FC236}">
                <a16:creationId xmlns:a16="http://schemas.microsoft.com/office/drawing/2014/main" id="{8E76FDC7-A6BF-492D-A655-E451B35978C8}"/>
              </a:ext>
            </a:extLst>
          </p:cNvPr>
          <p:cNvSpPr>
            <a:spLocks noGrp="1"/>
          </p:cNvSpPr>
          <p:nvPr/>
        </p:nvSpPr>
        <p:spPr>
          <a:xfrm>
            <a:off x="476250" y="1257300"/>
            <a:ext cx="2000250" cy="228600"/>
          </a:xfrm>
          <a:prstGeom prst="rect">
            <a:avLst/>
          </a:prstGeom>
          <a:noFill/>
          <a:ln w="0">
            <a:noFill/>
            <a:prstDash val="solid"/>
          </a:ln>
        </p:spPr>
        <p:txBody>
          <a:bodyPr lIns="0" tIns="0" rIns="0" bIns="0" anchor="ctr">
            <a:noAutofit/>
          </a:bodyPr>
          <a:lstStyle/>
          <a:p>
            <a:pPr algn="l">
              <a:buNone/>
              <a:defRPr sz="1163" b="1">
                <a:solidFill>
                  <a:srgbClr val="2563A8"/>
                </a:solidFill>
                <a:latin typeface="Arial"/>
                <a:ea typeface="Arial"/>
                <a:cs typeface="Arial"/>
              </a:defRPr>
            </a:pPr>
            <a:r>
              <a:rPr sz="1163" b="1" dirty="0">
                <a:solidFill>
                  <a:schemeClr val="tx1">
                    <a:lumMod val="95000"/>
                    <a:lumOff val="5000"/>
                  </a:schemeClr>
                </a:solidFill>
                <a:latin typeface="Times New Roman" panose="02020603050405020304" pitchFamily="18" charset="0"/>
                <a:ea typeface="Arial"/>
                <a:cs typeface="Times New Roman" panose="02020603050405020304" pitchFamily="18" charset="0"/>
              </a:rPr>
              <a:t>DEMO FLOW</a:t>
            </a:r>
            <a:r>
              <a:rPr lang="de-DE" sz="1163"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t>
            </a:r>
            <a:endParaRPr sz="1163" b="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9" name="Demo flow spine">
            <a:extLst>
              <a:ext uri="{FF2B5EF4-FFF2-40B4-BE49-F238E27FC236}">
                <a16:creationId xmlns:a16="http://schemas.microsoft.com/office/drawing/2014/main" id="{DABF6CB0-2FF5-41A1-A835-F12C8B467559}"/>
              </a:ext>
            </a:extLst>
          </p:cNvPr>
          <p:cNvSpPr>
            <a:spLocks noGrp="1"/>
          </p:cNvSpPr>
          <p:nvPr/>
        </p:nvSpPr>
        <p:spPr>
          <a:xfrm>
            <a:off x="904875" y="1704975"/>
            <a:ext cx="19050" cy="2905125"/>
          </a:xfrm>
          <a:prstGeom prst="roundRect">
            <a:avLst>
              <a:gd name="adj" fmla="val 50000"/>
            </a:avLst>
          </a:prstGeom>
          <a:solidFill>
            <a:srgbClr val="C9D9EC"/>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0" name="Step 1 connector mask">
            <a:extLst>
              <a:ext uri="{FF2B5EF4-FFF2-40B4-BE49-F238E27FC236}">
                <a16:creationId xmlns:a16="http://schemas.microsoft.com/office/drawing/2014/main" id="{511854DF-C661-4CEF-90FF-CC3B9299CB9F}"/>
              </a:ext>
            </a:extLst>
          </p:cNvPr>
          <p:cNvSpPr>
            <a:spLocks noGrp="1"/>
          </p:cNvSpPr>
          <p:nvPr/>
        </p:nvSpPr>
        <p:spPr>
          <a:xfrm>
            <a:off x="685800" y="1685925"/>
            <a:ext cx="457200" cy="457200"/>
          </a:xfrm>
          <a:prstGeom prst="ellipse">
            <a:avLst/>
          </a:prstGeom>
          <a:solidFill>
            <a:srgbClr val="FFFFFF"/>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1" name="Step 1 badge">
            <a:extLst>
              <a:ext uri="{FF2B5EF4-FFF2-40B4-BE49-F238E27FC236}">
                <a16:creationId xmlns:a16="http://schemas.microsoft.com/office/drawing/2014/main" id="{E9C196A4-148D-4883-93A5-8CDB3CC57F03}"/>
              </a:ext>
            </a:extLst>
          </p:cNvPr>
          <p:cNvSpPr>
            <a:spLocks noGrp="1"/>
          </p:cNvSpPr>
          <p:nvPr/>
        </p:nvSpPr>
        <p:spPr>
          <a:xfrm>
            <a:off x="742950" y="1724025"/>
            <a:ext cx="342900" cy="342900"/>
          </a:xfrm>
          <a:prstGeom prst="ellipse">
            <a:avLst/>
          </a:prstGeom>
          <a:solidFill>
            <a:srgbClr val="F4F8FD"/>
          </a:solidFill>
          <a:ln w="16193">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2" name="Step 1 number">
            <a:extLst>
              <a:ext uri="{FF2B5EF4-FFF2-40B4-BE49-F238E27FC236}">
                <a16:creationId xmlns:a16="http://schemas.microsoft.com/office/drawing/2014/main" id="{1A86FF06-B70B-4BE5-AB2C-DE6D62146AC4}"/>
              </a:ext>
            </a:extLst>
          </p:cNvPr>
          <p:cNvSpPr>
            <a:spLocks noGrp="1"/>
          </p:cNvSpPr>
          <p:nvPr/>
        </p:nvSpPr>
        <p:spPr>
          <a:xfrm>
            <a:off x="742950" y="1724025"/>
            <a:ext cx="342900" cy="342900"/>
          </a:xfrm>
          <a:prstGeom prst="rect">
            <a:avLst/>
          </a:prstGeom>
          <a:noFill/>
          <a:ln w="0">
            <a:noFill/>
            <a:prstDash val="solid"/>
          </a:ln>
        </p:spPr>
        <p:txBody>
          <a:bodyPr lIns="0" tIns="0" rIns="0" bIns="0" anchor="ctr">
            <a:noAutofit/>
          </a:bodyPr>
          <a:lstStyle/>
          <a:p>
            <a:pPr algn="ctr">
              <a:buNone/>
              <a:defRPr sz="1275" b="1">
                <a:solidFill>
                  <a:srgbClr val="2563A8"/>
                </a:solidFill>
                <a:latin typeface="Arial"/>
                <a:ea typeface="Arial"/>
                <a:cs typeface="Arial"/>
              </a:defRPr>
            </a:pPr>
            <a:r>
              <a:rPr sz="1275" b="1">
                <a:solidFill>
                  <a:srgbClr val="2563A8"/>
                </a:solidFill>
                <a:latin typeface="Times New Roman" panose="02020603050405020304" pitchFamily="18" charset="0"/>
                <a:ea typeface="Arial"/>
                <a:cs typeface="Times New Roman" panose="02020603050405020304" pitchFamily="18" charset="0"/>
              </a:rPr>
              <a:t>1</a:t>
            </a:r>
          </a:p>
        </p:txBody>
      </p:sp>
      <p:sp>
        <p:nvSpPr>
          <p:cNvPr id="13" name="Step 1 heading">
            <a:extLst>
              <a:ext uri="{FF2B5EF4-FFF2-40B4-BE49-F238E27FC236}">
                <a16:creationId xmlns:a16="http://schemas.microsoft.com/office/drawing/2014/main" id="{75E6446D-368A-44DA-BE17-C88114AFDD20}"/>
              </a:ext>
            </a:extLst>
          </p:cNvPr>
          <p:cNvSpPr>
            <a:spLocks noGrp="1"/>
          </p:cNvSpPr>
          <p:nvPr/>
        </p:nvSpPr>
        <p:spPr>
          <a:xfrm>
            <a:off x="1257300" y="1657350"/>
            <a:ext cx="2286000" cy="257175"/>
          </a:xfrm>
          <a:prstGeom prst="rect">
            <a:avLst/>
          </a:prstGeom>
          <a:noFill/>
          <a:ln w="0">
            <a:noFill/>
            <a:prstDash val="solid"/>
          </a:ln>
        </p:spPr>
        <p:txBody>
          <a:bodyPr lIns="0" tIns="0" rIns="0" bIns="0" anchor="ctr">
            <a:noAutofit/>
          </a:bodyPr>
          <a:lstStyle/>
          <a:p>
            <a:pPr algn="l">
              <a:buNone/>
              <a:defRPr sz="1275" b="1">
                <a:solidFill>
                  <a:srgbClr val="111827"/>
                </a:solidFill>
                <a:latin typeface="Arial"/>
                <a:ea typeface="Arial"/>
                <a:cs typeface="Arial"/>
              </a:defRPr>
            </a:pPr>
            <a:r>
              <a:rPr sz="1275" b="1" dirty="0">
                <a:solidFill>
                  <a:srgbClr val="111827"/>
                </a:solidFill>
                <a:latin typeface="Times New Roman" panose="02020603050405020304" pitchFamily="18" charset="0"/>
                <a:ea typeface="Arial"/>
                <a:cs typeface="Times New Roman" panose="02020603050405020304" pitchFamily="18" charset="0"/>
              </a:rPr>
              <a:t>Select model &amp; precision</a:t>
            </a:r>
          </a:p>
        </p:txBody>
      </p:sp>
      <p:sp>
        <p:nvSpPr>
          <p:cNvPr id="14" name="Step 1 detail">
            <a:extLst>
              <a:ext uri="{FF2B5EF4-FFF2-40B4-BE49-F238E27FC236}">
                <a16:creationId xmlns:a16="http://schemas.microsoft.com/office/drawing/2014/main" id="{CFE855EE-BB43-4E9E-9432-9E1A8C7BD412}"/>
              </a:ext>
            </a:extLst>
          </p:cNvPr>
          <p:cNvSpPr>
            <a:spLocks noGrp="1"/>
          </p:cNvSpPr>
          <p:nvPr/>
        </p:nvSpPr>
        <p:spPr>
          <a:xfrm>
            <a:off x="1257300" y="1933575"/>
            <a:ext cx="2333625" cy="428625"/>
          </a:xfrm>
          <a:prstGeom prst="rect">
            <a:avLst/>
          </a:prstGeom>
          <a:noFill/>
          <a:ln w="0">
            <a:noFill/>
            <a:prstDash val="solid"/>
          </a:ln>
        </p:spPr>
        <p:txBody>
          <a:bodyPr lIns="0" tIns="0" rIns="0" bIns="0" anchor="t">
            <a:noAutofit/>
          </a:bodyPr>
          <a:lstStyle/>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Llama / Qwen</a:t>
            </a:r>
          </a:p>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FP16 / 8-bit / 4-bit Metal</a:t>
            </a:r>
          </a:p>
        </p:txBody>
      </p:sp>
      <p:sp>
        <p:nvSpPr>
          <p:cNvPr id="15" name="Step 2 connector mask">
            <a:extLst>
              <a:ext uri="{FF2B5EF4-FFF2-40B4-BE49-F238E27FC236}">
                <a16:creationId xmlns:a16="http://schemas.microsoft.com/office/drawing/2014/main" id="{6A5FEAF2-3CF8-40E0-9E1E-20E4CFE3BF69}"/>
              </a:ext>
            </a:extLst>
          </p:cNvPr>
          <p:cNvSpPr>
            <a:spLocks noGrp="1"/>
          </p:cNvSpPr>
          <p:nvPr/>
        </p:nvSpPr>
        <p:spPr>
          <a:xfrm>
            <a:off x="685800" y="2571750"/>
            <a:ext cx="457200" cy="457200"/>
          </a:xfrm>
          <a:prstGeom prst="ellipse">
            <a:avLst/>
          </a:prstGeom>
          <a:solidFill>
            <a:srgbClr val="FFFFFF"/>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6" name="Step 2 badge">
            <a:extLst>
              <a:ext uri="{FF2B5EF4-FFF2-40B4-BE49-F238E27FC236}">
                <a16:creationId xmlns:a16="http://schemas.microsoft.com/office/drawing/2014/main" id="{FF011663-F1AE-49A6-BEAA-08CB1AA86DAE}"/>
              </a:ext>
            </a:extLst>
          </p:cNvPr>
          <p:cNvSpPr>
            <a:spLocks noGrp="1"/>
          </p:cNvSpPr>
          <p:nvPr/>
        </p:nvSpPr>
        <p:spPr>
          <a:xfrm>
            <a:off x="742950" y="2609850"/>
            <a:ext cx="342900" cy="342900"/>
          </a:xfrm>
          <a:prstGeom prst="ellipse">
            <a:avLst/>
          </a:prstGeom>
          <a:solidFill>
            <a:srgbClr val="F4F8FD"/>
          </a:solidFill>
          <a:ln w="16193">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17" name="Step 2 number">
            <a:extLst>
              <a:ext uri="{FF2B5EF4-FFF2-40B4-BE49-F238E27FC236}">
                <a16:creationId xmlns:a16="http://schemas.microsoft.com/office/drawing/2014/main" id="{77E3274C-21F0-4499-8A04-2872E633BEFF}"/>
              </a:ext>
            </a:extLst>
          </p:cNvPr>
          <p:cNvSpPr>
            <a:spLocks noGrp="1"/>
          </p:cNvSpPr>
          <p:nvPr/>
        </p:nvSpPr>
        <p:spPr>
          <a:xfrm>
            <a:off x="742950" y="2609850"/>
            <a:ext cx="342900" cy="342900"/>
          </a:xfrm>
          <a:prstGeom prst="rect">
            <a:avLst/>
          </a:prstGeom>
          <a:noFill/>
          <a:ln w="0">
            <a:noFill/>
            <a:prstDash val="solid"/>
          </a:ln>
        </p:spPr>
        <p:txBody>
          <a:bodyPr lIns="0" tIns="0" rIns="0" bIns="0" anchor="ctr">
            <a:noAutofit/>
          </a:bodyPr>
          <a:lstStyle/>
          <a:p>
            <a:pPr algn="ctr">
              <a:buNone/>
              <a:defRPr sz="1275" b="1">
                <a:solidFill>
                  <a:srgbClr val="2563A8"/>
                </a:solidFill>
                <a:latin typeface="Arial"/>
                <a:ea typeface="Arial"/>
                <a:cs typeface="Arial"/>
              </a:defRPr>
            </a:pPr>
            <a:r>
              <a:rPr sz="1275" b="1">
                <a:solidFill>
                  <a:srgbClr val="2563A8"/>
                </a:solidFill>
                <a:latin typeface="Times New Roman" panose="02020603050405020304" pitchFamily="18" charset="0"/>
                <a:ea typeface="Arial"/>
                <a:cs typeface="Times New Roman" panose="02020603050405020304" pitchFamily="18" charset="0"/>
              </a:rPr>
              <a:t>2</a:t>
            </a:r>
          </a:p>
        </p:txBody>
      </p:sp>
      <p:sp>
        <p:nvSpPr>
          <p:cNvPr id="18" name="Step 2 heading">
            <a:extLst>
              <a:ext uri="{FF2B5EF4-FFF2-40B4-BE49-F238E27FC236}">
                <a16:creationId xmlns:a16="http://schemas.microsoft.com/office/drawing/2014/main" id="{EB4BDC0A-CF95-47A8-BC65-A609B666C42D}"/>
              </a:ext>
            </a:extLst>
          </p:cNvPr>
          <p:cNvSpPr>
            <a:spLocks noGrp="1"/>
          </p:cNvSpPr>
          <p:nvPr/>
        </p:nvSpPr>
        <p:spPr>
          <a:xfrm>
            <a:off x="1257300" y="2543175"/>
            <a:ext cx="2286000" cy="257175"/>
          </a:xfrm>
          <a:prstGeom prst="rect">
            <a:avLst/>
          </a:prstGeom>
          <a:noFill/>
          <a:ln w="0">
            <a:noFill/>
            <a:prstDash val="solid"/>
          </a:ln>
        </p:spPr>
        <p:txBody>
          <a:bodyPr lIns="0" tIns="0" rIns="0" bIns="0" anchor="ctr">
            <a:noAutofit/>
          </a:bodyPr>
          <a:lstStyle/>
          <a:p>
            <a:pPr algn="l">
              <a:buNone/>
              <a:defRPr sz="1275" b="1">
                <a:solidFill>
                  <a:srgbClr val="111827"/>
                </a:solidFill>
                <a:latin typeface="Arial"/>
                <a:ea typeface="Arial"/>
                <a:cs typeface="Arial"/>
              </a:defRPr>
            </a:pPr>
            <a:r>
              <a:rPr sz="1275" b="1">
                <a:solidFill>
                  <a:srgbClr val="111827"/>
                </a:solidFill>
                <a:latin typeface="Times New Roman" panose="02020603050405020304" pitchFamily="18" charset="0"/>
                <a:ea typeface="Arial"/>
                <a:cs typeface="Times New Roman" panose="02020603050405020304" pitchFamily="18" charset="0"/>
              </a:rPr>
              <a:t>Configure generation</a:t>
            </a:r>
          </a:p>
        </p:txBody>
      </p:sp>
      <p:sp>
        <p:nvSpPr>
          <p:cNvPr id="19" name="Step 2 detail">
            <a:extLst>
              <a:ext uri="{FF2B5EF4-FFF2-40B4-BE49-F238E27FC236}">
                <a16:creationId xmlns:a16="http://schemas.microsoft.com/office/drawing/2014/main" id="{0EEAD0AA-B0EA-4CC2-89DB-6BDCCD4EC115}"/>
              </a:ext>
            </a:extLst>
          </p:cNvPr>
          <p:cNvSpPr>
            <a:spLocks noGrp="1"/>
          </p:cNvSpPr>
          <p:nvPr/>
        </p:nvSpPr>
        <p:spPr>
          <a:xfrm>
            <a:off x="1257300" y="2819400"/>
            <a:ext cx="2333625" cy="428625"/>
          </a:xfrm>
          <a:prstGeom prst="rect">
            <a:avLst/>
          </a:prstGeom>
          <a:noFill/>
          <a:ln w="0">
            <a:noFill/>
            <a:prstDash val="solid"/>
          </a:ln>
        </p:spPr>
        <p:txBody>
          <a:bodyPr lIns="0" tIns="0" rIns="0" bIns="0" anchor="t">
            <a:noAutofit/>
          </a:bodyPr>
          <a:lstStyle/>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Max output · Temperature</a:t>
            </a:r>
          </a:p>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Top-p · Seed</a:t>
            </a:r>
          </a:p>
        </p:txBody>
      </p:sp>
      <p:sp>
        <p:nvSpPr>
          <p:cNvPr id="20" name="Step 3 connector mask">
            <a:extLst>
              <a:ext uri="{FF2B5EF4-FFF2-40B4-BE49-F238E27FC236}">
                <a16:creationId xmlns:a16="http://schemas.microsoft.com/office/drawing/2014/main" id="{A239E0E4-94F6-470E-86A4-AFA467C8BEB6}"/>
              </a:ext>
            </a:extLst>
          </p:cNvPr>
          <p:cNvSpPr>
            <a:spLocks noGrp="1"/>
          </p:cNvSpPr>
          <p:nvPr/>
        </p:nvSpPr>
        <p:spPr>
          <a:xfrm>
            <a:off x="685800" y="3457575"/>
            <a:ext cx="457200" cy="457200"/>
          </a:xfrm>
          <a:prstGeom prst="ellipse">
            <a:avLst/>
          </a:prstGeom>
          <a:solidFill>
            <a:srgbClr val="FFFFFF"/>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1" name="Step 3 badge">
            <a:extLst>
              <a:ext uri="{FF2B5EF4-FFF2-40B4-BE49-F238E27FC236}">
                <a16:creationId xmlns:a16="http://schemas.microsoft.com/office/drawing/2014/main" id="{93ED7035-117A-410E-874A-D5C4EB611980}"/>
              </a:ext>
            </a:extLst>
          </p:cNvPr>
          <p:cNvSpPr>
            <a:spLocks noGrp="1"/>
          </p:cNvSpPr>
          <p:nvPr/>
        </p:nvSpPr>
        <p:spPr>
          <a:xfrm>
            <a:off x="742950" y="3495675"/>
            <a:ext cx="342900" cy="342900"/>
          </a:xfrm>
          <a:prstGeom prst="ellipse">
            <a:avLst/>
          </a:prstGeom>
          <a:solidFill>
            <a:srgbClr val="F2FBF8"/>
          </a:solidFill>
          <a:ln w="16193">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2" name="Step 3 number">
            <a:extLst>
              <a:ext uri="{FF2B5EF4-FFF2-40B4-BE49-F238E27FC236}">
                <a16:creationId xmlns:a16="http://schemas.microsoft.com/office/drawing/2014/main" id="{8C4C105B-9729-4A76-B512-2B2C7170C873}"/>
              </a:ext>
            </a:extLst>
          </p:cNvPr>
          <p:cNvSpPr>
            <a:spLocks noGrp="1"/>
          </p:cNvSpPr>
          <p:nvPr/>
        </p:nvSpPr>
        <p:spPr>
          <a:xfrm>
            <a:off x="742950" y="3495675"/>
            <a:ext cx="342900" cy="342900"/>
          </a:xfrm>
          <a:prstGeom prst="rect">
            <a:avLst/>
          </a:prstGeom>
          <a:noFill/>
          <a:ln w="0">
            <a:noFill/>
            <a:prstDash val="solid"/>
          </a:ln>
        </p:spPr>
        <p:txBody>
          <a:bodyPr lIns="0" tIns="0" rIns="0" bIns="0" anchor="ctr">
            <a:noAutofit/>
          </a:bodyPr>
          <a:lstStyle/>
          <a:p>
            <a:pPr algn="ctr">
              <a:buNone/>
              <a:defRPr sz="1275" b="1">
                <a:solidFill>
                  <a:srgbClr val="008A72"/>
                </a:solidFill>
                <a:latin typeface="Arial"/>
                <a:ea typeface="Arial"/>
                <a:cs typeface="Arial"/>
              </a:defRPr>
            </a:pPr>
            <a:r>
              <a:rPr sz="1275" b="1">
                <a:solidFill>
                  <a:srgbClr val="008A72"/>
                </a:solidFill>
                <a:latin typeface="Times New Roman" panose="02020603050405020304" pitchFamily="18" charset="0"/>
                <a:ea typeface="Arial"/>
                <a:cs typeface="Times New Roman" panose="02020603050405020304" pitchFamily="18" charset="0"/>
              </a:rPr>
              <a:t>3</a:t>
            </a:r>
          </a:p>
        </p:txBody>
      </p:sp>
      <p:sp>
        <p:nvSpPr>
          <p:cNvPr id="23" name="Step 3 heading">
            <a:extLst>
              <a:ext uri="{FF2B5EF4-FFF2-40B4-BE49-F238E27FC236}">
                <a16:creationId xmlns:a16="http://schemas.microsoft.com/office/drawing/2014/main" id="{2CAB0BDB-4AC2-4DC6-9C2C-E6D72A2F9F99}"/>
              </a:ext>
            </a:extLst>
          </p:cNvPr>
          <p:cNvSpPr>
            <a:spLocks noGrp="1"/>
          </p:cNvSpPr>
          <p:nvPr/>
        </p:nvSpPr>
        <p:spPr>
          <a:xfrm>
            <a:off x="1257300" y="3429000"/>
            <a:ext cx="2286000" cy="257175"/>
          </a:xfrm>
          <a:prstGeom prst="rect">
            <a:avLst/>
          </a:prstGeom>
          <a:noFill/>
          <a:ln w="0">
            <a:noFill/>
            <a:prstDash val="solid"/>
          </a:ln>
        </p:spPr>
        <p:txBody>
          <a:bodyPr lIns="0" tIns="0" rIns="0" bIns="0" anchor="ctr">
            <a:noAutofit/>
          </a:bodyPr>
          <a:lstStyle/>
          <a:p>
            <a:pPr algn="l">
              <a:buNone/>
              <a:defRPr sz="1275" b="1">
                <a:solidFill>
                  <a:srgbClr val="111827"/>
                </a:solidFill>
                <a:latin typeface="Arial"/>
                <a:ea typeface="Arial"/>
                <a:cs typeface="Arial"/>
              </a:defRPr>
            </a:pPr>
            <a:r>
              <a:rPr sz="1275" b="1">
                <a:solidFill>
                  <a:srgbClr val="111827"/>
                </a:solidFill>
                <a:latin typeface="Times New Roman" panose="02020603050405020304" pitchFamily="18" charset="0"/>
                <a:ea typeface="Arial"/>
                <a:cs typeface="Times New Roman" panose="02020603050405020304" pitchFamily="18" charset="0"/>
              </a:rPr>
              <a:t>Run a local prompt</a:t>
            </a:r>
          </a:p>
        </p:txBody>
      </p:sp>
      <p:sp>
        <p:nvSpPr>
          <p:cNvPr id="24" name="Step 3 detail">
            <a:extLst>
              <a:ext uri="{FF2B5EF4-FFF2-40B4-BE49-F238E27FC236}">
                <a16:creationId xmlns:a16="http://schemas.microsoft.com/office/drawing/2014/main" id="{F5260BBE-2ECA-49DE-9086-0357C7424384}"/>
              </a:ext>
            </a:extLst>
          </p:cNvPr>
          <p:cNvSpPr>
            <a:spLocks noGrp="1"/>
          </p:cNvSpPr>
          <p:nvPr/>
        </p:nvSpPr>
        <p:spPr>
          <a:xfrm>
            <a:off x="1257300" y="3705225"/>
            <a:ext cx="2333625" cy="428625"/>
          </a:xfrm>
          <a:prstGeom prst="rect">
            <a:avLst/>
          </a:prstGeom>
          <a:noFill/>
          <a:ln w="0">
            <a:noFill/>
            <a:prstDash val="solid"/>
          </a:ln>
        </p:spPr>
        <p:txBody>
          <a:bodyPr lIns="0" tIns="0" rIns="0" bIns="0" anchor="t">
            <a:noAutofit/>
          </a:bodyPr>
          <a:lstStyle/>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Generate a response directly</a:t>
            </a:r>
          </a:p>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on the device</a:t>
            </a:r>
          </a:p>
        </p:txBody>
      </p:sp>
      <p:sp>
        <p:nvSpPr>
          <p:cNvPr id="25" name="Step 4 connector mask">
            <a:extLst>
              <a:ext uri="{FF2B5EF4-FFF2-40B4-BE49-F238E27FC236}">
                <a16:creationId xmlns:a16="http://schemas.microsoft.com/office/drawing/2014/main" id="{D8FF531D-D57A-4172-81FF-14C7CC338457}"/>
              </a:ext>
            </a:extLst>
          </p:cNvPr>
          <p:cNvSpPr>
            <a:spLocks noGrp="1"/>
          </p:cNvSpPr>
          <p:nvPr/>
        </p:nvSpPr>
        <p:spPr>
          <a:xfrm>
            <a:off x="685800" y="4343400"/>
            <a:ext cx="457200" cy="457200"/>
          </a:xfrm>
          <a:prstGeom prst="ellipse">
            <a:avLst/>
          </a:prstGeom>
          <a:solidFill>
            <a:srgbClr val="FFFFFF"/>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6" name="Step 4 badge">
            <a:extLst>
              <a:ext uri="{FF2B5EF4-FFF2-40B4-BE49-F238E27FC236}">
                <a16:creationId xmlns:a16="http://schemas.microsoft.com/office/drawing/2014/main" id="{DD912EDD-65ED-413A-BA1E-FCD20EB48C1B}"/>
              </a:ext>
            </a:extLst>
          </p:cNvPr>
          <p:cNvSpPr>
            <a:spLocks noGrp="1"/>
          </p:cNvSpPr>
          <p:nvPr/>
        </p:nvSpPr>
        <p:spPr>
          <a:xfrm>
            <a:off x="742950" y="4381500"/>
            <a:ext cx="342900" cy="342900"/>
          </a:xfrm>
          <a:prstGeom prst="ellipse">
            <a:avLst/>
          </a:prstGeom>
          <a:solidFill>
            <a:srgbClr val="F4F8FD"/>
          </a:solidFill>
          <a:ln w="16193">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7" name="Step 4 number">
            <a:extLst>
              <a:ext uri="{FF2B5EF4-FFF2-40B4-BE49-F238E27FC236}">
                <a16:creationId xmlns:a16="http://schemas.microsoft.com/office/drawing/2014/main" id="{13871C84-8525-4D26-B129-0DA39117FE06}"/>
              </a:ext>
            </a:extLst>
          </p:cNvPr>
          <p:cNvSpPr>
            <a:spLocks noGrp="1"/>
          </p:cNvSpPr>
          <p:nvPr/>
        </p:nvSpPr>
        <p:spPr>
          <a:xfrm>
            <a:off x="742950" y="4381500"/>
            <a:ext cx="342900" cy="342900"/>
          </a:xfrm>
          <a:prstGeom prst="rect">
            <a:avLst/>
          </a:prstGeom>
          <a:noFill/>
          <a:ln w="0">
            <a:noFill/>
            <a:prstDash val="solid"/>
          </a:ln>
        </p:spPr>
        <p:txBody>
          <a:bodyPr lIns="0" tIns="0" rIns="0" bIns="0" anchor="ctr">
            <a:noAutofit/>
          </a:bodyPr>
          <a:lstStyle/>
          <a:p>
            <a:pPr algn="ctr">
              <a:buNone/>
              <a:defRPr sz="1275" b="1">
                <a:solidFill>
                  <a:srgbClr val="2563A8"/>
                </a:solidFill>
                <a:latin typeface="Arial"/>
                <a:ea typeface="Arial"/>
                <a:cs typeface="Arial"/>
              </a:defRPr>
            </a:pPr>
            <a:r>
              <a:rPr sz="1275" b="1">
                <a:solidFill>
                  <a:srgbClr val="2563A8"/>
                </a:solidFill>
                <a:latin typeface="Times New Roman" panose="02020603050405020304" pitchFamily="18" charset="0"/>
                <a:ea typeface="Arial"/>
                <a:cs typeface="Times New Roman" panose="02020603050405020304" pitchFamily="18" charset="0"/>
              </a:rPr>
              <a:t>4</a:t>
            </a:r>
          </a:p>
        </p:txBody>
      </p:sp>
      <p:sp>
        <p:nvSpPr>
          <p:cNvPr id="28" name="Step 4 heading">
            <a:extLst>
              <a:ext uri="{FF2B5EF4-FFF2-40B4-BE49-F238E27FC236}">
                <a16:creationId xmlns:a16="http://schemas.microsoft.com/office/drawing/2014/main" id="{690C81FD-0616-4020-AEDD-954BAB65D77A}"/>
              </a:ext>
            </a:extLst>
          </p:cNvPr>
          <p:cNvSpPr>
            <a:spLocks noGrp="1"/>
          </p:cNvSpPr>
          <p:nvPr/>
        </p:nvSpPr>
        <p:spPr>
          <a:xfrm>
            <a:off x="1257300" y="4314825"/>
            <a:ext cx="2286000" cy="257175"/>
          </a:xfrm>
          <a:prstGeom prst="rect">
            <a:avLst/>
          </a:prstGeom>
          <a:noFill/>
          <a:ln w="0">
            <a:noFill/>
            <a:prstDash val="solid"/>
          </a:ln>
        </p:spPr>
        <p:txBody>
          <a:bodyPr lIns="0" tIns="0" rIns="0" bIns="0" anchor="ctr">
            <a:noAutofit/>
          </a:bodyPr>
          <a:lstStyle/>
          <a:p>
            <a:pPr algn="l">
              <a:buNone/>
              <a:defRPr sz="1275" b="1">
                <a:solidFill>
                  <a:srgbClr val="111827"/>
                </a:solidFill>
                <a:latin typeface="Arial"/>
                <a:ea typeface="Arial"/>
                <a:cs typeface="Arial"/>
              </a:defRPr>
            </a:pPr>
            <a:r>
              <a:rPr sz="1275" b="1">
                <a:solidFill>
                  <a:srgbClr val="111827"/>
                </a:solidFill>
                <a:latin typeface="Times New Roman" panose="02020603050405020304" pitchFamily="18" charset="0"/>
                <a:ea typeface="Arial"/>
                <a:cs typeface="Times New Roman" panose="02020603050405020304" pitchFamily="18" charset="0"/>
              </a:rPr>
              <a:t>Inspect runtime controls</a:t>
            </a:r>
          </a:p>
        </p:txBody>
      </p:sp>
      <p:sp>
        <p:nvSpPr>
          <p:cNvPr id="29" name="Step 4 detail">
            <a:extLst>
              <a:ext uri="{FF2B5EF4-FFF2-40B4-BE49-F238E27FC236}">
                <a16:creationId xmlns:a16="http://schemas.microsoft.com/office/drawing/2014/main" id="{5F3BA5BF-BBCE-4A9E-8201-89784319A26E}"/>
              </a:ext>
            </a:extLst>
          </p:cNvPr>
          <p:cNvSpPr>
            <a:spLocks noGrp="1"/>
          </p:cNvSpPr>
          <p:nvPr/>
        </p:nvSpPr>
        <p:spPr>
          <a:xfrm>
            <a:off x="1257300" y="4591050"/>
            <a:ext cx="2333625" cy="428625"/>
          </a:xfrm>
          <a:prstGeom prst="rect">
            <a:avLst/>
          </a:prstGeom>
          <a:noFill/>
          <a:ln w="0">
            <a:noFill/>
            <a:prstDash val="solid"/>
          </a:ln>
        </p:spPr>
        <p:txBody>
          <a:bodyPr lIns="0" tIns="0" rIns="0" bIns="0" anchor="t">
            <a:noAutofit/>
          </a:bodyPr>
          <a:lstStyle/>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Token information · History controls</a:t>
            </a:r>
          </a:p>
          <a:p>
            <a:pPr algn="l">
              <a:buNone/>
              <a:defRPr sz="1013">
                <a:solidFill>
                  <a:srgbClr val="6B7280"/>
                </a:solidFill>
                <a:latin typeface="Arial"/>
                <a:ea typeface="Arial"/>
                <a:cs typeface="Arial"/>
              </a:defRPr>
            </a:pPr>
            <a:r>
              <a:rPr sz="1013" dirty="0">
                <a:solidFill>
                  <a:schemeClr val="tx1">
                    <a:lumMod val="85000"/>
                    <a:lumOff val="15000"/>
                  </a:schemeClr>
                </a:solidFill>
                <a:latin typeface="Times New Roman" panose="02020603050405020304" pitchFamily="18" charset="0"/>
                <a:ea typeface="Arial"/>
                <a:cs typeface="Times New Roman" panose="02020603050405020304" pitchFamily="18" charset="0"/>
              </a:rPr>
              <a:t>Model switching</a:t>
            </a:r>
          </a:p>
        </p:txBody>
      </p:sp>
      <p:pic>
        <p:nvPicPr>
          <p:cNvPr id="65" name="Picture 64"/>
          <p:cNvPicPr>
            <a:picLocks noChangeAspect="1"/>
          </p:cNvPicPr>
          <p:nvPr/>
        </p:nvPicPr>
        <p:blipFill>
          <a:blip/>
          <a:srcRect/>
          <a:stretch>
            <a:fillRect/>
          </a:stretch>
        </p:blipFill>
        <p:spPr>
          <a:xfrm>
            <a:off x="0" y="0"/>
            <a:ext cx="9525" cy="9525"/>
          </a:xfrm>
          <a:prstGeom prst="roundRect">
            <a:avLst>
              <a:gd name="adj" fmla="val 1747"/>
            </a:avLst>
          </a:prstGeom>
        </p:spPr>
      </p:pic>
      <p:sp>
        <p:nvSpPr>
          <p:cNvPr id="33" name="Demo takeaway band">
            <a:extLst>
              <a:ext uri="{FF2B5EF4-FFF2-40B4-BE49-F238E27FC236}">
                <a16:creationId xmlns:a16="http://schemas.microsoft.com/office/drawing/2014/main" id="{000FF5A0-113E-403D-9319-417F3DFDDFE3}"/>
              </a:ext>
            </a:extLst>
          </p:cNvPr>
          <p:cNvSpPr>
            <a:spLocks noGrp="1"/>
          </p:cNvSpPr>
          <p:nvPr/>
        </p:nvSpPr>
        <p:spPr>
          <a:xfrm>
            <a:off x="476250" y="5848350"/>
            <a:ext cx="11144250" cy="514350"/>
          </a:xfrm>
          <a:prstGeom prst="roundRect">
            <a:avLst>
              <a:gd name="adj" fmla="val 14815"/>
            </a:avLst>
          </a:prstGeom>
          <a:noFill/>
          <a:ln w="10478">
            <a:solidFill>
              <a:srgbClr val="C9D9EC"/>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5" name="Demo takeaway">
            <a:extLst>
              <a:ext uri="{FF2B5EF4-FFF2-40B4-BE49-F238E27FC236}">
                <a16:creationId xmlns:a16="http://schemas.microsoft.com/office/drawing/2014/main" id="{999E240C-D3E9-4C8E-9A12-7BB1007DD697}"/>
              </a:ext>
            </a:extLst>
          </p:cNvPr>
          <p:cNvSpPr>
            <a:spLocks noGrp="1"/>
          </p:cNvSpPr>
          <p:nvPr/>
        </p:nvSpPr>
        <p:spPr>
          <a:xfrm>
            <a:off x="742950" y="5876925"/>
            <a:ext cx="10620375" cy="238125"/>
          </a:xfrm>
          <a:prstGeom prst="rect">
            <a:avLst/>
          </a:prstGeom>
          <a:noFill/>
          <a:ln w="0">
            <a:noFill/>
            <a:prstDash val="solid"/>
          </a:ln>
        </p:spPr>
        <p:txBody>
          <a:bodyPr lIns="0" tIns="0" rIns="0" bIns="0" anchor="ctr">
            <a:noAutofit/>
          </a:bodyPr>
          <a:lstStyle/>
          <a:p>
            <a:pPr algn="ctr">
              <a:buNone/>
              <a:defRPr sz="1238" b="1">
                <a:solidFill>
                  <a:srgbClr val="111827"/>
                </a:solidFill>
                <a:latin typeface="Arial"/>
                <a:ea typeface="Arial"/>
                <a:cs typeface="Arial"/>
              </a:defRPr>
            </a:pPr>
            <a:r>
              <a:rPr sz="1400" b="1" i="1" dirty="0">
                <a:solidFill>
                  <a:srgbClr val="111827"/>
                </a:solidFill>
                <a:latin typeface="Times New Roman" panose="02020603050405020304" pitchFamily="18" charset="0"/>
                <a:ea typeface="Arial"/>
                <a:cs typeface="Times New Roman" panose="02020603050405020304" pitchFamily="18" charset="0"/>
              </a:rPr>
              <a:t>All normal chat inference runs locally — no external inference API is used.</a:t>
            </a:r>
          </a:p>
        </p:txBody>
      </p:sp>
      <p:sp>
        <p:nvSpPr>
          <p:cNvPr id="36" name="CLI demo note">
            <a:extLst>
              <a:ext uri="{FF2B5EF4-FFF2-40B4-BE49-F238E27FC236}">
                <a16:creationId xmlns:a16="http://schemas.microsoft.com/office/drawing/2014/main" id="{69EF4788-65BA-470F-9A8D-F663B9B57F6D}"/>
              </a:ext>
            </a:extLst>
          </p:cNvPr>
          <p:cNvSpPr>
            <a:spLocks noGrp="1"/>
          </p:cNvSpPr>
          <p:nvPr/>
        </p:nvSpPr>
        <p:spPr>
          <a:xfrm>
            <a:off x="742950" y="6124575"/>
            <a:ext cx="10620375" cy="161925"/>
          </a:xfrm>
          <a:prstGeom prst="rect">
            <a:avLst/>
          </a:prstGeom>
          <a:noFill/>
          <a:ln w="0">
            <a:noFill/>
            <a:prstDash val="solid"/>
          </a:ln>
        </p:spPr>
        <p:txBody>
          <a:bodyPr lIns="0" tIns="0" rIns="0" bIns="0" anchor="ctr">
            <a:noAutofit/>
          </a:bodyPr>
          <a:lstStyle/>
          <a:p>
            <a:pPr algn="ctr">
              <a:buNone/>
              <a:defRPr sz="863">
                <a:solidFill>
                  <a:srgbClr val="6B7280"/>
                </a:solidFill>
                <a:latin typeface="Arial"/>
                <a:ea typeface="Arial"/>
                <a:cs typeface="Arial"/>
              </a:defRPr>
            </a:pPr>
            <a:r>
              <a:rPr sz="1200" i="1" dirty="0">
                <a:solidFill>
                  <a:schemeClr val="tx1">
                    <a:lumMod val="85000"/>
                    <a:lumOff val="15000"/>
                  </a:schemeClr>
                </a:solidFill>
                <a:latin typeface="Times New Roman" panose="02020603050405020304" pitchFamily="18" charset="0"/>
                <a:ea typeface="Arial"/>
                <a:cs typeface="Times New Roman" panose="02020603050405020304" pitchFamily="18" charset="0"/>
              </a:rPr>
              <a:t>CLI functionality was demonstrated during the mid-term presentation.</a:t>
            </a:r>
          </a:p>
        </p:txBody>
      </p:sp>
      <p:pic>
        <p:nvPicPr>
          <p:cNvPr id="4" name="Picture 3">
            <a:extLst>
              <a:ext uri="{FF2B5EF4-FFF2-40B4-BE49-F238E27FC236}">
                <a16:creationId xmlns:a16="http://schemas.microsoft.com/office/drawing/2014/main" id="{50944B80-A53B-47A3-05EE-CC20331017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9047" y="1257300"/>
            <a:ext cx="7972990" cy="4395610"/>
          </a:xfrm>
          <a:prstGeom prst="rect">
            <a:avLst/>
          </a:prstGeom>
        </p:spPr>
      </p:pic>
    </p:spTree>
    <p:extLst>
      <p:ext uri="{BB962C8B-B14F-4D97-AF65-F5344CB8AC3E}">
        <p14:creationId xmlns:p14="http://schemas.microsoft.com/office/powerpoint/2010/main" val="901800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8382000" cy="552450"/>
          </a:xfrm>
        </p:spPr>
        <p:txBody>
          <a:bodyPr lIns="0" tIns="0" rIns="0" bIns="0" anchor="t">
            <a:noAutofit/>
          </a:bodyPr>
          <a:lstStyle/>
          <a:p>
            <a:pPr marL="0" indent="0" algn="l">
              <a:buNone/>
              <a:defRPr sz="3150" b="1">
                <a:solidFill>
                  <a:srgbClr val="050505"/>
                </a:solidFill>
                <a:latin typeface="Arial Black"/>
                <a:ea typeface="Arial Black"/>
                <a:cs typeface="Arial Black"/>
              </a:defRPr>
            </a:pPr>
            <a:r>
              <a:rPr sz="3200" b="1" dirty="0">
                <a:solidFill>
                  <a:srgbClr val="050505"/>
                </a:solidFill>
                <a:latin typeface="Times New Roman" panose="02020603050405020304" pitchFamily="18" charset="0"/>
                <a:cs typeface="Times New Roman" panose="02020603050405020304" pitchFamily="18" charset="0"/>
              </a:rPr>
              <a:t>EXPERIMENTAL RESULTS</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388657AE-30A1-5A7A-6A7F-315D84436430}" type="slidenum">
              <a:rPr>
                <a:latin typeface="Times New Roman" panose="02020603050405020304" pitchFamily="18" charset="0"/>
                <a:cs typeface="Times New Roman" panose="02020603050405020304" pitchFamily="18" charset="0"/>
              </a:rPr>
              <a:t>9</a:t>
            </a:fld>
            <a:endParaRPr>
              <a:latin typeface="Times New Roman" panose="02020603050405020304" pitchFamily="18" charset="0"/>
              <a:cs typeface="Times New Roman" panose="02020603050405020304" pitchFamily="18" charset="0"/>
            </a:endParaRPr>
          </a:p>
        </p:txBody>
      </p:sp>
      <p:sp>
        <p:nvSpPr>
          <p:cNvPr id="6" name="Throughput heading">
            <a:extLst>
              <a:ext uri="{FF2B5EF4-FFF2-40B4-BE49-F238E27FC236}">
                <a16:creationId xmlns:a16="http://schemas.microsoft.com/office/drawing/2014/main" id="{85A95183-7DB2-419F-9D1E-E4184ED8AAC3}"/>
              </a:ext>
            </a:extLst>
          </p:cNvPr>
          <p:cNvSpPr>
            <a:spLocks noGrp="1"/>
          </p:cNvSpPr>
          <p:nvPr/>
        </p:nvSpPr>
        <p:spPr>
          <a:xfrm>
            <a:off x="476250" y="1066800"/>
            <a:ext cx="4667250" cy="238125"/>
          </a:xfrm>
          <a:prstGeom prst="rect">
            <a:avLst/>
          </a:prstGeom>
          <a:noFill/>
          <a:ln w="0">
            <a:noFill/>
            <a:prstDash val="solid"/>
          </a:ln>
        </p:spPr>
        <p:txBody>
          <a:bodyPr lIns="0" tIns="0" rIns="0" bIns="0" anchor="ctr">
            <a:noAutofit/>
          </a:bodyPr>
          <a:lstStyle/>
          <a:p>
            <a:pPr algn="l">
              <a:buNone/>
              <a:defRPr sz="1275" b="1">
                <a:solidFill>
                  <a:srgbClr val="2563A8"/>
                </a:solidFill>
                <a:latin typeface="Arial"/>
                <a:ea typeface="Arial"/>
                <a:cs typeface="Arial"/>
              </a:defRPr>
            </a:pPr>
            <a:r>
              <a:rPr sz="1275" b="1" dirty="0">
                <a:solidFill>
                  <a:schemeClr val="tx1">
                    <a:lumMod val="95000"/>
                    <a:lumOff val="5000"/>
                  </a:schemeClr>
                </a:solidFill>
                <a:latin typeface="Times New Roman" panose="02020603050405020304" pitchFamily="18" charset="0"/>
                <a:ea typeface="Arial"/>
                <a:cs typeface="Times New Roman" panose="02020603050405020304" pitchFamily="18" charset="0"/>
              </a:rPr>
              <a:t>GENERATION THROUGHPUT · TOKENS / SECOND</a:t>
            </a:r>
          </a:p>
        </p:txBody>
      </p:sp>
      <p:sp>
        <p:nvSpPr>
          <p:cNvPr id="7" name="Qwen legend swatch">
            <a:extLst>
              <a:ext uri="{FF2B5EF4-FFF2-40B4-BE49-F238E27FC236}">
                <a16:creationId xmlns:a16="http://schemas.microsoft.com/office/drawing/2014/main" id="{B77EBC8B-EB60-471C-8412-220B47D41FF0}"/>
              </a:ext>
            </a:extLst>
          </p:cNvPr>
          <p:cNvSpPr>
            <a:spLocks noGrp="1"/>
          </p:cNvSpPr>
          <p:nvPr/>
        </p:nvSpPr>
        <p:spPr>
          <a:xfrm>
            <a:off x="5295900" y="1133475"/>
            <a:ext cx="114300" cy="114300"/>
          </a:xfrm>
          <a:prstGeom prst="rect">
            <a:avLst/>
          </a:prstGeom>
          <a:solidFill>
            <a:srgbClr val="008A72"/>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8" name="Qwen legend">
            <a:extLst>
              <a:ext uri="{FF2B5EF4-FFF2-40B4-BE49-F238E27FC236}">
                <a16:creationId xmlns:a16="http://schemas.microsoft.com/office/drawing/2014/main" id="{02FC5817-2BA1-4AFE-AF65-36A63B53E167}"/>
              </a:ext>
            </a:extLst>
          </p:cNvPr>
          <p:cNvSpPr>
            <a:spLocks noGrp="1"/>
          </p:cNvSpPr>
          <p:nvPr/>
        </p:nvSpPr>
        <p:spPr>
          <a:xfrm>
            <a:off x="5467350" y="1057275"/>
            <a:ext cx="904875" cy="257175"/>
          </a:xfrm>
          <a:prstGeom prst="rect">
            <a:avLst/>
          </a:prstGeom>
          <a:noFill/>
          <a:ln w="0">
            <a:noFill/>
            <a:prstDash val="solid"/>
          </a:ln>
        </p:spPr>
        <p:txBody>
          <a:bodyPr lIns="0" tIns="0" rIns="0" bIns="0" anchor="ctr">
            <a:noAutofit/>
          </a:bodyPr>
          <a:lstStyle/>
          <a:p>
            <a:pPr algn="l">
              <a:buNone/>
              <a:defRPr sz="1088">
                <a:solidFill>
                  <a:srgbClr val="374151"/>
                </a:solidFill>
                <a:latin typeface="Arial"/>
                <a:ea typeface="Arial"/>
                <a:cs typeface="Arial"/>
              </a:defRPr>
            </a:pPr>
            <a:r>
              <a:rPr sz="1088">
                <a:solidFill>
                  <a:srgbClr val="374151"/>
                </a:solidFill>
                <a:latin typeface="Times New Roman" panose="02020603050405020304" pitchFamily="18" charset="0"/>
                <a:ea typeface="Arial"/>
                <a:cs typeface="Times New Roman" panose="02020603050405020304" pitchFamily="18" charset="0"/>
              </a:rPr>
              <a:t>Qwen-0.5B</a:t>
            </a:r>
          </a:p>
        </p:txBody>
      </p:sp>
      <p:sp>
        <p:nvSpPr>
          <p:cNvPr id="9" name="Llama legend swatch">
            <a:extLst>
              <a:ext uri="{FF2B5EF4-FFF2-40B4-BE49-F238E27FC236}">
                <a16:creationId xmlns:a16="http://schemas.microsoft.com/office/drawing/2014/main" id="{8FF5193A-0A81-4B8C-92EB-C7CE2B7440D7}"/>
              </a:ext>
            </a:extLst>
          </p:cNvPr>
          <p:cNvSpPr>
            <a:spLocks noGrp="1"/>
          </p:cNvSpPr>
          <p:nvPr/>
        </p:nvSpPr>
        <p:spPr>
          <a:xfrm>
            <a:off x="6477000" y="1133475"/>
            <a:ext cx="114300" cy="114300"/>
          </a:xfrm>
          <a:prstGeom prst="rect">
            <a:avLst/>
          </a:prstGeom>
          <a:solidFill>
            <a:srgbClr val="2563A8"/>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0" name="Llama legend">
            <a:extLst>
              <a:ext uri="{FF2B5EF4-FFF2-40B4-BE49-F238E27FC236}">
                <a16:creationId xmlns:a16="http://schemas.microsoft.com/office/drawing/2014/main" id="{60D55CBD-AA8E-4912-84EF-1B50349CDA94}"/>
              </a:ext>
            </a:extLst>
          </p:cNvPr>
          <p:cNvSpPr>
            <a:spLocks noGrp="1"/>
          </p:cNvSpPr>
          <p:nvPr/>
        </p:nvSpPr>
        <p:spPr>
          <a:xfrm>
            <a:off x="6648450" y="1057275"/>
            <a:ext cx="809625" cy="257175"/>
          </a:xfrm>
          <a:prstGeom prst="rect">
            <a:avLst/>
          </a:prstGeom>
          <a:noFill/>
          <a:ln w="0">
            <a:noFill/>
            <a:prstDash val="solid"/>
          </a:ln>
        </p:spPr>
        <p:txBody>
          <a:bodyPr lIns="0" tIns="0" rIns="0" bIns="0" anchor="ctr">
            <a:noAutofit/>
          </a:bodyPr>
          <a:lstStyle/>
          <a:p>
            <a:pPr algn="l">
              <a:buNone/>
              <a:defRPr sz="1088">
                <a:solidFill>
                  <a:srgbClr val="374151"/>
                </a:solidFill>
                <a:latin typeface="Arial"/>
                <a:ea typeface="Arial"/>
                <a:cs typeface="Arial"/>
              </a:defRPr>
            </a:pPr>
            <a:r>
              <a:rPr sz="1088">
                <a:solidFill>
                  <a:srgbClr val="374151"/>
                </a:solidFill>
                <a:latin typeface="Times New Roman" panose="02020603050405020304" pitchFamily="18" charset="0"/>
                <a:ea typeface="Arial"/>
                <a:cs typeface="Times New Roman" panose="02020603050405020304" pitchFamily="18" charset="0"/>
              </a:rPr>
              <a:t>Llama-1B</a:t>
            </a:r>
          </a:p>
        </p:txBody>
      </p:sp>
      <p:sp>
        <p:nvSpPr>
          <p:cNvPr id="11" name="Fastest callout">
            <a:extLst>
              <a:ext uri="{FF2B5EF4-FFF2-40B4-BE49-F238E27FC236}">
                <a16:creationId xmlns:a16="http://schemas.microsoft.com/office/drawing/2014/main" id="{9B29B09D-E754-428B-89D8-C9729B0819DD}"/>
              </a:ext>
            </a:extLst>
          </p:cNvPr>
          <p:cNvSpPr>
            <a:spLocks noGrp="1"/>
          </p:cNvSpPr>
          <p:nvPr/>
        </p:nvSpPr>
        <p:spPr>
          <a:xfrm>
            <a:off x="4953000" y="1362075"/>
            <a:ext cx="2571750" cy="361950"/>
          </a:xfrm>
          <a:prstGeom prst="roundRect">
            <a:avLst>
              <a:gd name="adj" fmla="val 21053"/>
            </a:avLst>
          </a:prstGeom>
          <a:solidFill>
            <a:srgbClr val="FFF7ED"/>
          </a:solidFill>
          <a:ln w="9525">
            <a:solidFill>
              <a:srgbClr val="F2C894"/>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2" name="Fastest callout text">
            <a:extLst>
              <a:ext uri="{FF2B5EF4-FFF2-40B4-BE49-F238E27FC236}">
                <a16:creationId xmlns:a16="http://schemas.microsoft.com/office/drawing/2014/main" id="{69F995BB-ED98-43C0-8700-F1BC70F999BB}"/>
              </a:ext>
            </a:extLst>
          </p:cNvPr>
          <p:cNvSpPr>
            <a:spLocks noGrp="1"/>
          </p:cNvSpPr>
          <p:nvPr/>
        </p:nvSpPr>
        <p:spPr>
          <a:xfrm>
            <a:off x="5067300" y="1409700"/>
            <a:ext cx="2343150" cy="266700"/>
          </a:xfrm>
          <a:prstGeom prst="rect">
            <a:avLst/>
          </a:prstGeom>
          <a:noFill/>
          <a:ln w="0">
            <a:noFill/>
            <a:prstDash val="solid"/>
          </a:ln>
        </p:spPr>
        <p:txBody>
          <a:bodyPr lIns="0" tIns="0" rIns="0" bIns="0" anchor="ctr">
            <a:noAutofit/>
          </a:bodyPr>
          <a:lstStyle/>
          <a:p>
            <a:pPr algn="ctr">
              <a:buNone/>
              <a:defRPr sz="938" b="1">
                <a:solidFill>
                  <a:srgbClr val="D97706"/>
                </a:solidFill>
                <a:latin typeface="Arial"/>
                <a:ea typeface="Arial"/>
                <a:cs typeface="Arial"/>
              </a:defRPr>
            </a:pPr>
            <a:r>
              <a:rPr sz="938" b="1" dirty="0">
                <a:solidFill>
                  <a:schemeClr val="tx1">
                    <a:lumMod val="95000"/>
                    <a:lumOff val="5000"/>
                  </a:schemeClr>
                </a:solidFill>
                <a:latin typeface="Times New Roman" panose="02020603050405020304" pitchFamily="18" charset="0"/>
                <a:ea typeface="Arial"/>
                <a:cs typeface="Times New Roman" panose="02020603050405020304" pitchFamily="18" charset="0"/>
              </a:rPr>
              <a:t>FASTEST AVERAGE CONFIGURATION
Qwen 4-bit Metal — 24.22 tokens/s</a:t>
            </a:r>
          </a:p>
        </p:txBody>
      </p:sp>
      <p:sp>
        <p:nvSpPr>
          <p:cNvPr id="13" name="Throughput grid 0">
            <a:extLst>
              <a:ext uri="{FF2B5EF4-FFF2-40B4-BE49-F238E27FC236}">
                <a16:creationId xmlns:a16="http://schemas.microsoft.com/office/drawing/2014/main" id="{843B6E0F-AF96-464C-AF8D-910F563E731A}"/>
              </a:ext>
            </a:extLst>
          </p:cNvPr>
          <p:cNvSpPr>
            <a:spLocks noGrp="1"/>
          </p:cNvSpPr>
          <p:nvPr/>
        </p:nvSpPr>
        <p:spPr>
          <a:xfrm>
            <a:off x="762000" y="4333875"/>
            <a:ext cx="6667500" cy="14288"/>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4" name="Throughput tick 0">
            <a:extLst>
              <a:ext uri="{FF2B5EF4-FFF2-40B4-BE49-F238E27FC236}">
                <a16:creationId xmlns:a16="http://schemas.microsoft.com/office/drawing/2014/main" id="{2514A234-6192-454C-A3DF-F5E0C0736E7E}"/>
              </a:ext>
            </a:extLst>
          </p:cNvPr>
          <p:cNvSpPr>
            <a:spLocks noGrp="1"/>
          </p:cNvSpPr>
          <p:nvPr/>
        </p:nvSpPr>
        <p:spPr>
          <a:xfrm>
            <a:off x="457200" y="4238625"/>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0</a:t>
            </a:r>
          </a:p>
        </p:txBody>
      </p:sp>
      <p:sp>
        <p:nvSpPr>
          <p:cNvPr id="15" name="Throughput grid 5">
            <a:extLst>
              <a:ext uri="{FF2B5EF4-FFF2-40B4-BE49-F238E27FC236}">
                <a16:creationId xmlns:a16="http://schemas.microsoft.com/office/drawing/2014/main" id="{7608E63C-DC81-4DC3-AECD-6D10B75F9163}"/>
              </a:ext>
            </a:extLst>
          </p:cNvPr>
          <p:cNvSpPr>
            <a:spLocks noGrp="1"/>
          </p:cNvSpPr>
          <p:nvPr/>
        </p:nvSpPr>
        <p:spPr>
          <a:xfrm>
            <a:off x="762000" y="3875942"/>
            <a:ext cx="6667500" cy="9525"/>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6" name="Throughput tick 5">
            <a:extLst>
              <a:ext uri="{FF2B5EF4-FFF2-40B4-BE49-F238E27FC236}">
                <a16:creationId xmlns:a16="http://schemas.microsoft.com/office/drawing/2014/main" id="{3B5E5020-96C8-4796-BEEF-D51D2A5480FB}"/>
              </a:ext>
            </a:extLst>
          </p:cNvPr>
          <p:cNvSpPr>
            <a:spLocks noGrp="1"/>
          </p:cNvSpPr>
          <p:nvPr/>
        </p:nvSpPr>
        <p:spPr>
          <a:xfrm>
            <a:off x="457200" y="3780692"/>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5</a:t>
            </a:r>
          </a:p>
        </p:txBody>
      </p:sp>
      <p:sp>
        <p:nvSpPr>
          <p:cNvPr id="17" name="Throughput grid 10">
            <a:extLst>
              <a:ext uri="{FF2B5EF4-FFF2-40B4-BE49-F238E27FC236}">
                <a16:creationId xmlns:a16="http://schemas.microsoft.com/office/drawing/2014/main" id="{3463C416-D609-49EF-85F9-3EECA2690522}"/>
              </a:ext>
            </a:extLst>
          </p:cNvPr>
          <p:cNvSpPr>
            <a:spLocks noGrp="1"/>
          </p:cNvSpPr>
          <p:nvPr/>
        </p:nvSpPr>
        <p:spPr>
          <a:xfrm>
            <a:off x="762000" y="3418010"/>
            <a:ext cx="6667500" cy="9525"/>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18" name="Throughput tick 10">
            <a:extLst>
              <a:ext uri="{FF2B5EF4-FFF2-40B4-BE49-F238E27FC236}">
                <a16:creationId xmlns:a16="http://schemas.microsoft.com/office/drawing/2014/main" id="{5AB0BF12-5F5E-44D0-AB59-6F4F9C98409F}"/>
              </a:ext>
            </a:extLst>
          </p:cNvPr>
          <p:cNvSpPr>
            <a:spLocks noGrp="1"/>
          </p:cNvSpPr>
          <p:nvPr/>
        </p:nvSpPr>
        <p:spPr>
          <a:xfrm>
            <a:off x="457200" y="3322760"/>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10</a:t>
            </a:r>
          </a:p>
        </p:txBody>
      </p:sp>
      <p:sp>
        <p:nvSpPr>
          <p:cNvPr id="19" name="Throughput grid 15">
            <a:extLst>
              <a:ext uri="{FF2B5EF4-FFF2-40B4-BE49-F238E27FC236}">
                <a16:creationId xmlns:a16="http://schemas.microsoft.com/office/drawing/2014/main" id="{6EA4CF9B-B713-447D-ADF1-79FDDB53BE14}"/>
              </a:ext>
            </a:extLst>
          </p:cNvPr>
          <p:cNvSpPr>
            <a:spLocks noGrp="1"/>
          </p:cNvSpPr>
          <p:nvPr/>
        </p:nvSpPr>
        <p:spPr>
          <a:xfrm>
            <a:off x="762000" y="2960077"/>
            <a:ext cx="6667500" cy="9525"/>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0" name="Throughput tick 15">
            <a:extLst>
              <a:ext uri="{FF2B5EF4-FFF2-40B4-BE49-F238E27FC236}">
                <a16:creationId xmlns:a16="http://schemas.microsoft.com/office/drawing/2014/main" id="{91F82A7D-53FB-4FF1-895C-3229012A52A7}"/>
              </a:ext>
            </a:extLst>
          </p:cNvPr>
          <p:cNvSpPr>
            <a:spLocks noGrp="1"/>
          </p:cNvSpPr>
          <p:nvPr/>
        </p:nvSpPr>
        <p:spPr>
          <a:xfrm>
            <a:off x="457200" y="2864827"/>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15</a:t>
            </a:r>
          </a:p>
        </p:txBody>
      </p:sp>
      <p:sp>
        <p:nvSpPr>
          <p:cNvPr id="21" name="Throughput grid 20">
            <a:extLst>
              <a:ext uri="{FF2B5EF4-FFF2-40B4-BE49-F238E27FC236}">
                <a16:creationId xmlns:a16="http://schemas.microsoft.com/office/drawing/2014/main" id="{BBFDD882-F1BC-419D-8384-C393551A44D2}"/>
              </a:ext>
            </a:extLst>
          </p:cNvPr>
          <p:cNvSpPr>
            <a:spLocks noGrp="1"/>
          </p:cNvSpPr>
          <p:nvPr/>
        </p:nvSpPr>
        <p:spPr>
          <a:xfrm>
            <a:off x="762000" y="2502144"/>
            <a:ext cx="6667500" cy="9525"/>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2" name="Throughput tick 20">
            <a:extLst>
              <a:ext uri="{FF2B5EF4-FFF2-40B4-BE49-F238E27FC236}">
                <a16:creationId xmlns:a16="http://schemas.microsoft.com/office/drawing/2014/main" id="{1BCC278D-91B3-4FBB-99FC-FACC9F1FECDF}"/>
              </a:ext>
            </a:extLst>
          </p:cNvPr>
          <p:cNvSpPr>
            <a:spLocks noGrp="1"/>
          </p:cNvSpPr>
          <p:nvPr/>
        </p:nvSpPr>
        <p:spPr>
          <a:xfrm>
            <a:off x="457200" y="2406894"/>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20</a:t>
            </a:r>
          </a:p>
        </p:txBody>
      </p:sp>
      <p:sp>
        <p:nvSpPr>
          <p:cNvPr id="23" name="Throughput grid 25">
            <a:extLst>
              <a:ext uri="{FF2B5EF4-FFF2-40B4-BE49-F238E27FC236}">
                <a16:creationId xmlns:a16="http://schemas.microsoft.com/office/drawing/2014/main" id="{5C1CF613-5841-42B6-AA32-D9145995FD1D}"/>
              </a:ext>
            </a:extLst>
          </p:cNvPr>
          <p:cNvSpPr>
            <a:spLocks noGrp="1"/>
          </p:cNvSpPr>
          <p:nvPr/>
        </p:nvSpPr>
        <p:spPr>
          <a:xfrm>
            <a:off x="762000" y="2044212"/>
            <a:ext cx="6667500" cy="9525"/>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4" name="Throughput tick 25">
            <a:extLst>
              <a:ext uri="{FF2B5EF4-FFF2-40B4-BE49-F238E27FC236}">
                <a16:creationId xmlns:a16="http://schemas.microsoft.com/office/drawing/2014/main" id="{6AF65ECC-DAA9-46B7-86BB-C3E35BFD12D3}"/>
              </a:ext>
            </a:extLst>
          </p:cNvPr>
          <p:cNvSpPr>
            <a:spLocks noGrp="1"/>
          </p:cNvSpPr>
          <p:nvPr/>
        </p:nvSpPr>
        <p:spPr>
          <a:xfrm>
            <a:off x="457200" y="1948962"/>
            <a:ext cx="247650" cy="190500"/>
          </a:xfrm>
          <a:prstGeom prst="rect">
            <a:avLst/>
          </a:prstGeom>
          <a:noFill/>
          <a:ln w="0">
            <a:noFill/>
            <a:prstDash val="solid"/>
          </a:ln>
        </p:spPr>
        <p:txBody>
          <a:bodyPr lIns="0" tIns="0" rIns="0" bIns="0" anchor="ctr">
            <a:noAutofit/>
          </a:bodyPr>
          <a:lstStyle/>
          <a:p>
            <a:pPr algn="r">
              <a:buNone/>
              <a:defRPr sz="938">
                <a:solidFill>
                  <a:srgbClr val="6B7280"/>
                </a:solidFill>
                <a:latin typeface="Arial"/>
                <a:ea typeface="Arial"/>
                <a:cs typeface="Arial"/>
              </a:defRPr>
            </a:pPr>
            <a:r>
              <a:rPr sz="938">
                <a:solidFill>
                  <a:srgbClr val="6B7280"/>
                </a:solidFill>
                <a:latin typeface="Times New Roman" panose="02020603050405020304" pitchFamily="18" charset="0"/>
                <a:ea typeface="Arial"/>
                <a:cs typeface="Times New Roman" panose="02020603050405020304" pitchFamily="18" charset="0"/>
              </a:rPr>
              <a:t>25</a:t>
            </a:r>
          </a:p>
        </p:txBody>
      </p:sp>
      <p:sp>
        <p:nvSpPr>
          <p:cNvPr id="25" name="Throughput vertical axis">
            <a:extLst>
              <a:ext uri="{FF2B5EF4-FFF2-40B4-BE49-F238E27FC236}">
                <a16:creationId xmlns:a16="http://schemas.microsoft.com/office/drawing/2014/main" id="{26408AE2-59D5-471F-A07A-0A7012F017A4}"/>
              </a:ext>
            </a:extLst>
          </p:cNvPr>
          <p:cNvSpPr>
            <a:spLocks noGrp="1"/>
          </p:cNvSpPr>
          <p:nvPr/>
        </p:nvSpPr>
        <p:spPr>
          <a:xfrm>
            <a:off x="762000" y="1952625"/>
            <a:ext cx="14288" cy="2381250"/>
          </a:xfrm>
          <a:prstGeom prst="rect">
            <a:avLst/>
          </a:prstGeom>
          <a:solidFill>
            <a:srgbClr val="D9E2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6" name="Qwen throughput bar 1">
            <a:extLst>
              <a:ext uri="{FF2B5EF4-FFF2-40B4-BE49-F238E27FC236}">
                <a16:creationId xmlns:a16="http://schemas.microsoft.com/office/drawing/2014/main" id="{ABB8D6E7-FAA2-4FD9-B95C-053277F88412}"/>
              </a:ext>
            </a:extLst>
          </p:cNvPr>
          <p:cNvSpPr>
            <a:spLocks noGrp="1"/>
          </p:cNvSpPr>
          <p:nvPr/>
        </p:nvSpPr>
        <p:spPr>
          <a:xfrm>
            <a:off x="1176338" y="2224637"/>
            <a:ext cx="781050" cy="2109238"/>
          </a:xfrm>
          <a:prstGeom prst="rect">
            <a:avLst/>
          </a:prstGeom>
          <a:solidFill>
            <a:srgbClr val="008A72"/>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7" name="Llama throughput bar 1">
            <a:extLst>
              <a:ext uri="{FF2B5EF4-FFF2-40B4-BE49-F238E27FC236}">
                <a16:creationId xmlns:a16="http://schemas.microsoft.com/office/drawing/2014/main" id="{EB7828CB-7950-4C59-A8EB-3A81FCB9FF7E}"/>
              </a:ext>
            </a:extLst>
          </p:cNvPr>
          <p:cNvSpPr>
            <a:spLocks noGrp="1"/>
          </p:cNvSpPr>
          <p:nvPr/>
        </p:nvSpPr>
        <p:spPr>
          <a:xfrm>
            <a:off x="2043113" y="3521502"/>
            <a:ext cx="781050" cy="812373"/>
          </a:xfrm>
          <a:prstGeom prst="rect">
            <a:avLst/>
          </a:prstGeom>
          <a:solidFill>
            <a:srgbClr val="2563A8"/>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28" name="Qwen throughput label 1">
            <a:extLst>
              <a:ext uri="{FF2B5EF4-FFF2-40B4-BE49-F238E27FC236}">
                <a16:creationId xmlns:a16="http://schemas.microsoft.com/office/drawing/2014/main" id="{782598D9-CC9E-4B95-B167-152BF8782013}"/>
              </a:ext>
            </a:extLst>
          </p:cNvPr>
          <p:cNvSpPr>
            <a:spLocks noGrp="1"/>
          </p:cNvSpPr>
          <p:nvPr/>
        </p:nvSpPr>
        <p:spPr>
          <a:xfrm>
            <a:off x="1138238" y="1976987"/>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23.03</a:t>
            </a:r>
          </a:p>
        </p:txBody>
      </p:sp>
      <p:sp>
        <p:nvSpPr>
          <p:cNvPr id="29" name="Llama throughput label 1">
            <a:extLst>
              <a:ext uri="{FF2B5EF4-FFF2-40B4-BE49-F238E27FC236}">
                <a16:creationId xmlns:a16="http://schemas.microsoft.com/office/drawing/2014/main" id="{FADC2025-9FD5-44C2-9E18-C2674A401CCF}"/>
              </a:ext>
            </a:extLst>
          </p:cNvPr>
          <p:cNvSpPr>
            <a:spLocks noGrp="1"/>
          </p:cNvSpPr>
          <p:nvPr/>
        </p:nvSpPr>
        <p:spPr>
          <a:xfrm>
            <a:off x="2005013" y="3273852"/>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8.87</a:t>
            </a:r>
          </a:p>
        </p:txBody>
      </p:sp>
      <p:sp>
        <p:nvSpPr>
          <p:cNvPr id="30" name="Throughput category 1">
            <a:extLst>
              <a:ext uri="{FF2B5EF4-FFF2-40B4-BE49-F238E27FC236}">
                <a16:creationId xmlns:a16="http://schemas.microsoft.com/office/drawing/2014/main" id="{779F9B70-57DA-4DA0-B4ED-38B0ACA0715C}"/>
              </a:ext>
            </a:extLst>
          </p:cNvPr>
          <p:cNvSpPr>
            <a:spLocks noGrp="1"/>
          </p:cNvSpPr>
          <p:nvPr/>
        </p:nvSpPr>
        <p:spPr>
          <a:xfrm>
            <a:off x="1047750" y="4371975"/>
            <a:ext cx="1905000" cy="238125"/>
          </a:xfrm>
          <a:prstGeom prst="rect">
            <a:avLst/>
          </a:prstGeom>
          <a:noFill/>
          <a:ln w="0">
            <a:noFill/>
            <a:prstDash val="solid"/>
          </a:ln>
        </p:spPr>
        <p:txBody>
          <a:bodyPr lIns="0" tIns="0" rIns="0" bIns="0" anchor="ctr">
            <a:noAutofit/>
          </a:bodyPr>
          <a:lstStyle/>
          <a:p>
            <a:pPr algn="ctr">
              <a:buNone/>
              <a:defRPr sz="1088" b="1">
                <a:solidFill>
                  <a:srgbClr val="374151"/>
                </a:solidFill>
                <a:latin typeface="Arial"/>
                <a:ea typeface="Arial"/>
                <a:cs typeface="Arial"/>
              </a:defRPr>
            </a:pPr>
            <a:r>
              <a:rPr sz="1088" b="1">
                <a:solidFill>
                  <a:srgbClr val="374151"/>
                </a:solidFill>
                <a:latin typeface="Times New Roman" panose="02020603050405020304" pitchFamily="18" charset="0"/>
                <a:ea typeface="Arial"/>
                <a:cs typeface="Times New Roman" panose="02020603050405020304" pitchFamily="18" charset="0"/>
              </a:rPr>
              <a:t>FP16</a:t>
            </a:r>
          </a:p>
        </p:txBody>
      </p:sp>
      <p:sp>
        <p:nvSpPr>
          <p:cNvPr id="31" name="Qwen throughput bar 2">
            <a:extLst>
              <a:ext uri="{FF2B5EF4-FFF2-40B4-BE49-F238E27FC236}">
                <a16:creationId xmlns:a16="http://schemas.microsoft.com/office/drawing/2014/main" id="{FEDD5204-CE18-45FB-831A-6DD48CCFEB7F}"/>
              </a:ext>
            </a:extLst>
          </p:cNvPr>
          <p:cNvSpPr>
            <a:spLocks noGrp="1"/>
          </p:cNvSpPr>
          <p:nvPr/>
        </p:nvSpPr>
        <p:spPr>
          <a:xfrm>
            <a:off x="3319463" y="2138546"/>
            <a:ext cx="781050" cy="2195329"/>
          </a:xfrm>
          <a:prstGeom prst="rect">
            <a:avLst/>
          </a:prstGeom>
          <a:solidFill>
            <a:srgbClr val="008A72"/>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2" name="Llama throughput bar 2">
            <a:extLst>
              <a:ext uri="{FF2B5EF4-FFF2-40B4-BE49-F238E27FC236}">
                <a16:creationId xmlns:a16="http://schemas.microsoft.com/office/drawing/2014/main" id="{9AE21332-ADD6-4D96-9FF5-AE12DB1655B4}"/>
              </a:ext>
            </a:extLst>
          </p:cNvPr>
          <p:cNvSpPr>
            <a:spLocks noGrp="1"/>
          </p:cNvSpPr>
          <p:nvPr/>
        </p:nvSpPr>
        <p:spPr>
          <a:xfrm>
            <a:off x="4186238" y="3553558"/>
            <a:ext cx="781050" cy="780317"/>
          </a:xfrm>
          <a:prstGeom prst="rect">
            <a:avLst/>
          </a:prstGeom>
          <a:solidFill>
            <a:srgbClr val="2563A8"/>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3" name="Qwen throughput label 2">
            <a:extLst>
              <a:ext uri="{FF2B5EF4-FFF2-40B4-BE49-F238E27FC236}">
                <a16:creationId xmlns:a16="http://schemas.microsoft.com/office/drawing/2014/main" id="{4B241593-2EE1-4A04-B86A-DBF980DD74C0}"/>
              </a:ext>
            </a:extLst>
          </p:cNvPr>
          <p:cNvSpPr>
            <a:spLocks noGrp="1"/>
          </p:cNvSpPr>
          <p:nvPr/>
        </p:nvSpPr>
        <p:spPr>
          <a:xfrm>
            <a:off x="3281363" y="1890896"/>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23.97</a:t>
            </a:r>
          </a:p>
        </p:txBody>
      </p:sp>
      <p:sp>
        <p:nvSpPr>
          <p:cNvPr id="34" name="Llama throughput label 2">
            <a:extLst>
              <a:ext uri="{FF2B5EF4-FFF2-40B4-BE49-F238E27FC236}">
                <a16:creationId xmlns:a16="http://schemas.microsoft.com/office/drawing/2014/main" id="{AC574E0C-72EC-4C6A-AA24-F121E4933787}"/>
              </a:ext>
            </a:extLst>
          </p:cNvPr>
          <p:cNvSpPr>
            <a:spLocks noGrp="1"/>
          </p:cNvSpPr>
          <p:nvPr/>
        </p:nvSpPr>
        <p:spPr>
          <a:xfrm>
            <a:off x="4148138" y="3305908"/>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8.52</a:t>
            </a:r>
          </a:p>
        </p:txBody>
      </p:sp>
      <p:sp>
        <p:nvSpPr>
          <p:cNvPr id="35" name="Throughput category 2">
            <a:extLst>
              <a:ext uri="{FF2B5EF4-FFF2-40B4-BE49-F238E27FC236}">
                <a16:creationId xmlns:a16="http://schemas.microsoft.com/office/drawing/2014/main" id="{E9DD4ADB-5F0C-435E-824A-32270BECA524}"/>
              </a:ext>
            </a:extLst>
          </p:cNvPr>
          <p:cNvSpPr>
            <a:spLocks noGrp="1"/>
          </p:cNvSpPr>
          <p:nvPr/>
        </p:nvSpPr>
        <p:spPr>
          <a:xfrm>
            <a:off x="3190875" y="4371975"/>
            <a:ext cx="1905000" cy="238125"/>
          </a:xfrm>
          <a:prstGeom prst="rect">
            <a:avLst/>
          </a:prstGeom>
          <a:noFill/>
          <a:ln w="0">
            <a:noFill/>
            <a:prstDash val="solid"/>
          </a:ln>
        </p:spPr>
        <p:txBody>
          <a:bodyPr lIns="0" tIns="0" rIns="0" bIns="0" anchor="ctr">
            <a:noAutofit/>
          </a:bodyPr>
          <a:lstStyle/>
          <a:p>
            <a:pPr algn="ctr">
              <a:buNone/>
              <a:defRPr sz="1088" b="1">
                <a:solidFill>
                  <a:srgbClr val="374151"/>
                </a:solidFill>
                <a:latin typeface="Arial"/>
                <a:ea typeface="Arial"/>
                <a:cs typeface="Arial"/>
              </a:defRPr>
            </a:pPr>
            <a:r>
              <a:rPr sz="1088" b="1">
                <a:solidFill>
                  <a:srgbClr val="374151"/>
                </a:solidFill>
                <a:latin typeface="Times New Roman" panose="02020603050405020304" pitchFamily="18" charset="0"/>
                <a:ea typeface="Arial"/>
                <a:cs typeface="Times New Roman" panose="02020603050405020304" pitchFamily="18" charset="0"/>
              </a:rPr>
              <a:t>8-bit Metal</a:t>
            </a:r>
          </a:p>
        </p:txBody>
      </p:sp>
      <p:sp>
        <p:nvSpPr>
          <p:cNvPr id="36" name="Qwen throughput bar 3">
            <a:extLst>
              <a:ext uri="{FF2B5EF4-FFF2-40B4-BE49-F238E27FC236}">
                <a16:creationId xmlns:a16="http://schemas.microsoft.com/office/drawing/2014/main" id="{7653B0D2-EF33-46FD-ADFC-9E3B4F7CF500}"/>
              </a:ext>
            </a:extLst>
          </p:cNvPr>
          <p:cNvSpPr>
            <a:spLocks noGrp="1"/>
          </p:cNvSpPr>
          <p:nvPr/>
        </p:nvSpPr>
        <p:spPr>
          <a:xfrm>
            <a:off x="5462588" y="2115649"/>
            <a:ext cx="781050" cy="2218226"/>
          </a:xfrm>
          <a:prstGeom prst="rect">
            <a:avLst/>
          </a:prstGeom>
          <a:solidFill>
            <a:srgbClr val="008A72"/>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7" name="Llama throughput bar 3">
            <a:extLst>
              <a:ext uri="{FF2B5EF4-FFF2-40B4-BE49-F238E27FC236}">
                <a16:creationId xmlns:a16="http://schemas.microsoft.com/office/drawing/2014/main" id="{560D6582-E044-45FB-8B18-9D144D1BAFFD}"/>
              </a:ext>
            </a:extLst>
          </p:cNvPr>
          <p:cNvSpPr>
            <a:spLocks noGrp="1"/>
          </p:cNvSpPr>
          <p:nvPr/>
        </p:nvSpPr>
        <p:spPr>
          <a:xfrm>
            <a:off x="6329363" y="3521502"/>
            <a:ext cx="781050" cy="812373"/>
          </a:xfrm>
          <a:prstGeom prst="rect">
            <a:avLst/>
          </a:prstGeom>
          <a:solidFill>
            <a:srgbClr val="2563A8"/>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38" name="Qwen throughput label 3">
            <a:extLst>
              <a:ext uri="{FF2B5EF4-FFF2-40B4-BE49-F238E27FC236}">
                <a16:creationId xmlns:a16="http://schemas.microsoft.com/office/drawing/2014/main" id="{187E9D69-E0E7-448D-88A2-775635023857}"/>
              </a:ext>
            </a:extLst>
          </p:cNvPr>
          <p:cNvSpPr>
            <a:spLocks noGrp="1"/>
          </p:cNvSpPr>
          <p:nvPr/>
        </p:nvSpPr>
        <p:spPr>
          <a:xfrm>
            <a:off x="5424488" y="1867999"/>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24.22</a:t>
            </a:r>
          </a:p>
        </p:txBody>
      </p:sp>
      <p:sp>
        <p:nvSpPr>
          <p:cNvPr id="39" name="Llama throughput label 3">
            <a:extLst>
              <a:ext uri="{FF2B5EF4-FFF2-40B4-BE49-F238E27FC236}">
                <a16:creationId xmlns:a16="http://schemas.microsoft.com/office/drawing/2014/main" id="{93370B42-F4C3-4043-AF15-0A95A57C2DCE}"/>
              </a:ext>
            </a:extLst>
          </p:cNvPr>
          <p:cNvSpPr>
            <a:spLocks noGrp="1"/>
          </p:cNvSpPr>
          <p:nvPr/>
        </p:nvSpPr>
        <p:spPr>
          <a:xfrm>
            <a:off x="6291263" y="3273852"/>
            <a:ext cx="857250" cy="209550"/>
          </a:xfrm>
          <a:prstGeom prst="rect">
            <a:avLst/>
          </a:prstGeom>
          <a:noFill/>
          <a:ln w="0">
            <a:noFill/>
            <a:prstDash val="solid"/>
          </a:ln>
        </p:spPr>
        <p:txBody>
          <a:bodyPr lIns="0" tIns="0" rIns="0" bIns="0" anchor="ctr">
            <a:noAutofit/>
          </a:bodyPr>
          <a:lstStyle/>
          <a:p>
            <a:pPr algn="ctr">
              <a:buNone/>
              <a:defRPr sz="1050" b="1">
                <a:solidFill>
                  <a:srgbClr val="111827"/>
                </a:solidFill>
                <a:latin typeface="Arial"/>
                <a:ea typeface="Arial"/>
                <a:cs typeface="Arial"/>
              </a:defRPr>
            </a:pPr>
            <a:r>
              <a:rPr sz="1050" b="1">
                <a:solidFill>
                  <a:srgbClr val="111827"/>
                </a:solidFill>
                <a:latin typeface="Times New Roman" panose="02020603050405020304" pitchFamily="18" charset="0"/>
                <a:ea typeface="Arial"/>
                <a:cs typeface="Times New Roman" panose="02020603050405020304" pitchFamily="18" charset="0"/>
              </a:rPr>
              <a:t>8.87</a:t>
            </a:r>
          </a:p>
        </p:txBody>
      </p:sp>
      <p:sp>
        <p:nvSpPr>
          <p:cNvPr id="40" name="Throughput category 3">
            <a:extLst>
              <a:ext uri="{FF2B5EF4-FFF2-40B4-BE49-F238E27FC236}">
                <a16:creationId xmlns:a16="http://schemas.microsoft.com/office/drawing/2014/main" id="{AC62D611-03FB-47F9-B102-A6D291AFB7BD}"/>
              </a:ext>
            </a:extLst>
          </p:cNvPr>
          <p:cNvSpPr>
            <a:spLocks noGrp="1"/>
          </p:cNvSpPr>
          <p:nvPr/>
        </p:nvSpPr>
        <p:spPr>
          <a:xfrm>
            <a:off x="5334000" y="4371975"/>
            <a:ext cx="1905000" cy="238125"/>
          </a:xfrm>
          <a:prstGeom prst="rect">
            <a:avLst/>
          </a:prstGeom>
          <a:noFill/>
          <a:ln w="0">
            <a:noFill/>
            <a:prstDash val="solid"/>
          </a:ln>
        </p:spPr>
        <p:txBody>
          <a:bodyPr lIns="0" tIns="0" rIns="0" bIns="0" anchor="ctr">
            <a:noAutofit/>
          </a:bodyPr>
          <a:lstStyle/>
          <a:p>
            <a:pPr algn="ctr">
              <a:buNone/>
              <a:defRPr sz="1088" b="1">
                <a:solidFill>
                  <a:srgbClr val="374151"/>
                </a:solidFill>
                <a:latin typeface="Arial"/>
                <a:ea typeface="Arial"/>
                <a:cs typeface="Arial"/>
              </a:defRPr>
            </a:pPr>
            <a:r>
              <a:rPr sz="1088" b="1">
                <a:solidFill>
                  <a:srgbClr val="374151"/>
                </a:solidFill>
                <a:latin typeface="Times New Roman" panose="02020603050405020304" pitchFamily="18" charset="0"/>
                <a:ea typeface="Arial"/>
                <a:cs typeface="Times New Roman" panose="02020603050405020304" pitchFamily="18" charset="0"/>
              </a:rPr>
              <a:t>4-bit Metal</a:t>
            </a:r>
          </a:p>
        </p:txBody>
      </p:sp>
      <p:sp>
        <p:nvSpPr>
          <p:cNvPr id="41" name="Load time panel">
            <a:extLst>
              <a:ext uri="{FF2B5EF4-FFF2-40B4-BE49-F238E27FC236}">
                <a16:creationId xmlns:a16="http://schemas.microsoft.com/office/drawing/2014/main" id="{3BDF0A7F-87D8-4611-AE40-2B0C29FCF222}"/>
              </a:ext>
            </a:extLst>
          </p:cNvPr>
          <p:cNvSpPr>
            <a:spLocks noGrp="1"/>
          </p:cNvSpPr>
          <p:nvPr/>
        </p:nvSpPr>
        <p:spPr>
          <a:xfrm>
            <a:off x="476250" y="4610100"/>
            <a:ext cx="7096125" cy="1028700"/>
          </a:xfrm>
          <a:prstGeom prst="roundRect">
            <a:avLst>
              <a:gd name="adj" fmla="val 7407"/>
            </a:avLst>
          </a:prstGeom>
          <a:noFill/>
          <a:ln w="10478">
            <a:solidFill>
              <a:srgbClr val="C9D9EC"/>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43" name="Load time heading">
            <a:extLst>
              <a:ext uri="{FF2B5EF4-FFF2-40B4-BE49-F238E27FC236}">
                <a16:creationId xmlns:a16="http://schemas.microsoft.com/office/drawing/2014/main" id="{C32AE9EB-D3DF-4913-AE3A-A98B89C90169}"/>
              </a:ext>
            </a:extLst>
          </p:cNvPr>
          <p:cNvSpPr>
            <a:spLocks noGrp="1"/>
          </p:cNvSpPr>
          <p:nvPr/>
        </p:nvSpPr>
        <p:spPr>
          <a:xfrm>
            <a:off x="619124" y="4643249"/>
            <a:ext cx="3267075" cy="218342"/>
          </a:xfrm>
          <a:prstGeom prst="rect">
            <a:avLst/>
          </a:prstGeom>
          <a:noFill/>
          <a:ln w="0">
            <a:noFill/>
            <a:prstDash val="solid"/>
          </a:ln>
        </p:spPr>
        <p:txBody>
          <a:bodyPr lIns="0" tIns="0" rIns="0" bIns="0" anchor="ctr">
            <a:noAutofit/>
          </a:bodyPr>
          <a:lstStyle/>
          <a:p>
            <a:pPr>
              <a:defRPr sz="1238" b="1">
                <a:solidFill>
                  <a:srgbClr val="2563A8"/>
                </a:solidFill>
                <a:latin typeface="Arial"/>
                <a:ea typeface="Arial"/>
                <a:cs typeface="Arial"/>
              </a:defRPr>
            </a:pPr>
            <a:r>
              <a:rPr lang="en-DE" sz="1238" b="1" dirty="0">
                <a:solidFill>
                  <a:schemeClr val="tx1">
                    <a:lumMod val="95000"/>
                    <a:lumOff val="5000"/>
                  </a:schemeClr>
                </a:solidFill>
                <a:latin typeface="Times New Roman" panose="02020603050405020304" pitchFamily="18" charset="0"/>
                <a:cs typeface="Times New Roman" panose="02020603050405020304" pitchFamily="18" charset="0"/>
              </a:rPr>
              <a:t>AVERAGE</a:t>
            </a:r>
            <a:r>
              <a:rPr sz="1238" b="1" dirty="0">
                <a:solidFill>
                  <a:schemeClr val="tx1">
                    <a:lumMod val="95000"/>
                    <a:lumOff val="5000"/>
                  </a:schemeClr>
                </a:solidFill>
                <a:latin typeface="Times New Roman" panose="02020603050405020304" pitchFamily="18" charset="0"/>
                <a:ea typeface="Arial"/>
                <a:cs typeface="Times New Roman" panose="02020603050405020304" pitchFamily="18" charset="0"/>
              </a:rPr>
              <a:t>MODEL LOAD TIME · SECONDS</a:t>
            </a:r>
          </a:p>
        </p:txBody>
      </p:sp>
      <p:sp>
        <p:nvSpPr>
          <p:cNvPr id="44" name="Load header 0">
            <a:extLst>
              <a:ext uri="{FF2B5EF4-FFF2-40B4-BE49-F238E27FC236}">
                <a16:creationId xmlns:a16="http://schemas.microsoft.com/office/drawing/2014/main" id="{5EA951CD-1F5A-4AEF-9BDE-E6935BEC6528}"/>
              </a:ext>
            </a:extLst>
          </p:cNvPr>
          <p:cNvSpPr>
            <a:spLocks noGrp="1"/>
          </p:cNvSpPr>
          <p:nvPr/>
        </p:nvSpPr>
        <p:spPr>
          <a:xfrm>
            <a:off x="685800" y="4933950"/>
            <a:ext cx="1952625" cy="190500"/>
          </a:xfrm>
          <a:prstGeom prst="rect">
            <a:avLst/>
          </a:prstGeom>
          <a:noFill/>
          <a:ln w="0">
            <a:noFill/>
            <a:prstDash val="solid"/>
          </a:ln>
        </p:spPr>
        <p:txBody>
          <a:bodyPr lIns="0" tIns="0" rIns="0" bIns="0" anchor="ctr">
            <a:noAutofit/>
          </a:bodyPr>
          <a:lstStyle/>
          <a:p>
            <a:pPr algn="l">
              <a:buNone/>
              <a:defRPr sz="938" b="1">
                <a:solidFill>
                  <a:srgbClr val="6B7280"/>
                </a:solidFill>
                <a:latin typeface="Arial"/>
                <a:ea typeface="Arial"/>
                <a:cs typeface="Arial"/>
              </a:defRPr>
            </a:pPr>
            <a:r>
              <a:rPr sz="938" b="1" dirty="0">
                <a:solidFill>
                  <a:schemeClr val="tx1">
                    <a:lumMod val="85000"/>
                    <a:lumOff val="15000"/>
                  </a:schemeClr>
                </a:solidFill>
                <a:latin typeface="Times New Roman" panose="02020603050405020304" pitchFamily="18" charset="0"/>
                <a:ea typeface="Arial"/>
                <a:cs typeface="Times New Roman" panose="02020603050405020304" pitchFamily="18" charset="0"/>
              </a:rPr>
              <a:t>MODEL</a:t>
            </a:r>
          </a:p>
        </p:txBody>
      </p:sp>
      <p:sp>
        <p:nvSpPr>
          <p:cNvPr id="45" name="Load header 1">
            <a:extLst>
              <a:ext uri="{FF2B5EF4-FFF2-40B4-BE49-F238E27FC236}">
                <a16:creationId xmlns:a16="http://schemas.microsoft.com/office/drawing/2014/main" id="{FC4A1D6C-9B14-4F66-8AAD-A608F75D1F40}"/>
              </a:ext>
            </a:extLst>
          </p:cNvPr>
          <p:cNvSpPr>
            <a:spLocks noGrp="1"/>
          </p:cNvSpPr>
          <p:nvPr/>
        </p:nvSpPr>
        <p:spPr>
          <a:xfrm>
            <a:off x="2952750" y="4933950"/>
            <a:ext cx="1000125" cy="190500"/>
          </a:xfrm>
          <a:prstGeom prst="rect">
            <a:avLst/>
          </a:prstGeom>
          <a:noFill/>
          <a:ln w="0">
            <a:noFill/>
            <a:prstDash val="solid"/>
          </a:ln>
        </p:spPr>
        <p:txBody>
          <a:bodyPr lIns="0" tIns="0" rIns="0" bIns="0" anchor="ctr">
            <a:noAutofit/>
          </a:bodyPr>
          <a:lstStyle/>
          <a:p>
            <a:pPr algn="ctr">
              <a:buNone/>
              <a:defRPr sz="938" b="1">
                <a:solidFill>
                  <a:srgbClr val="6B7280"/>
                </a:solidFill>
                <a:latin typeface="Arial"/>
                <a:ea typeface="Arial"/>
                <a:cs typeface="Arial"/>
              </a:defRPr>
            </a:pPr>
            <a:r>
              <a:rPr sz="938" b="1" dirty="0">
                <a:solidFill>
                  <a:schemeClr val="tx1">
                    <a:lumMod val="85000"/>
                    <a:lumOff val="15000"/>
                  </a:schemeClr>
                </a:solidFill>
                <a:latin typeface="Times New Roman" panose="02020603050405020304" pitchFamily="18" charset="0"/>
                <a:ea typeface="Arial"/>
                <a:cs typeface="Times New Roman" panose="02020603050405020304" pitchFamily="18" charset="0"/>
              </a:rPr>
              <a:t>FP16</a:t>
            </a:r>
          </a:p>
        </p:txBody>
      </p:sp>
      <p:sp>
        <p:nvSpPr>
          <p:cNvPr id="46" name="Load header 2">
            <a:extLst>
              <a:ext uri="{FF2B5EF4-FFF2-40B4-BE49-F238E27FC236}">
                <a16:creationId xmlns:a16="http://schemas.microsoft.com/office/drawing/2014/main" id="{911F5820-A4E0-4ED3-A738-D9089466B2B2}"/>
              </a:ext>
            </a:extLst>
          </p:cNvPr>
          <p:cNvSpPr>
            <a:spLocks noGrp="1"/>
          </p:cNvSpPr>
          <p:nvPr/>
        </p:nvSpPr>
        <p:spPr>
          <a:xfrm>
            <a:off x="4171950" y="4933950"/>
            <a:ext cx="1000125" cy="190500"/>
          </a:xfrm>
          <a:prstGeom prst="rect">
            <a:avLst/>
          </a:prstGeom>
          <a:noFill/>
          <a:ln w="0">
            <a:noFill/>
            <a:prstDash val="solid"/>
          </a:ln>
        </p:spPr>
        <p:txBody>
          <a:bodyPr lIns="0" tIns="0" rIns="0" bIns="0" anchor="ctr">
            <a:noAutofit/>
          </a:bodyPr>
          <a:lstStyle/>
          <a:p>
            <a:pPr algn="ctr">
              <a:buNone/>
              <a:defRPr sz="938" b="1">
                <a:solidFill>
                  <a:srgbClr val="6B7280"/>
                </a:solidFill>
                <a:latin typeface="Arial"/>
                <a:ea typeface="Arial"/>
                <a:cs typeface="Arial"/>
              </a:defRPr>
            </a:pPr>
            <a:r>
              <a:rPr sz="938" b="1" dirty="0">
                <a:solidFill>
                  <a:schemeClr val="tx1">
                    <a:lumMod val="85000"/>
                    <a:lumOff val="15000"/>
                  </a:schemeClr>
                </a:solidFill>
                <a:latin typeface="Times New Roman" panose="02020603050405020304" pitchFamily="18" charset="0"/>
                <a:ea typeface="Arial"/>
                <a:cs typeface="Times New Roman" panose="02020603050405020304" pitchFamily="18" charset="0"/>
              </a:rPr>
              <a:t>8-BIT</a:t>
            </a:r>
          </a:p>
        </p:txBody>
      </p:sp>
      <p:sp>
        <p:nvSpPr>
          <p:cNvPr id="47" name="Load header 3">
            <a:extLst>
              <a:ext uri="{FF2B5EF4-FFF2-40B4-BE49-F238E27FC236}">
                <a16:creationId xmlns:a16="http://schemas.microsoft.com/office/drawing/2014/main" id="{11B7D519-0F10-4A6F-AC97-6D15BC4D4A8C}"/>
              </a:ext>
            </a:extLst>
          </p:cNvPr>
          <p:cNvSpPr>
            <a:spLocks noGrp="1"/>
          </p:cNvSpPr>
          <p:nvPr/>
        </p:nvSpPr>
        <p:spPr>
          <a:xfrm>
            <a:off x="5391150" y="4933950"/>
            <a:ext cx="1000125" cy="190500"/>
          </a:xfrm>
          <a:prstGeom prst="rect">
            <a:avLst/>
          </a:prstGeom>
          <a:noFill/>
          <a:ln w="0">
            <a:noFill/>
            <a:prstDash val="solid"/>
          </a:ln>
        </p:spPr>
        <p:txBody>
          <a:bodyPr lIns="0" tIns="0" rIns="0" bIns="0" anchor="ctr">
            <a:noAutofit/>
          </a:bodyPr>
          <a:lstStyle/>
          <a:p>
            <a:pPr algn="ctr">
              <a:buNone/>
              <a:defRPr sz="938" b="1">
                <a:solidFill>
                  <a:srgbClr val="6B7280"/>
                </a:solidFill>
                <a:latin typeface="Arial"/>
                <a:ea typeface="Arial"/>
                <a:cs typeface="Arial"/>
              </a:defRPr>
            </a:pPr>
            <a:r>
              <a:rPr sz="938" b="1" dirty="0">
                <a:solidFill>
                  <a:schemeClr val="tx1">
                    <a:lumMod val="85000"/>
                    <a:lumOff val="15000"/>
                  </a:schemeClr>
                </a:solidFill>
                <a:latin typeface="Times New Roman" panose="02020603050405020304" pitchFamily="18" charset="0"/>
                <a:ea typeface="Arial"/>
                <a:cs typeface="Times New Roman" panose="02020603050405020304" pitchFamily="18" charset="0"/>
              </a:rPr>
              <a:t>4-BIT</a:t>
            </a:r>
          </a:p>
        </p:txBody>
      </p:sp>
      <p:sp>
        <p:nvSpPr>
          <p:cNvPr id="49" name="Load row 1 col 1">
            <a:extLst>
              <a:ext uri="{FF2B5EF4-FFF2-40B4-BE49-F238E27FC236}">
                <a16:creationId xmlns:a16="http://schemas.microsoft.com/office/drawing/2014/main" id="{3ED741B3-0A01-40BA-9EDB-44B6E0BD4603}"/>
              </a:ext>
            </a:extLst>
          </p:cNvPr>
          <p:cNvSpPr>
            <a:spLocks noGrp="1"/>
          </p:cNvSpPr>
          <p:nvPr/>
        </p:nvSpPr>
        <p:spPr>
          <a:xfrm>
            <a:off x="685800" y="5162550"/>
            <a:ext cx="1952625" cy="209550"/>
          </a:xfrm>
          <a:prstGeom prst="rect">
            <a:avLst/>
          </a:prstGeom>
          <a:noFill/>
          <a:ln w="0">
            <a:noFill/>
            <a:prstDash val="solid"/>
          </a:ln>
        </p:spPr>
        <p:txBody>
          <a:bodyPr lIns="0" tIns="0" rIns="0" bIns="0" anchor="ctr">
            <a:noAutofit/>
          </a:bodyPr>
          <a:lstStyle/>
          <a:p>
            <a:pPr algn="l">
              <a:buNone/>
              <a:defRPr sz="1088" b="1">
                <a:solidFill>
                  <a:srgbClr val="374151"/>
                </a:solidFill>
                <a:latin typeface="Arial"/>
                <a:ea typeface="Arial"/>
                <a:cs typeface="Arial"/>
              </a:defRPr>
            </a:pPr>
            <a:r>
              <a:rPr sz="1088" b="1">
                <a:solidFill>
                  <a:srgbClr val="374151"/>
                </a:solidFill>
                <a:latin typeface="Times New Roman" panose="02020603050405020304" pitchFamily="18" charset="0"/>
                <a:ea typeface="Arial"/>
                <a:cs typeface="Times New Roman" panose="02020603050405020304" pitchFamily="18" charset="0"/>
              </a:rPr>
              <a:t>Qwen-0.5B</a:t>
            </a:r>
          </a:p>
        </p:txBody>
      </p:sp>
      <p:sp>
        <p:nvSpPr>
          <p:cNvPr id="50" name="Load row 1 col 2">
            <a:extLst>
              <a:ext uri="{FF2B5EF4-FFF2-40B4-BE49-F238E27FC236}">
                <a16:creationId xmlns:a16="http://schemas.microsoft.com/office/drawing/2014/main" id="{862A0776-4341-4A8D-958E-9199D2620A52}"/>
              </a:ext>
            </a:extLst>
          </p:cNvPr>
          <p:cNvSpPr>
            <a:spLocks noGrp="1"/>
          </p:cNvSpPr>
          <p:nvPr/>
        </p:nvSpPr>
        <p:spPr>
          <a:xfrm>
            <a:off x="2952750" y="51625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1.69 s</a:t>
            </a:r>
          </a:p>
        </p:txBody>
      </p:sp>
      <p:sp>
        <p:nvSpPr>
          <p:cNvPr id="51" name="Load row 1 col 3">
            <a:extLst>
              <a:ext uri="{FF2B5EF4-FFF2-40B4-BE49-F238E27FC236}">
                <a16:creationId xmlns:a16="http://schemas.microsoft.com/office/drawing/2014/main" id="{A6A65C83-06DD-4E22-8F71-8246CA52EA4D}"/>
              </a:ext>
            </a:extLst>
          </p:cNvPr>
          <p:cNvSpPr>
            <a:spLocks noGrp="1"/>
          </p:cNvSpPr>
          <p:nvPr/>
        </p:nvSpPr>
        <p:spPr>
          <a:xfrm>
            <a:off x="4171950" y="51625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1.87 s</a:t>
            </a:r>
          </a:p>
        </p:txBody>
      </p:sp>
      <p:sp>
        <p:nvSpPr>
          <p:cNvPr id="52" name="Load row 1 col 4">
            <a:extLst>
              <a:ext uri="{FF2B5EF4-FFF2-40B4-BE49-F238E27FC236}">
                <a16:creationId xmlns:a16="http://schemas.microsoft.com/office/drawing/2014/main" id="{87E5E00D-E75A-46F4-97BA-C638A7D344E4}"/>
              </a:ext>
            </a:extLst>
          </p:cNvPr>
          <p:cNvSpPr>
            <a:spLocks noGrp="1"/>
          </p:cNvSpPr>
          <p:nvPr/>
        </p:nvSpPr>
        <p:spPr>
          <a:xfrm>
            <a:off x="5391150" y="51625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1.95 s</a:t>
            </a:r>
          </a:p>
        </p:txBody>
      </p:sp>
      <p:sp>
        <p:nvSpPr>
          <p:cNvPr id="54" name="Load row 2 col 1">
            <a:extLst>
              <a:ext uri="{FF2B5EF4-FFF2-40B4-BE49-F238E27FC236}">
                <a16:creationId xmlns:a16="http://schemas.microsoft.com/office/drawing/2014/main" id="{5CC9DC3E-4727-4AE1-B9F7-3152F803E31C}"/>
              </a:ext>
            </a:extLst>
          </p:cNvPr>
          <p:cNvSpPr>
            <a:spLocks noGrp="1"/>
          </p:cNvSpPr>
          <p:nvPr/>
        </p:nvSpPr>
        <p:spPr>
          <a:xfrm>
            <a:off x="685800" y="5391150"/>
            <a:ext cx="1952625" cy="209550"/>
          </a:xfrm>
          <a:prstGeom prst="rect">
            <a:avLst/>
          </a:prstGeom>
          <a:noFill/>
          <a:ln w="0">
            <a:noFill/>
            <a:prstDash val="solid"/>
          </a:ln>
        </p:spPr>
        <p:txBody>
          <a:bodyPr lIns="0" tIns="0" rIns="0" bIns="0" anchor="ctr">
            <a:noAutofit/>
          </a:bodyPr>
          <a:lstStyle/>
          <a:p>
            <a:pPr algn="l">
              <a:buNone/>
              <a:defRPr sz="1088" b="1">
                <a:solidFill>
                  <a:srgbClr val="374151"/>
                </a:solidFill>
                <a:latin typeface="Arial"/>
                <a:ea typeface="Arial"/>
                <a:cs typeface="Arial"/>
              </a:defRPr>
            </a:pPr>
            <a:r>
              <a:rPr sz="1088" b="1">
                <a:solidFill>
                  <a:srgbClr val="374151"/>
                </a:solidFill>
                <a:latin typeface="Times New Roman" panose="02020603050405020304" pitchFamily="18" charset="0"/>
                <a:ea typeface="Arial"/>
                <a:cs typeface="Times New Roman" panose="02020603050405020304" pitchFamily="18" charset="0"/>
              </a:rPr>
              <a:t>Llama-1B</a:t>
            </a:r>
          </a:p>
        </p:txBody>
      </p:sp>
      <p:sp>
        <p:nvSpPr>
          <p:cNvPr id="55" name="Load row 2 col 2">
            <a:extLst>
              <a:ext uri="{FF2B5EF4-FFF2-40B4-BE49-F238E27FC236}">
                <a16:creationId xmlns:a16="http://schemas.microsoft.com/office/drawing/2014/main" id="{1B98D558-F7A5-4B3D-A8FF-6A469F7DAF48}"/>
              </a:ext>
            </a:extLst>
          </p:cNvPr>
          <p:cNvSpPr>
            <a:spLocks noGrp="1"/>
          </p:cNvSpPr>
          <p:nvPr/>
        </p:nvSpPr>
        <p:spPr>
          <a:xfrm>
            <a:off x="2952750" y="53911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4.58 s</a:t>
            </a:r>
          </a:p>
        </p:txBody>
      </p:sp>
      <p:sp>
        <p:nvSpPr>
          <p:cNvPr id="56" name="Load row 2 col 3">
            <a:extLst>
              <a:ext uri="{FF2B5EF4-FFF2-40B4-BE49-F238E27FC236}">
                <a16:creationId xmlns:a16="http://schemas.microsoft.com/office/drawing/2014/main" id="{378CB1E9-1C9F-410B-8999-111DDBDADCCD}"/>
              </a:ext>
            </a:extLst>
          </p:cNvPr>
          <p:cNvSpPr>
            <a:spLocks noGrp="1"/>
          </p:cNvSpPr>
          <p:nvPr/>
        </p:nvSpPr>
        <p:spPr>
          <a:xfrm>
            <a:off x="4171950" y="53911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5.47 s</a:t>
            </a:r>
          </a:p>
        </p:txBody>
      </p:sp>
      <p:sp>
        <p:nvSpPr>
          <p:cNvPr id="57" name="Load row 2 col 4">
            <a:extLst>
              <a:ext uri="{FF2B5EF4-FFF2-40B4-BE49-F238E27FC236}">
                <a16:creationId xmlns:a16="http://schemas.microsoft.com/office/drawing/2014/main" id="{1792AAF6-B6F5-432D-85B0-B008258C7172}"/>
              </a:ext>
            </a:extLst>
          </p:cNvPr>
          <p:cNvSpPr>
            <a:spLocks noGrp="1"/>
          </p:cNvSpPr>
          <p:nvPr/>
        </p:nvSpPr>
        <p:spPr>
          <a:xfrm>
            <a:off x="5391150" y="5391150"/>
            <a:ext cx="1000125" cy="209550"/>
          </a:xfrm>
          <a:prstGeom prst="rect">
            <a:avLst/>
          </a:prstGeom>
          <a:noFill/>
          <a:ln w="0">
            <a:noFill/>
            <a:prstDash val="solid"/>
          </a:ln>
        </p:spPr>
        <p:txBody>
          <a:bodyPr lIns="0" tIns="0" rIns="0" bIns="0" anchor="ctr">
            <a:noAutofit/>
          </a:bodyPr>
          <a:lstStyle/>
          <a:p>
            <a:pPr algn="ctr">
              <a:buNone/>
              <a:defRPr sz="1088" b="0">
                <a:solidFill>
                  <a:srgbClr val="374151"/>
                </a:solidFill>
                <a:latin typeface="Arial"/>
                <a:ea typeface="Arial"/>
                <a:cs typeface="Arial"/>
              </a:defRPr>
            </a:pPr>
            <a:r>
              <a:rPr sz="1088" b="0">
                <a:solidFill>
                  <a:srgbClr val="374151"/>
                </a:solidFill>
                <a:latin typeface="Times New Roman" panose="02020603050405020304" pitchFamily="18" charset="0"/>
                <a:ea typeface="Arial"/>
                <a:cs typeface="Times New Roman" panose="02020603050405020304" pitchFamily="18" charset="0"/>
              </a:rPr>
              <a:t>6.54 s</a:t>
            </a:r>
          </a:p>
        </p:txBody>
      </p:sp>
      <p:sp>
        <p:nvSpPr>
          <p:cNvPr id="59" name="Findings rail">
            <a:extLst>
              <a:ext uri="{FF2B5EF4-FFF2-40B4-BE49-F238E27FC236}">
                <a16:creationId xmlns:a16="http://schemas.microsoft.com/office/drawing/2014/main" id="{AC6563C7-8B81-4385-988B-4CAABB2C9C6F}"/>
              </a:ext>
            </a:extLst>
          </p:cNvPr>
          <p:cNvSpPr>
            <a:spLocks noGrp="1"/>
          </p:cNvSpPr>
          <p:nvPr/>
        </p:nvSpPr>
        <p:spPr>
          <a:xfrm>
            <a:off x="7848600" y="1162050"/>
            <a:ext cx="57150" cy="4457700"/>
          </a:xfrm>
          <a:prstGeom prst="roundRect">
            <a:avLst>
              <a:gd name="adj" fmla="val 50000"/>
            </a:avLst>
          </a:prstGeom>
          <a:solidFill>
            <a:schemeClr val="tx1">
              <a:lumMod val="65000"/>
              <a:lumOff val="35000"/>
            </a:schemeClr>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0" name="Findings heading">
            <a:extLst>
              <a:ext uri="{FF2B5EF4-FFF2-40B4-BE49-F238E27FC236}">
                <a16:creationId xmlns:a16="http://schemas.microsoft.com/office/drawing/2014/main" id="{0D236494-AEBF-4BA8-98A4-42E8E4A1536E}"/>
              </a:ext>
            </a:extLst>
          </p:cNvPr>
          <p:cNvSpPr>
            <a:spLocks noGrp="1"/>
          </p:cNvSpPr>
          <p:nvPr/>
        </p:nvSpPr>
        <p:spPr>
          <a:xfrm>
            <a:off x="8077200" y="1104900"/>
            <a:ext cx="3333750" cy="266700"/>
          </a:xfrm>
          <a:prstGeom prst="rect">
            <a:avLst/>
          </a:prstGeom>
          <a:noFill/>
          <a:ln w="0">
            <a:noFill/>
            <a:prstDash val="solid"/>
          </a:ln>
        </p:spPr>
        <p:txBody>
          <a:bodyPr lIns="0" tIns="0" rIns="0" bIns="0" anchor="ctr">
            <a:noAutofit/>
          </a:bodyPr>
          <a:lstStyle/>
          <a:p>
            <a:pPr algn="l">
              <a:buNone/>
              <a:defRPr sz="1350" b="1">
                <a:solidFill>
                  <a:srgbClr val="008A72"/>
                </a:solidFill>
                <a:latin typeface="Arial"/>
                <a:ea typeface="Arial"/>
                <a:cs typeface="Arial"/>
              </a:defRPr>
            </a:pPr>
            <a:r>
              <a:rPr sz="135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KEY FINDINGS</a:t>
            </a:r>
          </a:p>
        </p:txBody>
      </p:sp>
      <p:sp>
        <p:nvSpPr>
          <p:cNvPr id="61" name="QWEN label">
            <a:extLst>
              <a:ext uri="{FF2B5EF4-FFF2-40B4-BE49-F238E27FC236}">
                <a16:creationId xmlns:a16="http://schemas.microsoft.com/office/drawing/2014/main" id="{0158E41C-F187-4A17-9A7F-526046608258}"/>
              </a:ext>
            </a:extLst>
          </p:cNvPr>
          <p:cNvSpPr>
            <a:spLocks noGrp="1"/>
          </p:cNvSpPr>
          <p:nvPr/>
        </p:nvSpPr>
        <p:spPr>
          <a:xfrm>
            <a:off x="8077200" y="1485900"/>
            <a:ext cx="3333750" cy="228600"/>
          </a:xfrm>
          <a:prstGeom prst="rect">
            <a:avLst/>
          </a:prstGeom>
          <a:noFill/>
          <a:ln w="0">
            <a:noFill/>
            <a:prstDash val="solid"/>
          </a:ln>
        </p:spPr>
        <p:txBody>
          <a:bodyPr lIns="0" tIns="0" rIns="0" bIns="0" anchor="ctr">
            <a:noAutofit/>
          </a:bodyPr>
          <a:lstStyle/>
          <a:p>
            <a:pPr algn="l">
              <a:buNone/>
              <a:defRPr sz="1238" b="1">
                <a:solidFill>
                  <a:srgbClr val="008A72"/>
                </a:solidFill>
                <a:latin typeface="Arial"/>
                <a:ea typeface="Arial"/>
                <a:cs typeface="Arial"/>
              </a:defRPr>
            </a:pPr>
            <a:r>
              <a:rPr sz="1238" b="1">
                <a:solidFill>
                  <a:srgbClr val="008A72"/>
                </a:solidFill>
                <a:latin typeface="Times New Roman" panose="02020603050405020304" pitchFamily="18" charset="0"/>
                <a:ea typeface="Arial"/>
                <a:cs typeface="Times New Roman" panose="02020603050405020304" pitchFamily="18" charset="0"/>
              </a:rPr>
              <a:t>QWEN</a:t>
            </a:r>
          </a:p>
        </p:txBody>
      </p:sp>
      <p:sp>
        <p:nvSpPr>
          <p:cNvPr id="62" name="QWEN finding">
            <a:extLst>
              <a:ext uri="{FF2B5EF4-FFF2-40B4-BE49-F238E27FC236}">
                <a16:creationId xmlns:a16="http://schemas.microsoft.com/office/drawing/2014/main" id="{7982BE8E-0367-40C0-8903-5D41C3BADFB8}"/>
              </a:ext>
            </a:extLst>
          </p:cNvPr>
          <p:cNvSpPr>
            <a:spLocks noGrp="1"/>
          </p:cNvSpPr>
          <p:nvPr/>
        </p:nvSpPr>
        <p:spPr>
          <a:xfrm>
            <a:off x="8077200" y="1752600"/>
            <a:ext cx="3333750" cy="666750"/>
          </a:xfrm>
          <a:prstGeom prst="rect">
            <a:avLst/>
          </a:prstGeom>
          <a:noFill/>
          <a:ln w="0">
            <a:noFill/>
            <a:prstDash val="solid"/>
          </a:ln>
        </p:spPr>
        <p:txBody>
          <a:bodyPr lIns="0" tIns="0" rIns="0" bIns="0" anchor="t">
            <a:noAutofit/>
          </a:bodyPr>
          <a:lstStyle/>
          <a:p>
            <a:pPr algn="l">
              <a:buNone/>
              <a:defRPr sz="1125">
                <a:solidFill>
                  <a:srgbClr val="374151"/>
                </a:solidFill>
                <a:latin typeface="Arial"/>
                <a:ea typeface="Arial"/>
                <a:cs typeface="Arial"/>
              </a:defRPr>
            </a:pPr>
            <a:r>
              <a:rPr sz="1200" dirty="0">
                <a:latin typeface="Times New Roman" panose="02020603050405020304" pitchFamily="18" charset="0"/>
                <a:ea typeface="Arial"/>
                <a:cs typeface="Times New Roman" panose="02020603050405020304" pitchFamily="18" charset="0"/>
              </a:rPr>
              <a:t>Highest throughput in all tested precision modes.</a:t>
            </a:r>
          </a:p>
          <a:p>
            <a:pPr algn="l">
              <a:buNone/>
              <a:defRPr sz="1125">
                <a:solidFill>
                  <a:srgbClr val="374151"/>
                </a:solidFill>
                <a:latin typeface="Arial"/>
                <a:ea typeface="Arial"/>
                <a:cs typeface="Arial"/>
              </a:defRPr>
            </a:pPr>
            <a:r>
              <a:rPr sz="1200" dirty="0">
                <a:latin typeface="Times New Roman" panose="02020603050405020304" pitchFamily="18" charset="0"/>
                <a:ea typeface="Arial"/>
                <a:cs typeface="Times New Roman" panose="02020603050405020304" pitchFamily="18" charset="0"/>
              </a:rPr>
              <a:t>23.03 → 23.97 → 24.22 tokens/s</a:t>
            </a:r>
          </a:p>
        </p:txBody>
      </p:sp>
      <p:sp>
        <p:nvSpPr>
          <p:cNvPr id="63" name="LLAMA label">
            <a:extLst>
              <a:ext uri="{FF2B5EF4-FFF2-40B4-BE49-F238E27FC236}">
                <a16:creationId xmlns:a16="http://schemas.microsoft.com/office/drawing/2014/main" id="{99EABE8F-1624-4CAD-B225-C20807E9CB42}"/>
              </a:ext>
            </a:extLst>
          </p:cNvPr>
          <p:cNvSpPr>
            <a:spLocks noGrp="1"/>
          </p:cNvSpPr>
          <p:nvPr/>
        </p:nvSpPr>
        <p:spPr>
          <a:xfrm>
            <a:off x="8077200" y="2686050"/>
            <a:ext cx="3333750" cy="228600"/>
          </a:xfrm>
          <a:prstGeom prst="rect">
            <a:avLst/>
          </a:prstGeom>
          <a:noFill/>
          <a:ln w="0">
            <a:noFill/>
            <a:prstDash val="solid"/>
          </a:ln>
        </p:spPr>
        <p:txBody>
          <a:bodyPr lIns="0" tIns="0" rIns="0" bIns="0" anchor="ctr">
            <a:noAutofit/>
          </a:bodyPr>
          <a:lstStyle/>
          <a:p>
            <a:pPr algn="l">
              <a:buNone/>
              <a:defRPr sz="1238" b="1">
                <a:solidFill>
                  <a:srgbClr val="2563A8"/>
                </a:solidFill>
                <a:latin typeface="Arial"/>
                <a:ea typeface="Arial"/>
                <a:cs typeface="Arial"/>
              </a:defRPr>
            </a:pPr>
            <a:r>
              <a:rPr sz="1238" b="1">
                <a:solidFill>
                  <a:srgbClr val="2563A8"/>
                </a:solidFill>
                <a:latin typeface="Times New Roman" panose="02020603050405020304" pitchFamily="18" charset="0"/>
                <a:ea typeface="Arial"/>
                <a:cs typeface="Times New Roman" panose="02020603050405020304" pitchFamily="18" charset="0"/>
              </a:rPr>
              <a:t>LLAMA</a:t>
            </a:r>
          </a:p>
        </p:txBody>
      </p:sp>
      <p:sp>
        <p:nvSpPr>
          <p:cNvPr id="64" name="LLAMA finding">
            <a:extLst>
              <a:ext uri="{FF2B5EF4-FFF2-40B4-BE49-F238E27FC236}">
                <a16:creationId xmlns:a16="http://schemas.microsoft.com/office/drawing/2014/main" id="{49EC1A82-BEA0-4A66-855D-03EB14A76BA9}"/>
              </a:ext>
            </a:extLst>
          </p:cNvPr>
          <p:cNvSpPr>
            <a:spLocks noGrp="1"/>
          </p:cNvSpPr>
          <p:nvPr/>
        </p:nvSpPr>
        <p:spPr>
          <a:xfrm>
            <a:off x="8077200" y="2952750"/>
            <a:ext cx="3333750" cy="590550"/>
          </a:xfrm>
          <a:prstGeom prst="rect">
            <a:avLst/>
          </a:prstGeom>
          <a:noFill/>
          <a:ln w="0">
            <a:noFill/>
            <a:prstDash val="solid"/>
          </a:ln>
        </p:spPr>
        <p:txBody>
          <a:bodyPr lIns="0" tIns="0" rIns="0" bIns="0" anchor="t">
            <a:noAutofit/>
          </a:bodyPr>
          <a:lstStyle/>
          <a:p>
            <a:pPr algn="l">
              <a:buNone/>
              <a:defRPr sz="1125">
                <a:solidFill>
                  <a:srgbClr val="374151"/>
                </a:solidFill>
                <a:latin typeface="Arial"/>
                <a:ea typeface="Arial"/>
                <a:cs typeface="Arial"/>
              </a:defRPr>
            </a:pPr>
            <a:r>
              <a:rPr sz="1200" dirty="0">
                <a:latin typeface="Times New Roman" panose="02020603050405020304" pitchFamily="18" charset="0"/>
                <a:ea typeface="Arial"/>
                <a:cs typeface="Times New Roman" panose="02020603050405020304" pitchFamily="18" charset="0"/>
              </a:rPr>
              <a:t>No clear throughput improvement with lower precision.
8.87 → 8.52 → 8.87 tokens/s</a:t>
            </a:r>
          </a:p>
        </p:txBody>
      </p:sp>
      <p:sp>
        <p:nvSpPr>
          <p:cNvPr id="65" name="Main lesson panel">
            <a:extLst>
              <a:ext uri="{FF2B5EF4-FFF2-40B4-BE49-F238E27FC236}">
                <a16:creationId xmlns:a16="http://schemas.microsoft.com/office/drawing/2014/main" id="{A4F1DAAE-7DD5-4D77-B71C-2BDFB9D2C375}"/>
              </a:ext>
            </a:extLst>
          </p:cNvPr>
          <p:cNvSpPr>
            <a:spLocks noGrp="1"/>
          </p:cNvSpPr>
          <p:nvPr/>
        </p:nvSpPr>
        <p:spPr>
          <a:xfrm>
            <a:off x="8077200" y="3781425"/>
            <a:ext cx="3333750" cy="1123950"/>
          </a:xfrm>
          <a:prstGeom prst="roundRect">
            <a:avLst>
              <a:gd name="adj" fmla="val 6780"/>
            </a:avLst>
          </a:prstGeom>
          <a:noFill/>
          <a:ln w="9525">
            <a:solidFill>
              <a:schemeClr val="tx1">
                <a:lumMod val="75000"/>
                <a:lumOff val="25000"/>
              </a:schemeClr>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67" name="Main lesson label">
            <a:extLst>
              <a:ext uri="{FF2B5EF4-FFF2-40B4-BE49-F238E27FC236}">
                <a16:creationId xmlns:a16="http://schemas.microsoft.com/office/drawing/2014/main" id="{3AC0FA08-3F71-4204-831B-B4E1A7E8A43C}"/>
              </a:ext>
            </a:extLst>
          </p:cNvPr>
          <p:cNvSpPr>
            <a:spLocks noGrp="1"/>
          </p:cNvSpPr>
          <p:nvPr/>
        </p:nvSpPr>
        <p:spPr>
          <a:xfrm>
            <a:off x="8267700" y="3905250"/>
            <a:ext cx="2952750" cy="219075"/>
          </a:xfrm>
          <a:prstGeom prst="rect">
            <a:avLst/>
          </a:prstGeom>
          <a:noFill/>
          <a:ln w="0">
            <a:noFill/>
            <a:prstDash val="solid"/>
          </a:ln>
        </p:spPr>
        <p:txBody>
          <a:bodyPr lIns="0" tIns="0" rIns="0" bIns="0" anchor="ctr">
            <a:noAutofit/>
          </a:bodyPr>
          <a:lstStyle/>
          <a:p>
            <a:pPr algn="l">
              <a:buNone/>
              <a:defRPr sz="1238" b="1">
                <a:solidFill>
                  <a:srgbClr val="D97706"/>
                </a:solidFill>
                <a:latin typeface="Arial"/>
                <a:ea typeface="Arial"/>
                <a:cs typeface="Arial"/>
              </a:defRPr>
            </a:pPr>
            <a:r>
              <a:rPr sz="1238" b="1" dirty="0">
                <a:solidFill>
                  <a:schemeClr val="accent4">
                    <a:lumMod val="60000"/>
                    <a:lumOff val="40000"/>
                  </a:schemeClr>
                </a:solidFill>
                <a:latin typeface="Times New Roman" panose="02020603050405020304" pitchFamily="18" charset="0"/>
                <a:ea typeface="Arial"/>
                <a:cs typeface="Times New Roman" panose="02020603050405020304" pitchFamily="18" charset="0"/>
              </a:rPr>
              <a:t>MAIN LESSON</a:t>
            </a:r>
          </a:p>
        </p:txBody>
      </p:sp>
      <p:sp>
        <p:nvSpPr>
          <p:cNvPr id="68" name="Main lesson">
            <a:extLst>
              <a:ext uri="{FF2B5EF4-FFF2-40B4-BE49-F238E27FC236}">
                <a16:creationId xmlns:a16="http://schemas.microsoft.com/office/drawing/2014/main" id="{AF65757A-BEE9-47A1-805B-1E6ADED383CC}"/>
              </a:ext>
            </a:extLst>
          </p:cNvPr>
          <p:cNvSpPr>
            <a:spLocks noGrp="1"/>
          </p:cNvSpPr>
          <p:nvPr/>
        </p:nvSpPr>
        <p:spPr>
          <a:xfrm>
            <a:off x="8267700" y="4191000"/>
            <a:ext cx="3014662" cy="561975"/>
          </a:xfrm>
          <a:prstGeom prst="rect">
            <a:avLst/>
          </a:prstGeom>
          <a:noFill/>
          <a:ln w="0">
            <a:noFill/>
            <a:prstDash val="solid"/>
          </a:ln>
        </p:spPr>
        <p:txBody>
          <a:bodyPr lIns="0" tIns="0" rIns="0" bIns="0" anchor="t">
            <a:noAutofit/>
          </a:bodyPr>
          <a:lstStyle/>
          <a:p>
            <a:pPr algn="l">
              <a:buNone/>
              <a:defRPr sz="1350" b="1">
                <a:solidFill>
                  <a:srgbClr val="111827"/>
                </a:solidFill>
                <a:latin typeface="Arial"/>
                <a:ea typeface="Arial"/>
                <a:cs typeface="Arial"/>
              </a:defRPr>
            </a:pPr>
            <a:r>
              <a:rPr sz="1400" b="1" dirty="0">
                <a:solidFill>
                  <a:srgbClr val="111827"/>
                </a:solidFill>
                <a:latin typeface="Times New Roman" panose="02020603050405020304" pitchFamily="18" charset="0"/>
                <a:ea typeface="Arial"/>
                <a:cs typeface="Times New Roman" panose="02020603050405020304" pitchFamily="18" charset="0"/>
              </a:rPr>
              <a:t>Lower precision does not automatically mean higher throughput.</a:t>
            </a:r>
          </a:p>
        </p:txBody>
      </p:sp>
      <p:sp>
        <p:nvSpPr>
          <p:cNvPr id="69" name="Main lesson qualifier">
            <a:extLst>
              <a:ext uri="{FF2B5EF4-FFF2-40B4-BE49-F238E27FC236}">
                <a16:creationId xmlns:a16="http://schemas.microsoft.com/office/drawing/2014/main" id="{F368A016-E56E-461E-BF66-48CD0B792586}"/>
              </a:ext>
            </a:extLst>
          </p:cNvPr>
          <p:cNvSpPr>
            <a:spLocks noGrp="1"/>
          </p:cNvSpPr>
          <p:nvPr/>
        </p:nvSpPr>
        <p:spPr>
          <a:xfrm>
            <a:off x="8077200" y="5019675"/>
            <a:ext cx="3333750" cy="457200"/>
          </a:xfrm>
          <a:prstGeom prst="rect">
            <a:avLst/>
          </a:prstGeom>
          <a:noFill/>
          <a:ln w="0">
            <a:noFill/>
            <a:prstDash val="solid"/>
          </a:ln>
        </p:spPr>
        <p:txBody>
          <a:bodyPr lIns="0" tIns="0" rIns="0" bIns="0" anchor="t">
            <a:noAutofit/>
          </a:bodyPr>
          <a:lstStyle/>
          <a:p>
            <a:pPr algn="l">
              <a:buNone/>
              <a:defRPr sz="1088">
                <a:solidFill>
                  <a:srgbClr val="6B7280"/>
                </a:solidFill>
                <a:latin typeface="Arial"/>
                <a:ea typeface="Arial"/>
                <a:cs typeface="Arial"/>
              </a:defRPr>
            </a:pPr>
            <a:r>
              <a:rPr sz="1200" dirty="0">
                <a:solidFill>
                  <a:schemeClr val="tx1">
                    <a:lumMod val="85000"/>
                    <a:lumOff val="15000"/>
                  </a:schemeClr>
                </a:solidFill>
                <a:latin typeface="Times New Roman" panose="02020603050405020304" pitchFamily="18" charset="0"/>
                <a:ea typeface="Arial"/>
                <a:cs typeface="Times New Roman" panose="02020603050405020304" pitchFamily="18" charset="0"/>
              </a:rPr>
              <a:t>In these repeated tests, the speed effect depended on the model and MPS execution path.</a:t>
            </a:r>
          </a:p>
        </p:txBody>
      </p:sp>
      <p:sp>
        <p:nvSpPr>
          <p:cNvPr id="70" name="Benchmark conditions band">
            <a:extLst>
              <a:ext uri="{FF2B5EF4-FFF2-40B4-BE49-F238E27FC236}">
                <a16:creationId xmlns:a16="http://schemas.microsoft.com/office/drawing/2014/main" id="{2C32BD56-A533-4EC6-BD9F-0654FE4927D8}"/>
              </a:ext>
            </a:extLst>
          </p:cNvPr>
          <p:cNvSpPr>
            <a:spLocks noGrp="1"/>
          </p:cNvSpPr>
          <p:nvPr/>
        </p:nvSpPr>
        <p:spPr>
          <a:xfrm>
            <a:off x="476250" y="5763724"/>
            <a:ext cx="11239500" cy="696424"/>
          </a:xfrm>
          <a:prstGeom prst="roundRect">
            <a:avLst>
              <a:gd name="adj" fmla="val 14815"/>
            </a:avLst>
          </a:prstGeom>
          <a:noFill/>
          <a:ln w="10478">
            <a:solidFill>
              <a:srgbClr val="C9D9EC"/>
            </a:solid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2" name="Success indicator">
            <a:extLst>
              <a:ext uri="{FF2B5EF4-FFF2-40B4-BE49-F238E27FC236}">
                <a16:creationId xmlns:a16="http://schemas.microsoft.com/office/drawing/2014/main" id="{7D2C228B-0D17-4E61-AD12-E631CBEA099B}"/>
              </a:ext>
            </a:extLst>
          </p:cNvPr>
          <p:cNvSpPr>
            <a:spLocks noGrp="1"/>
          </p:cNvSpPr>
          <p:nvPr/>
        </p:nvSpPr>
        <p:spPr>
          <a:xfrm>
            <a:off x="685800" y="5905500"/>
            <a:ext cx="4000500" cy="361950"/>
          </a:xfrm>
          <a:prstGeom prst="rect">
            <a:avLst/>
          </a:prstGeom>
          <a:noFill/>
          <a:ln w="0">
            <a:noFill/>
            <a:prstDash val="solid"/>
          </a:ln>
        </p:spPr>
        <p:txBody>
          <a:bodyPr lIns="0" tIns="0" rIns="0" bIns="0" anchor="ctr">
            <a:noAutofit/>
          </a:bodyPr>
          <a:lstStyle/>
          <a:p>
            <a:pPr algn="l">
              <a:buNone/>
              <a:defRPr sz="1050" b="1">
                <a:solidFill>
                  <a:srgbClr val="008A72"/>
                </a:solidFill>
                <a:latin typeface="Arial"/>
                <a:ea typeface="Arial"/>
                <a:cs typeface="Arial"/>
              </a:defRPr>
            </a:pPr>
            <a:r>
              <a:rPr sz="1400" b="1" i="1" dirty="0">
                <a:solidFill>
                  <a:schemeClr val="tx1">
                    <a:lumMod val="95000"/>
                    <a:lumOff val="5000"/>
                  </a:schemeClr>
                </a:solidFill>
                <a:latin typeface="Times New Roman" panose="02020603050405020304" pitchFamily="18" charset="0"/>
                <a:ea typeface="Arial"/>
                <a:cs typeface="Times New Roman" panose="02020603050405020304" pitchFamily="18" charset="0"/>
              </a:rPr>
              <a:t>✓ All 30 benchmark runs completed successfully</a:t>
            </a:r>
          </a:p>
        </p:txBody>
      </p:sp>
      <p:sp>
        <p:nvSpPr>
          <p:cNvPr id="73" name="Conditions divider">
            <a:extLst>
              <a:ext uri="{FF2B5EF4-FFF2-40B4-BE49-F238E27FC236}">
                <a16:creationId xmlns:a16="http://schemas.microsoft.com/office/drawing/2014/main" id="{A41FEAB4-43E5-4A61-9FAF-495E0378B40C}"/>
              </a:ext>
            </a:extLst>
          </p:cNvPr>
          <p:cNvSpPr>
            <a:spLocks noGrp="1"/>
          </p:cNvSpPr>
          <p:nvPr/>
        </p:nvSpPr>
        <p:spPr>
          <a:xfrm rot="10800000">
            <a:off x="4810123" y="5905500"/>
            <a:ext cx="45719" cy="474052"/>
          </a:xfrm>
          <a:prstGeom prst="rect">
            <a:avLst/>
          </a:prstGeom>
          <a:solidFill>
            <a:srgbClr val="C9D9EC"/>
          </a:solidFill>
          <a:ln w="0">
            <a:noFill/>
            <a:prstDash val="solid"/>
          </a:ln>
        </p:spPr>
        <p:txBody>
          <a:bodyPr/>
          <a:lstStyle/>
          <a:p>
            <a:endParaRPr>
              <a:latin typeface="Times New Roman" panose="02020603050405020304" pitchFamily="18" charset="0"/>
              <a:cs typeface="Times New Roman" panose="02020603050405020304" pitchFamily="18" charset="0"/>
            </a:endParaRPr>
          </a:p>
        </p:txBody>
      </p:sp>
      <p:sp>
        <p:nvSpPr>
          <p:cNvPr id="74" name="Benchmark conditions line 1">
            <a:extLst>
              <a:ext uri="{FF2B5EF4-FFF2-40B4-BE49-F238E27FC236}">
                <a16:creationId xmlns:a16="http://schemas.microsoft.com/office/drawing/2014/main" id="{E290D616-B146-40F2-AD74-AA96F4BF575B}"/>
              </a:ext>
            </a:extLst>
          </p:cNvPr>
          <p:cNvSpPr>
            <a:spLocks noGrp="1"/>
          </p:cNvSpPr>
          <p:nvPr/>
        </p:nvSpPr>
        <p:spPr>
          <a:xfrm>
            <a:off x="4953000" y="5838825"/>
            <a:ext cx="6477000" cy="304800"/>
          </a:xfrm>
          <a:prstGeom prst="rect">
            <a:avLst/>
          </a:prstGeom>
          <a:noFill/>
          <a:ln w="0">
            <a:noFill/>
            <a:prstDash val="solid"/>
          </a:ln>
        </p:spPr>
        <p:txBody>
          <a:bodyPr lIns="0" tIns="0" rIns="0" bIns="0" anchor="ctr">
            <a:noAutofit/>
          </a:bodyPr>
          <a:lstStyle/>
          <a:p>
            <a:pPr algn="ctr">
              <a:buNone/>
              <a:defRPr sz="1013" b="1">
                <a:solidFill>
                  <a:srgbClr val="374151"/>
                </a:solidFill>
                <a:latin typeface="Arial"/>
                <a:ea typeface="Arial"/>
                <a:cs typeface="Arial"/>
              </a:defRPr>
            </a:pPr>
            <a:r>
              <a:rPr sz="1400" b="1" i="1" dirty="0">
                <a:solidFill>
                  <a:srgbClr val="374151"/>
                </a:solidFill>
                <a:latin typeface="Times New Roman" panose="02020603050405020304" pitchFamily="18" charset="0"/>
                <a:ea typeface="Arial"/>
                <a:cs typeface="Times New Roman" panose="02020603050405020304" pitchFamily="18" charset="0"/>
              </a:rPr>
              <a:t>Apple M1 · 8 GB unified memory · MPS
Seed 42 · Temperature 0.7 · Top-p 0.9 · Max output 150</a:t>
            </a:r>
          </a:p>
        </p:txBody>
      </p:sp>
      <p:sp>
        <p:nvSpPr>
          <p:cNvPr id="75" name="Benchmark conditions line 2">
            <a:extLst>
              <a:ext uri="{FF2B5EF4-FFF2-40B4-BE49-F238E27FC236}">
                <a16:creationId xmlns:a16="http://schemas.microsoft.com/office/drawing/2014/main" id="{C7CA3D76-CF60-4D5E-901C-AC59CD5586A3}"/>
              </a:ext>
            </a:extLst>
          </p:cNvPr>
          <p:cNvSpPr>
            <a:spLocks noGrp="1"/>
          </p:cNvSpPr>
          <p:nvPr/>
        </p:nvSpPr>
        <p:spPr>
          <a:xfrm>
            <a:off x="4953000" y="6212498"/>
            <a:ext cx="6477000" cy="180975"/>
          </a:xfrm>
          <a:prstGeom prst="rect">
            <a:avLst/>
          </a:prstGeom>
          <a:noFill/>
          <a:ln w="0">
            <a:noFill/>
            <a:prstDash val="solid"/>
          </a:ln>
        </p:spPr>
        <p:txBody>
          <a:bodyPr lIns="0" tIns="0" rIns="0" bIns="0" anchor="ctr">
            <a:noAutofit/>
          </a:bodyPr>
          <a:lstStyle/>
          <a:p>
            <a:pPr algn="ctr">
              <a:buNone/>
              <a:defRPr sz="975">
                <a:solidFill>
                  <a:srgbClr val="6B7280"/>
                </a:solidFill>
                <a:latin typeface="Arial"/>
                <a:ea typeface="Arial"/>
                <a:cs typeface="Arial"/>
              </a:defRPr>
            </a:pPr>
            <a:r>
              <a:rPr sz="1200" i="1" dirty="0">
                <a:solidFill>
                  <a:schemeClr val="tx1">
                    <a:lumMod val="85000"/>
                    <a:lumOff val="15000"/>
                  </a:schemeClr>
                </a:solidFill>
                <a:latin typeface="Times New Roman" panose="02020603050405020304" pitchFamily="18" charset="0"/>
                <a:ea typeface="Arial"/>
                <a:cs typeface="Times New Roman" panose="02020603050405020304" pitchFamily="18" charset="0"/>
              </a:rPr>
              <a:t>Same prompt · 5 runs per configuration · mean reported</a:t>
            </a:r>
          </a:p>
        </p:txBody>
      </p:sp>
    </p:spTree>
    <p:extLst>
      <p:ext uri="{BB962C8B-B14F-4D97-AF65-F5344CB8AC3E}">
        <p14:creationId xmlns:p14="http://schemas.microsoft.com/office/powerpoint/2010/main" val="3220538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3FEB6-FFDB-CC12-925C-5328875A6759}"/>
              </a:ext>
            </a:extLst>
          </p:cNvPr>
          <p:cNvSpPr>
            <a:spLocks noGrp="1"/>
          </p:cNvSpPr>
          <p:nvPr>
            <p:ph type="title"/>
          </p:nvPr>
        </p:nvSpPr>
        <p:spPr>
          <a:xfrm>
            <a:off x="381000" y="323850"/>
            <a:ext cx="8382000" cy="552450"/>
          </a:xfrm>
        </p:spPr>
        <p:txBody>
          <a:bodyPr lIns="0" tIns="0" rIns="0" bIns="0" anchor="t">
            <a:noAutofit/>
          </a:bodyPr>
          <a:lstStyle/>
          <a:p>
            <a:pPr marL="0" indent="0" algn="l">
              <a:buNone/>
              <a:defRPr sz="3150" b="1">
                <a:solidFill>
                  <a:srgbClr val="050505"/>
                </a:solidFill>
                <a:latin typeface="Arial Black"/>
                <a:ea typeface="Arial Black"/>
                <a:cs typeface="Arial Black"/>
              </a:defRPr>
            </a:pPr>
            <a:r>
              <a:rPr sz="3150" b="1" dirty="0">
                <a:solidFill>
                  <a:srgbClr val="050505"/>
                </a:solidFill>
                <a:latin typeface="Times New Roman" panose="02020603050405020304" pitchFamily="18" charset="0"/>
                <a:cs typeface="Times New Roman" panose="02020603050405020304" pitchFamily="18" charset="0"/>
              </a:rPr>
              <a:t>KEY TAKEAWAYS &amp; NEXT STEPS</a:t>
            </a:r>
          </a:p>
        </p:txBody>
      </p:sp>
      <p:sp>
        <p:nvSpPr>
          <p:cNvPr id="5" name="灯片编号占位符 4">
            <a:extLst>
              <a:ext uri="{FF2B5EF4-FFF2-40B4-BE49-F238E27FC236}">
                <a16:creationId xmlns:a16="http://schemas.microsoft.com/office/drawing/2014/main" id="{AE411BEF-770D-F494-89F3-BCA2FEBEE3C6}"/>
              </a:ext>
            </a:extLst>
          </p:cNvPr>
          <p:cNvSpPr>
            <a:spLocks noGrp="1"/>
          </p:cNvSpPr>
          <p:nvPr>
            <p:ph type="sldNum" idx="12"/>
          </p:nvPr>
        </p:nvSpPr>
        <p:spPr/>
        <p:txBody>
          <a:bodyPr/>
          <a:lstStyle/>
          <a:p>
            <a:fld id="{DB7BEEEC-A170-5376-2B6E-CB54687B0CB1}" type="slidenum">
              <a:rPr>
                <a:latin typeface="Times New Roman" panose="02020603050405020304" pitchFamily="18" charset="0"/>
                <a:cs typeface="Times New Roman" panose="02020603050405020304" pitchFamily="18" charset="0"/>
              </a:rPr>
              <a:t>10</a:t>
            </a:fld>
            <a:endParaRPr>
              <a:latin typeface="Times New Roman" panose="02020603050405020304" pitchFamily="18" charset="0"/>
              <a:cs typeface="Times New Roman" panose="02020603050405020304" pitchFamily="18" charset="0"/>
            </a:endParaRPr>
          </a:p>
        </p:txBody>
      </p:sp>
      <p:sp>
        <p:nvSpPr>
          <p:cNvPr id="6" name="Achievements frame">
            <a:extLst>
              <a:ext uri="{FF2B5EF4-FFF2-40B4-BE49-F238E27FC236}">
                <a16:creationId xmlns:a16="http://schemas.microsoft.com/office/drawing/2014/main" id="{990BFD91-8402-4A3D-93E0-1DE1DB052D0C}"/>
              </a:ext>
            </a:extLst>
          </p:cNvPr>
          <p:cNvSpPr>
            <a:spLocks noGrp="1"/>
          </p:cNvSpPr>
          <p:nvPr/>
        </p:nvSpPr>
        <p:spPr>
          <a:xfrm>
            <a:off x="476250" y="1162050"/>
            <a:ext cx="5095875" cy="2019300"/>
          </a:xfrm>
          <a:prstGeom prst="roundRect">
            <a:avLst>
              <a:gd name="adj" fmla="val 3774"/>
            </a:avLst>
          </a:prstGeom>
          <a:noFill/>
          <a:ln w="10478">
            <a:solidFill>
              <a:srgbClr val="92D050"/>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8" name="Achievements heading">
            <a:extLst>
              <a:ext uri="{FF2B5EF4-FFF2-40B4-BE49-F238E27FC236}">
                <a16:creationId xmlns:a16="http://schemas.microsoft.com/office/drawing/2014/main" id="{FEEF29E7-12FD-4871-B4D9-EF080CA39BBA}"/>
              </a:ext>
            </a:extLst>
          </p:cNvPr>
          <p:cNvSpPr>
            <a:spLocks noGrp="1"/>
          </p:cNvSpPr>
          <p:nvPr/>
        </p:nvSpPr>
        <p:spPr>
          <a:xfrm>
            <a:off x="723900" y="1295400"/>
            <a:ext cx="4286250" cy="238125"/>
          </a:xfrm>
          <a:prstGeom prst="rect">
            <a:avLst/>
          </a:prstGeom>
          <a:noFill/>
          <a:ln w="0">
            <a:noFill/>
            <a:prstDash val="solid"/>
          </a:ln>
        </p:spPr>
        <p:txBody>
          <a:bodyPr lIns="0" tIns="0" rIns="0" bIns="0" anchor="ctr">
            <a:noAutofit/>
          </a:bodyPr>
          <a:lstStyle/>
          <a:p>
            <a:pPr algn="l">
              <a:buNone/>
              <a:defRPr sz="1275" b="1">
                <a:solidFill>
                  <a:srgbClr val="2563A8"/>
                </a:solidFill>
                <a:latin typeface="Arial"/>
                <a:ea typeface="Arial"/>
                <a:cs typeface="Arial"/>
              </a:defRPr>
            </a:pPr>
            <a:r>
              <a:rPr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WHAT SANZI ACHIEVED</a:t>
            </a:r>
          </a:p>
        </p:txBody>
      </p:sp>
      <p:sp>
        <p:nvSpPr>
          <p:cNvPr id="9" name="Achievement 1 marker">
            <a:extLst>
              <a:ext uri="{FF2B5EF4-FFF2-40B4-BE49-F238E27FC236}">
                <a16:creationId xmlns:a16="http://schemas.microsoft.com/office/drawing/2014/main" id="{52B37E70-49A5-4337-BD23-FB0FBE319F85}"/>
              </a:ext>
            </a:extLst>
          </p:cNvPr>
          <p:cNvSpPr>
            <a:spLocks noGrp="1"/>
          </p:cNvSpPr>
          <p:nvPr/>
        </p:nvSpPr>
        <p:spPr>
          <a:xfrm>
            <a:off x="723900" y="1676400"/>
            <a:ext cx="209550" cy="209550"/>
          </a:xfrm>
          <a:prstGeom prst="ellipse">
            <a:avLst/>
          </a:prstGeom>
          <a:solidFill>
            <a:srgbClr val="2563A8"/>
          </a:solidFill>
          <a:ln w="0">
            <a:noFill/>
            <a:prstDash val="solid"/>
          </a:ln>
        </p:spPr>
        <p:txBody>
          <a:bodyPr/>
          <a:lstStyle/>
          <a:p>
            <a:endParaRPr lang="en-DE" sz="1200">
              <a:latin typeface="Times New Roman" panose="02020603050405020304" pitchFamily="18" charset="0"/>
              <a:cs typeface="Times New Roman" panose="02020603050405020304" pitchFamily="18" charset="0"/>
            </a:endParaRPr>
          </a:p>
        </p:txBody>
      </p:sp>
      <p:sp>
        <p:nvSpPr>
          <p:cNvPr id="10" name="Achievement 1 check">
            <a:extLst>
              <a:ext uri="{FF2B5EF4-FFF2-40B4-BE49-F238E27FC236}">
                <a16:creationId xmlns:a16="http://schemas.microsoft.com/office/drawing/2014/main" id="{DCBFF800-0EE8-4291-8A49-BC653DC5962D}"/>
              </a:ext>
            </a:extLst>
          </p:cNvPr>
          <p:cNvSpPr>
            <a:spLocks noGrp="1"/>
          </p:cNvSpPr>
          <p:nvPr/>
        </p:nvSpPr>
        <p:spPr>
          <a:xfrm>
            <a:off x="723900" y="1676400"/>
            <a:ext cx="209550" cy="209550"/>
          </a:xfrm>
          <a:prstGeom prst="rect">
            <a:avLst/>
          </a:prstGeom>
          <a:noFill/>
          <a:ln w="0">
            <a:noFill/>
            <a:prstDash val="solid"/>
          </a:ln>
        </p:spPr>
        <p:txBody>
          <a:bodyPr lIns="0" tIns="0" rIns="0" bIns="0" anchor="ctr">
            <a:noAutofit/>
          </a:bodyPr>
          <a:lstStyle/>
          <a:p>
            <a:pPr algn="ctr">
              <a:buNone/>
              <a:defRPr sz="975" b="1">
                <a:solidFill>
                  <a:srgbClr val="FFFFFF"/>
                </a:solidFill>
                <a:latin typeface="Arial"/>
                <a:ea typeface="Arial"/>
                <a:cs typeface="Arial"/>
              </a:defRPr>
            </a:pPr>
            <a:r>
              <a:rPr sz="1200" b="1">
                <a:solidFill>
                  <a:srgbClr val="FFFFFF"/>
                </a:solidFill>
                <a:latin typeface="Times New Roman" panose="02020603050405020304" pitchFamily="18" charset="0"/>
                <a:ea typeface="Arial"/>
                <a:cs typeface="Times New Roman" panose="02020603050405020304" pitchFamily="18" charset="0"/>
              </a:rPr>
              <a:t>✓</a:t>
            </a:r>
          </a:p>
        </p:txBody>
      </p:sp>
      <p:sp>
        <p:nvSpPr>
          <p:cNvPr id="11" name="Achievement 1 text">
            <a:extLst>
              <a:ext uri="{FF2B5EF4-FFF2-40B4-BE49-F238E27FC236}">
                <a16:creationId xmlns:a16="http://schemas.microsoft.com/office/drawing/2014/main" id="{9AF7763F-8EBE-44F9-A8F2-1A35E8AEC2D8}"/>
              </a:ext>
            </a:extLst>
          </p:cNvPr>
          <p:cNvSpPr>
            <a:spLocks noGrp="1"/>
          </p:cNvSpPr>
          <p:nvPr/>
        </p:nvSpPr>
        <p:spPr>
          <a:xfrm>
            <a:off x="1066800" y="1619250"/>
            <a:ext cx="4286250" cy="3238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sz="1200">
                <a:solidFill>
                  <a:srgbClr val="374151"/>
                </a:solidFill>
                <a:latin typeface="Times New Roman" panose="02020603050405020304" pitchFamily="18" charset="0"/>
                <a:ea typeface="Arial"/>
                <a:cs typeface="Times New Roman" panose="02020603050405020304" pitchFamily="18" charset="0"/>
              </a:rPr>
              <a:t>Local deployment of Llama-3.2-1B-Instruct and Qwen1.5-0.5B-Chat</a:t>
            </a:r>
          </a:p>
        </p:txBody>
      </p:sp>
      <p:sp>
        <p:nvSpPr>
          <p:cNvPr id="12" name="Achievement 2 marker">
            <a:extLst>
              <a:ext uri="{FF2B5EF4-FFF2-40B4-BE49-F238E27FC236}">
                <a16:creationId xmlns:a16="http://schemas.microsoft.com/office/drawing/2014/main" id="{65B8085F-0DD6-4491-BB80-FFC785C4FB5B}"/>
              </a:ext>
            </a:extLst>
          </p:cNvPr>
          <p:cNvSpPr>
            <a:spLocks noGrp="1"/>
          </p:cNvSpPr>
          <p:nvPr/>
        </p:nvSpPr>
        <p:spPr>
          <a:xfrm>
            <a:off x="723900" y="2028825"/>
            <a:ext cx="209550" cy="209550"/>
          </a:xfrm>
          <a:prstGeom prst="ellipse">
            <a:avLst/>
          </a:prstGeom>
          <a:solidFill>
            <a:srgbClr val="008A72"/>
          </a:solidFill>
          <a:ln w="0">
            <a:noFill/>
            <a:prstDash val="solid"/>
          </a:ln>
        </p:spPr>
        <p:txBody>
          <a:bodyPr/>
          <a:lstStyle/>
          <a:p>
            <a:endParaRPr lang="en-DE" sz="1200">
              <a:latin typeface="Times New Roman" panose="02020603050405020304" pitchFamily="18" charset="0"/>
              <a:cs typeface="Times New Roman" panose="02020603050405020304" pitchFamily="18" charset="0"/>
            </a:endParaRPr>
          </a:p>
        </p:txBody>
      </p:sp>
      <p:sp>
        <p:nvSpPr>
          <p:cNvPr id="13" name="Achievement 2 check">
            <a:extLst>
              <a:ext uri="{FF2B5EF4-FFF2-40B4-BE49-F238E27FC236}">
                <a16:creationId xmlns:a16="http://schemas.microsoft.com/office/drawing/2014/main" id="{ABD8A975-8DC8-441F-BD22-9BF4E6F86373}"/>
              </a:ext>
            </a:extLst>
          </p:cNvPr>
          <p:cNvSpPr>
            <a:spLocks noGrp="1"/>
          </p:cNvSpPr>
          <p:nvPr/>
        </p:nvSpPr>
        <p:spPr>
          <a:xfrm>
            <a:off x="723900" y="2028825"/>
            <a:ext cx="209550" cy="209550"/>
          </a:xfrm>
          <a:prstGeom prst="rect">
            <a:avLst/>
          </a:prstGeom>
          <a:noFill/>
          <a:ln w="0">
            <a:noFill/>
            <a:prstDash val="solid"/>
          </a:ln>
        </p:spPr>
        <p:txBody>
          <a:bodyPr lIns="0" tIns="0" rIns="0" bIns="0" anchor="ctr">
            <a:noAutofit/>
          </a:bodyPr>
          <a:lstStyle/>
          <a:p>
            <a:pPr algn="ctr">
              <a:buNone/>
              <a:defRPr sz="975" b="1">
                <a:solidFill>
                  <a:srgbClr val="FFFFFF"/>
                </a:solidFill>
                <a:latin typeface="Arial"/>
                <a:ea typeface="Arial"/>
                <a:cs typeface="Arial"/>
              </a:defRPr>
            </a:pPr>
            <a:r>
              <a:rPr sz="1200" b="1" dirty="0">
                <a:solidFill>
                  <a:srgbClr val="FFFFFF"/>
                </a:solidFill>
                <a:latin typeface="Times New Roman" panose="02020603050405020304" pitchFamily="18" charset="0"/>
                <a:ea typeface="Arial"/>
                <a:cs typeface="Times New Roman" panose="02020603050405020304" pitchFamily="18" charset="0"/>
              </a:rPr>
              <a:t>✓</a:t>
            </a:r>
          </a:p>
        </p:txBody>
      </p:sp>
      <p:sp>
        <p:nvSpPr>
          <p:cNvPr id="14" name="Achievement 2 text">
            <a:extLst>
              <a:ext uri="{FF2B5EF4-FFF2-40B4-BE49-F238E27FC236}">
                <a16:creationId xmlns:a16="http://schemas.microsoft.com/office/drawing/2014/main" id="{35F832F1-9375-454B-AA23-7CA6DDDEED13}"/>
              </a:ext>
            </a:extLst>
          </p:cNvPr>
          <p:cNvSpPr>
            <a:spLocks noGrp="1"/>
          </p:cNvSpPr>
          <p:nvPr/>
        </p:nvSpPr>
        <p:spPr>
          <a:xfrm>
            <a:off x="1066800" y="1971675"/>
            <a:ext cx="4286250" cy="3238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sz="1200" dirty="0">
                <a:solidFill>
                  <a:srgbClr val="374151"/>
                </a:solidFill>
                <a:latin typeface="Times New Roman" panose="02020603050405020304" pitchFamily="18" charset="0"/>
                <a:ea typeface="Arial"/>
                <a:cs typeface="Times New Roman" panose="02020603050405020304" pitchFamily="18" charset="0"/>
              </a:rPr>
              <a:t>Functional CLI and GUI with configurable generation controls</a:t>
            </a:r>
          </a:p>
        </p:txBody>
      </p:sp>
      <p:sp>
        <p:nvSpPr>
          <p:cNvPr id="15" name="Achievement 3 marker">
            <a:extLst>
              <a:ext uri="{FF2B5EF4-FFF2-40B4-BE49-F238E27FC236}">
                <a16:creationId xmlns:a16="http://schemas.microsoft.com/office/drawing/2014/main" id="{6D54C292-4786-42B2-AF90-999DDA41FB83}"/>
              </a:ext>
            </a:extLst>
          </p:cNvPr>
          <p:cNvSpPr>
            <a:spLocks noGrp="1"/>
          </p:cNvSpPr>
          <p:nvPr/>
        </p:nvSpPr>
        <p:spPr>
          <a:xfrm>
            <a:off x="723900" y="2381250"/>
            <a:ext cx="209550" cy="209550"/>
          </a:xfrm>
          <a:prstGeom prst="ellipse">
            <a:avLst/>
          </a:prstGeom>
          <a:solidFill>
            <a:srgbClr val="7C3AED"/>
          </a:solidFill>
          <a:ln w="0">
            <a:noFill/>
            <a:prstDash val="solid"/>
          </a:ln>
        </p:spPr>
        <p:txBody>
          <a:bodyPr/>
          <a:lstStyle/>
          <a:p>
            <a:endParaRPr lang="en-DE" sz="1200">
              <a:latin typeface="Times New Roman" panose="02020603050405020304" pitchFamily="18" charset="0"/>
              <a:cs typeface="Times New Roman" panose="02020603050405020304" pitchFamily="18" charset="0"/>
            </a:endParaRPr>
          </a:p>
        </p:txBody>
      </p:sp>
      <p:sp>
        <p:nvSpPr>
          <p:cNvPr id="16" name="Achievement 3 check">
            <a:extLst>
              <a:ext uri="{FF2B5EF4-FFF2-40B4-BE49-F238E27FC236}">
                <a16:creationId xmlns:a16="http://schemas.microsoft.com/office/drawing/2014/main" id="{01A3F8A1-FB43-4144-87B5-39182C68451E}"/>
              </a:ext>
            </a:extLst>
          </p:cNvPr>
          <p:cNvSpPr>
            <a:spLocks noGrp="1"/>
          </p:cNvSpPr>
          <p:nvPr/>
        </p:nvSpPr>
        <p:spPr>
          <a:xfrm>
            <a:off x="723900" y="2381250"/>
            <a:ext cx="209550" cy="209550"/>
          </a:xfrm>
          <a:prstGeom prst="rect">
            <a:avLst/>
          </a:prstGeom>
          <a:noFill/>
          <a:ln w="0">
            <a:noFill/>
            <a:prstDash val="solid"/>
          </a:ln>
        </p:spPr>
        <p:txBody>
          <a:bodyPr lIns="0" tIns="0" rIns="0" bIns="0" anchor="ctr">
            <a:noAutofit/>
          </a:bodyPr>
          <a:lstStyle/>
          <a:p>
            <a:pPr algn="ctr">
              <a:buNone/>
              <a:defRPr sz="975" b="1">
                <a:solidFill>
                  <a:srgbClr val="FFFFFF"/>
                </a:solidFill>
                <a:latin typeface="Arial"/>
                <a:ea typeface="Arial"/>
                <a:cs typeface="Arial"/>
              </a:defRPr>
            </a:pPr>
            <a:r>
              <a:rPr sz="1200" b="1">
                <a:solidFill>
                  <a:srgbClr val="FFFFFF"/>
                </a:solidFill>
                <a:latin typeface="Times New Roman" panose="02020603050405020304" pitchFamily="18" charset="0"/>
                <a:ea typeface="Arial"/>
                <a:cs typeface="Times New Roman" panose="02020603050405020304" pitchFamily="18" charset="0"/>
              </a:rPr>
              <a:t>✓</a:t>
            </a:r>
          </a:p>
        </p:txBody>
      </p:sp>
      <p:sp>
        <p:nvSpPr>
          <p:cNvPr id="17" name="Achievement 3 text">
            <a:extLst>
              <a:ext uri="{FF2B5EF4-FFF2-40B4-BE49-F238E27FC236}">
                <a16:creationId xmlns:a16="http://schemas.microsoft.com/office/drawing/2014/main" id="{0918C57F-707B-4142-B92E-8F235BDD8747}"/>
              </a:ext>
            </a:extLst>
          </p:cNvPr>
          <p:cNvSpPr>
            <a:spLocks noGrp="1"/>
          </p:cNvSpPr>
          <p:nvPr/>
        </p:nvSpPr>
        <p:spPr>
          <a:xfrm>
            <a:off x="1066800" y="2324100"/>
            <a:ext cx="4286250" cy="3238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sz="1200">
                <a:solidFill>
                  <a:srgbClr val="374151"/>
                </a:solidFill>
                <a:latin typeface="Times New Roman" panose="02020603050405020304" pitchFamily="18" charset="0"/>
                <a:ea typeface="Arial"/>
                <a:cs typeface="Times New Roman" panose="02020603050405020304" pitchFamily="18" charset="0"/>
              </a:rPr>
              <a:t>FP16, 8-bit Metal and 4-bit Metal execution on Apple M1</a:t>
            </a:r>
          </a:p>
        </p:txBody>
      </p:sp>
      <p:sp>
        <p:nvSpPr>
          <p:cNvPr id="18" name="Achievement 4 marker">
            <a:extLst>
              <a:ext uri="{FF2B5EF4-FFF2-40B4-BE49-F238E27FC236}">
                <a16:creationId xmlns:a16="http://schemas.microsoft.com/office/drawing/2014/main" id="{5CA2990D-CE1D-498A-9FD8-72D4AB17A01F}"/>
              </a:ext>
            </a:extLst>
          </p:cNvPr>
          <p:cNvSpPr>
            <a:spLocks noGrp="1"/>
          </p:cNvSpPr>
          <p:nvPr/>
        </p:nvSpPr>
        <p:spPr>
          <a:xfrm>
            <a:off x="723900" y="2733675"/>
            <a:ext cx="209550" cy="209550"/>
          </a:xfrm>
          <a:prstGeom prst="ellipse">
            <a:avLst/>
          </a:prstGeom>
          <a:solidFill>
            <a:srgbClr val="D97706"/>
          </a:solidFill>
          <a:ln w="0">
            <a:noFill/>
            <a:prstDash val="solid"/>
          </a:ln>
        </p:spPr>
        <p:txBody>
          <a:bodyPr/>
          <a:lstStyle/>
          <a:p>
            <a:endParaRPr lang="en-DE" sz="1200">
              <a:latin typeface="Times New Roman" panose="02020603050405020304" pitchFamily="18" charset="0"/>
              <a:cs typeface="Times New Roman" panose="02020603050405020304" pitchFamily="18" charset="0"/>
            </a:endParaRPr>
          </a:p>
        </p:txBody>
      </p:sp>
      <p:sp>
        <p:nvSpPr>
          <p:cNvPr id="19" name="Achievement 4 check">
            <a:extLst>
              <a:ext uri="{FF2B5EF4-FFF2-40B4-BE49-F238E27FC236}">
                <a16:creationId xmlns:a16="http://schemas.microsoft.com/office/drawing/2014/main" id="{4F14A7CD-FFC1-475D-ACE2-DFF627790C91}"/>
              </a:ext>
            </a:extLst>
          </p:cNvPr>
          <p:cNvSpPr>
            <a:spLocks noGrp="1"/>
          </p:cNvSpPr>
          <p:nvPr/>
        </p:nvSpPr>
        <p:spPr>
          <a:xfrm>
            <a:off x="723900" y="2733675"/>
            <a:ext cx="209550" cy="209550"/>
          </a:xfrm>
          <a:prstGeom prst="rect">
            <a:avLst/>
          </a:prstGeom>
          <a:noFill/>
          <a:ln w="0">
            <a:noFill/>
            <a:prstDash val="solid"/>
          </a:ln>
        </p:spPr>
        <p:txBody>
          <a:bodyPr lIns="0" tIns="0" rIns="0" bIns="0" anchor="ctr">
            <a:noAutofit/>
          </a:bodyPr>
          <a:lstStyle/>
          <a:p>
            <a:pPr algn="ctr">
              <a:buNone/>
              <a:defRPr sz="975" b="1">
                <a:solidFill>
                  <a:srgbClr val="FFFFFF"/>
                </a:solidFill>
                <a:latin typeface="Arial"/>
                <a:ea typeface="Arial"/>
                <a:cs typeface="Arial"/>
              </a:defRPr>
            </a:pPr>
            <a:r>
              <a:rPr sz="1200" b="1">
                <a:solidFill>
                  <a:srgbClr val="FFFFFF"/>
                </a:solidFill>
                <a:latin typeface="Times New Roman" panose="02020603050405020304" pitchFamily="18" charset="0"/>
                <a:ea typeface="Arial"/>
                <a:cs typeface="Times New Roman" panose="02020603050405020304" pitchFamily="18" charset="0"/>
              </a:rPr>
              <a:t>✓</a:t>
            </a:r>
          </a:p>
        </p:txBody>
      </p:sp>
      <p:sp>
        <p:nvSpPr>
          <p:cNvPr id="20" name="Achievement 4 text">
            <a:extLst>
              <a:ext uri="{FF2B5EF4-FFF2-40B4-BE49-F238E27FC236}">
                <a16:creationId xmlns:a16="http://schemas.microsoft.com/office/drawing/2014/main" id="{D89966F2-4486-4E26-AD48-40E377C4CA40}"/>
              </a:ext>
            </a:extLst>
          </p:cNvPr>
          <p:cNvSpPr>
            <a:spLocks noGrp="1"/>
          </p:cNvSpPr>
          <p:nvPr/>
        </p:nvSpPr>
        <p:spPr>
          <a:xfrm>
            <a:off x="1066800" y="2676525"/>
            <a:ext cx="4286250" cy="323850"/>
          </a:xfrm>
          <a:prstGeom prst="rect">
            <a:avLst/>
          </a:prstGeom>
          <a:noFill/>
          <a:ln w="0">
            <a:noFill/>
            <a:prstDash val="solid"/>
          </a:ln>
        </p:spPr>
        <p:txBody>
          <a:bodyPr lIns="0" tIns="0" rIns="0" bIns="0" anchor="ctr">
            <a:noAutofit/>
          </a:bodyPr>
          <a:lstStyle/>
          <a:p>
            <a:pPr algn="l">
              <a:buNone/>
              <a:defRPr sz="1163">
                <a:solidFill>
                  <a:srgbClr val="374151"/>
                </a:solidFill>
                <a:latin typeface="Arial"/>
                <a:ea typeface="Arial"/>
                <a:cs typeface="Arial"/>
              </a:defRPr>
            </a:pPr>
            <a:r>
              <a:rPr sz="1200">
                <a:solidFill>
                  <a:srgbClr val="374151"/>
                </a:solidFill>
                <a:latin typeface="Times New Roman" panose="02020603050405020304" pitchFamily="18" charset="0"/>
                <a:ea typeface="Arial"/>
                <a:cs typeface="Times New Roman" panose="02020603050405020304" pitchFamily="18" charset="0"/>
              </a:rPr>
              <a:t>Memory safeguards and OOM recovery for limited hardware</a:t>
            </a:r>
          </a:p>
        </p:txBody>
      </p:sp>
      <p:sp>
        <p:nvSpPr>
          <p:cNvPr id="21" name="Key takeaway frame">
            <a:extLst>
              <a:ext uri="{FF2B5EF4-FFF2-40B4-BE49-F238E27FC236}">
                <a16:creationId xmlns:a16="http://schemas.microsoft.com/office/drawing/2014/main" id="{1E8866E4-5373-4FAD-8577-AE21D93220D9}"/>
              </a:ext>
            </a:extLst>
          </p:cNvPr>
          <p:cNvSpPr>
            <a:spLocks noGrp="1"/>
          </p:cNvSpPr>
          <p:nvPr/>
        </p:nvSpPr>
        <p:spPr>
          <a:xfrm>
            <a:off x="5857875" y="1162050"/>
            <a:ext cx="5857875" cy="2019300"/>
          </a:xfrm>
          <a:prstGeom prst="roundRect">
            <a:avLst>
              <a:gd name="adj" fmla="val 3774"/>
            </a:avLst>
          </a:prstGeom>
          <a:noFill/>
          <a:ln w="10478">
            <a:solidFill>
              <a:srgbClr val="92D050"/>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3" name="Key takeaway heading">
            <a:extLst>
              <a:ext uri="{FF2B5EF4-FFF2-40B4-BE49-F238E27FC236}">
                <a16:creationId xmlns:a16="http://schemas.microsoft.com/office/drawing/2014/main" id="{D8AA3DBA-4CF3-48D8-8DA8-863651DF8EC9}"/>
              </a:ext>
            </a:extLst>
          </p:cNvPr>
          <p:cNvSpPr>
            <a:spLocks noGrp="1"/>
          </p:cNvSpPr>
          <p:nvPr/>
        </p:nvSpPr>
        <p:spPr>
          <a:xfrm>
            <a:off x="6143625" y="1295400"/>
            <a:ext cx="4953000" cy="238125"/>
          </a:xfrm>
          <a:prstGeom prst="rect">
            <a:avLst/>
          </a:prstGeom>
          <a:noFill/>
          <a:ln w="0">
            <a:noFill/>
            <a:prstDash val="solid"/>
          </a:ln>
        </p:spPr>
        <p:txBody>
          <a:bodyPr lIns="0" tIns="0" rIns="0" bIns="0" anchor="ctr">
            <a:noAutofit/>
          </a:bodyPr>
          <a:lstStyle/>
          <a:p>
            <a:pPr algn="l">
              <a:buNone/>
              <a:defRPr sz="1275" b="1">
                <a:solidFill>
                  <a:srgbClr val="D97706"/>
                </a:solidFill>
                <a:latin typeface="Arial"/>
                <a:ea typeface="Arial"/>
                <a:cs typeface="Arial"/>
              </a:defRPr>
            </a:pPr>
            <a:r>
              <a:rPr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KEY TAKEAWAY</a:t>
            </a:r>
          </a:p>
        </p:txBody>
      </p:sp>
      <p:sp>
        <p:nvSpPr>
          <p:cNvPr id="24" name="Key takeaway quote">
            <a:extLst>
              <a:ext uri="{FF2B5EF4-FFF2-40B4-BE49-F238E27FC236}">
                <a16:creationId xmlns:a16="http://schemas.microsoft.com/office/drawing/2014/main" id="{2BE43711-8E79-42C3-8A05-4445F625B65E}"/>
              </a:ext>
            </a:extLst>
          </p:cNvPr>
          <p:cNvSpPr>
            <a:spLocks noGrp="1"/>
          </p:cNvSpPr>
          <p:nvPr/>
        </p:nvSpPr>
        <p:spPr>
          <a:xfrm>
            <a:off x="6143625" y="1619250"/>
            <a:ext cx="5191125" cy="866775"/>
          </a:xfrm>
          <a:prstGeom prst="rect">
            <a:avLst/>
          </a:prstGeom>
          <a:noFill/>
          <a:ln w="0">
            <a:noFill/>
            <a:prstDash val="solid"/>
          </a:ln>
        </p:spPr>
        <p:txBody>
          <a:bodyPr lIns="0" tIns="0" rIns="0" bIns="0" anchor="t">
            <a:noAutofit/>
          </a:bodyPr>
          <a:lstStyle/>
          <a:p>
            <a:pPr algn="l">
              <a:buNone/>
              <a:defRPr sz="1425" b="1">
                <a:solidFill>
                  <a:srgbClr val="111827"/>
                </a:solidFill>
                <a:latin typeface="Arial"/>
                <a:ea typeface="Arial"/>
                <a:cs typeface="Arial"/>
              </a:defRPr>
            </a:pPr>
            <a:r>
              <a:rPr sz="1400" b="1" dirty="0">
                <a:solidFill>
                  <a:srgbClr val="111827"/>
                </a:solidFill>
                <a:latin typeface="Times New Roman" panose="02020603050405020304" pitchFamily="18" charset="0"/>
                <a:ea typeface="Arial"/>
                <a:cs typeface="Times New Roman" panose="02020603050405020304" pitchFamily="18" charset="0"/>
              </a:rPr>
              <a:t>“SANZI shows that practical local LLM deployment depends not only on model size, but also on precision, memory management and hardware-aware system design.”</a:t>
            </a:r>
          </a:p>
        </p:txBody>
      </p:sp>
      <p:sp>
        <p:nvSpPr>
          <p:cNvPr id="25" name="Key takeaway support">
            <a:extLst>
              <a:ext uri="{FF2B5EF4-FFF2-40B4-BE49-F238E27FC236}">
                <a16:creationId xmlns:a16="http://schemas.microsoft.com/office/drawing/2014/main" id="{9AFB8831-7329-47CB-AEB9-8ACD41D1CDED}"/>
              </a:ext>
            </a:extLst>
          </p:cNvPr>
          <p:cNvSpPr>
            <a:spLocks noGrp="1"/>
          </p:cNvSpPr>
          <p:nvPr/>
        </p:nvSpPr>
        <p:spPr>
          <a:xfrm>
            <a:off x="6143625" y="2571750"/>
            <a:ext cx="5191125" cy="476250"/>
          </a:xfrm>
          <a:prstGeom prst="rect">
            <a:avLst/>
          </a:prstGeom>
          <a:noFill/>
          <a:ln w="0">
            <a:noFill/>
            <a:prstDash val="solid"/>
          </a:ln>
        </p:spPr>
        <p:txBody>
          <a:bodyPr lIns="0" tIns="0" rIns="0" bIns="0" anchor="t">
            <a:noAutofit/>
          </a:bodyPr>
          <a:lstStyle/>
          <a:p>
            <a:pPr algn="l">
              <a:buNone/>
              <a:defRPr sz="1088">
                <a:solidFill>
                  <a:srgbClr val="6B7280"/>
                </a:solidFill>
                <a:latin typeface="Arial"/>
                <a:ea typeface="Arial"/>
                <a:cs typeface="Arial"/>
              </a:defRPr>
            </a:pPr>
            <a:r>
              <a:rPr sz="1200" dirty="0">
                <a:solidFill>
                  <a:schemeClr val="tx1">
                    <a:lumMod val="95000"/>
                    <a:lumOff val="5000"/>
                  </a:schemeClr>
                </a:solidFill>
                <a:latin typeface="Times New Roman" panose="02020603050405020304" pitchFamily="18" charset="0"/>
                <a:ea typeface="Arial"/>
                <a:cs typeface="Times New Roman" panose="02020603050405020304" pitchFamily="18" charset="0"/>
              </a:rPr>
              <a:t>Local inference can reduce dependence on external providers while giving the user more direct control over where prompts are processed.</a:t>
            </a:r>
          </a:p>
        </p:txBody>
      </p:sp>
      <p:sp>
        <p:nvSpPr>
          <p:cNvPr id="26" name="Future work heading">
            <a:extLst>
              <a:ext uri="{FF2B5EF4-FFF2-40B4-BE49-F238E27FC236}">
                <a16:creationId xmlns:a16="http://schemas.microsoft.com/office/drawing/2014/main" id="{BD48C202-214E-4380-AA5E-CDC721284884}"/>
              </a:ext>
            </a:extLst>
          </p:cNvPr>
          <p:cNvSpPr>
            <a:spLocks noGrp="1"/>
          </p:cNvSpPr>
          <p:nvPr/>
        </p:nvSpPr>
        <p:spPr>
          <a:xfrm>
            <a:off x="476250" y="3381375"/>
            <a:ext cx="2476500" cy="238125"/>
          </a:xfrm>
          <a:prstGeom prst="rect">
            <a:avLst/>
          </a:prstGeom>
          <a:noFill/>
          <a:ln w="0">
            <a:noFill/>
            <a:prstDash val="solid"/>
          </a:ln>
        </p:spPr>
        <p:txBody>
          <a:bodyPr lIns="0" tIns="0" rIns="0" bIns="0" anchor="ctr">
            <a:noAutofit/>
          </a:bodyPr>
          <a:lstStyle/>
          <a:p>
            <a:pPr algn="l">
              <a:buNone/>
              <a:defRPr sz="1275" b="1">
                <a:solidFill>
                  <a:srgbClr val="008A72"/>
                </a:solidFill>
                <a:latin typeface="Arial"/>
                <a:ea typeface="Arial"/>
                <a:cs typeface="Arial"/>
              </a:defRPr>
            </a:pPr>
            <a:r>
              <a:rPr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FUTURE WORK</a:t>
            </a:r>
            <a:r>
              <a:rPr lang="de-DE"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t>
            </a:r>
            <a:endParaRPr sz="1400" b="1" dirty="0">
              <a:solidFill>
                <a:schemeClr val="tx1">
                  <a:lumMod val="95000"/>
                  <a:lumOff val="5000"/>
                </a:schemeClr>
              </a:solidFill>
              <a:latin typeface="Times New Roman" panose="02020603050405020304" pitchFamily="18" charset="0"/>
              <a:ea typeface="Arial"/>
              <a:cs typeface="Times New Roman" panose="02020603050405020304" pitchFamily="18" charset="0"/>
            </a:endParaRPr>
          </a:p>
        </p:txBody>
      </p:sp>
      <p:sp>
        <p:nvSpPr>
          <p:cNvPr id="27" name="Future roadmap connector">
            <a:extLst>
              <a:ext uri="{FF2B5EF4-FFF2-40B4-BE49-F238E27FC236}">
                <a16:creationId xmlns:a16="http://schemas.microsoft.com/office/drawing/2014/main" id="{E19F8581-E015-44F6-9F2E-18A7F01560BB}"/>
              </a:ext>
            </a:extLst>
          </p:cNvPr>
          <p:cNvSpPr>
            <a:spLocks noGrp="1"/>
          </p:cNvSpPr>
          <p:nvPr/>
        </p:nvSpPr>
        <p:spPr>
          <a:xfrm>
            <a:off x="1619250" y="4105275"/>
            <a:ext cx="8715375" cy="28575"/>
          </a:xfrm>
          <a:prstGeom prst="roundRect">
            <a:avLst>
              <a:gd name="adj" fmla="val 50000"/>
            </a:avLst>
          </a:prstGeom>
          <a:solidFill>
            <a:srgbClr val="C9D9EC"/>
          </a:solidFill>
          <a:ln w="0">
            <a:no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8" name="Future 1 badge">
            <a:extLst>
              <a:ext uri="{FF2B5EF4-FFF2-40B4-BE49-F238E27FC236}">
                <a16:creationId xmlns:a16="http://schemas.microsoft.com/office/drawing/2014/main" id="{A03E0E59-29A9-45A5-8465-A9A4C017371D}"/>
              </a:ext>
            </a:extLst>
          </p:cNvPr>
          <p:cNvSpPr>
            <a:spLocks noGrp="1"/>
          </p:cNvSpPr>
          <p:nvPr/>
        </p:nvSpPr>
        <p:spPr>
          <a:xfrm>
            <a:off x="1362075" y="3857625"/>
            <a:ext cx="514350" cy="514350"/>
          </a:xfrm>
          <a:prstGeom prst="ellipse">
            <a:avLst/>
          </a:prstGeom>
          <a:solidFill>
            <a:srgbClr val="EAF2FB"/>
          </a:solidFill>
          <a:ln w="14288">
            <a:solidFill>
              <a:srgbClr val="2563A8"/>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29" name="Future 1 badge text">
            <a:extLst>
              <a:ext uri="{FF2B5EF4-FFF2-40B4-BE49-F238E27FC236}">
                <a16:creationId xmlns:a16="http://schemas.microsoft.com/office/drawing/2014/main" id="{2888EC2E-F3FB-4B14-A6CF-ECC7F7906A2C}"/>
              </a:ext>
            </a:extLst>
          </p:cNvPr>
          <p:cNvSpPr>
            <a:spLocks noGrp="1"/>
          </p:cNvSpPr>
          <p:nvPr/>
        </p:nvSpPr>
        <p:spPr>
          <a:xfrm>
            <a:off x="1362075" y="3857625"/>
            <a:ext cx="514350" cy="514350"/>
          </a:xfrm>
          <a:prstGeom prst="rect">
            <a:avLst/>
          </a:prstGeom>
          <a:noFill/>
          <a:ln w="0">
            <a:noFill/>
            <a:prstDash val="solid"/>
          </a:ln>
        </p:spPr>
        <p:txBody>
          <a:bodyPr lIns="0" tIns="0" rIns="0" bIns="0" anchor="ctr">
            <a:noAutofit/>
          </a:bodyPr>
          <a:lstStyle/>
          <a:p>
            <a:pPr algn="ctr">
              <a:buNone/>
              <a:defRPr sz="975" b="1">
                <a:solidFill>
                  <a:srgbClr val="2563A8"/>
                </a:solidFill>
                <a:latin typeface="Arial"/>
                <a:ea typeface="Arial"/>
                <a:cs typeface="Arial"/>
              </a:defRPr>
            </a:pPr>
            <a:r>
              <a:rPr sz="975" b="1" dirty="0">
                <a:solidFill>
                  <a:srgbClr val="2563A8"/>
                </a:solidFill>
                <a:latin typeface="Times New Roman" panose="02020603050405020304" pitchFamily="18" charset="0"/>
                <a:ea typeface="Arial"/>
                <a:cs typeface="Times New Roman" panose="02020603050405020304" pitchFamily="18" charset="0"/>
              </a:rPr>
              <a:t>GPU</a:t>
            </a:r>
          </a:p>
        </p:txBody>
      </p:sp>
      <p:sp>
        <p:nvSpPr>
          <p:cNvPr id="30" name="Future 1 heading">
            <a:extLst>
              <a:ext uri="{FF2B5EF4-FFF2-40B4-BE49-F238E27FC236}">
                <a16:creationId xmlns:a16="http://schemas.microsoft.com/office/drawing/2014/main" id="{880D5820-B655-43AA-AE1B-F57E6D7B0648}"/>
              </a:ext>
            </a:extLst>
          </p:cNvPr>
          <p:cNvSpPr>
            <a:spLocks noGrp="1"/>
          </p:cNvSpPr>
          <p:nvPr/>
        </p:nvSpPr>
        <p:spPr>
          <a:xfrm>
            <a:off x="333375" y="4438650"/>
            <a:ext cx="2571750" cy="361950"/>
          </a:xfrm>
          <a:prstGeom prst="rect">
            <a:avLst/>
          </a:prstGeom>
          <a:noFill/>
          <a:ln w="0">
            <a:noFill/>
            <a:prstDash val="solid"/>
          </a:ln>
        </p:spPr>
        <p:txBody>
          <a:bodyPr lIns="0" tIns="0" rIns="0" bIns="0" anchor="ctr">
            <a:noAutofit/>
          </a:bodyPr>
          <a:lstStyle/>
          <a:p>
            <a:pPr algn="ctr">
              <a:buNone/>
              <a:defRPr sz="1163" b="1">
                <a:solidFill>
                  <a:srgbClr val="2563A8"/>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CROSS-PLATFORM</a:t>
            </a:r>
          </a:p>
          <a:p>
            <a:pPr algn="ctr">
              <a:buNone/>
              <a:defRPr sz="1163" b="1">
                <a:solidFill>
                  <a:srgbClr val="2563A8"/>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ACCELERATION</a:t>
            </a:r>
          </a:p>
        </p:txBody>
      </p:sp>
      <p:sp>
        <p:nvSpPr>
          <p:cNvPr id="31" name="Future 1 description">
            <a:extLst>
              <a:ext uri="{FF2B5EF4-FFF2-40B4-BE49-F238E27FC236}">
                <a16:creationId xmlns:a16="http://schemas.microsoft.com/office/drawing/2014/main" id="{9C2A3BB6-FD02-4415-B44C-1F715C9A9D71}"/>
              </a:ext>
            </a:extLst>
          </p:cNvPr>
          <p:cNvSpPr>
            <a:spLocks noGrp="1"/>
          </p:cNvSpPr>
          <p:nvPr/>
        </p:nvSpPr>
        <p:spPr>
          <a:xfrm>
            <a:off x="333375" y="4829175"/>
            <a:ext cx="2571750" cy="552450"/>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r>
              <a:rPr sz="1200" dirty="0">
                <a:solidFill>
                  <a:srgbClr val="374151"/>
                </a:solidFill>
                <a:latin typeface="Times New Roman" panose="02020603050405020304" pitchFamily="18" charset="0"/>
                <a:ea typeface="Arial"/>
                <a:cs typeface="Times New Roman" panose="02020603050405020304" pitchFamily="18" charset="0"/>
              </a:rPr>
              <a:t>Extend optimized execution to NVIDIA CUDA and other hardware.</a:t>
            </a:r>
          </a:p>
        </p:txBody>
      </p:sp>
      <p:sp>
        <p:nvSpPr>
          <p:cNvPr id="32" name="Future 2 badge">
            <a:extLst>
              <a:ext uri="{FF2B5EF4-FFF2-40B4-BE49-F238E27FC236}">
                <a16:creationId xmlns:a16="http://schemas.microsoft.com/office/drawing/2014/main" id="{A654F0AA-3C3E-4660-B786-9C5ADBE5AD18}"/>
              </a:ext>
            </a:extLst>
          </p:cNvPr>
          <p:cNvSpPr>
            <a:spLocks noGrp="1"/>
          </p:cNvSpPr>
          <p:nvPr/>
        </p:nvSpPr>
        <p:spPr>
          <a:xfrm>
            <a:off x="4267200" y="3857625"/>
            <a:ext cx="514350" cy="514350"/>
          </a:xfrm>
          <a:prstGeom prst="ellipse">
            <a:avLst/>
          </a:prstGeom>
          <a:solidFill>
            <a:srgbClr val="F2ECFF"/>
          </a:solidFill>
          <a:ln w="14288">
            <a:solidFill>
              <a:srgbClr val="7C3AED"/>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3" name="Future 2 badge text">
            <a:extLst>
              <a:ext uri="{FF2B5EF4-FFF2-40B4-BE49-F238E27FC236}">
                <a16:creationId xmlns:a16="http://schemas.microsoft.com/office/drawing/2014/main" id="{8E7CD3BE-15BD-4615-8652-6DC9CE7284DF}"/>
              </a:ext>
            </a:extLst>
          </p:cNvPr>
          <p:cNvSpPr>
            <a:spLocks noGrp="1"/>
          </p:cNvSpPr>
          <p:nvPr/>
        </p:nvSpPr>
        <p:spPr>
          <a:xfrm>
            <a:off x="4267200" y="3857625"/>
            <a:ext cx="514350" cy="514350"/>
          </a:xfrm>
          <a:prstGeom prst="rect">
            <a:avLst/>
          </a:prstGeom>
          <a:noFill/>
          <a:ln w="0">
            <a:noFill/>
            <a:prstDash val="solid"/>
          </a:ln>
        </p:spPr>
        <p:txBody>
          <a:bodyPr lIns="0" tIns="0" rIns="0" bIns="0" anchor="ctr">
            <a:noAutofit/>
          </a:bodyPr>
          <a:lstStyle/>
          <a:p>
            <a:pPr algn="ctr">
              <a:buNone/>
              <a:defRPr sz="975" b="1">
                <a:solidFill>
                  <a:srgbClr val="7C3AED"/>
                </a:solidFill>
                <a:latin typeface="Arial"/>
                <a:ea typeface="Arial"/>
                <a:cs typeface="Arial"/>
              </a:defRPr>
            </a:pPr>
            <a:r>
              <a:rPr sz="975" b="1">
                <a:solidFill>
                  <a:srgbClr val="7C3AED"/>
                </a:solidFill>
                <a:latin typeface="Times New Roman" panose="02020603050405020304" pitchFamily="18" charset="0"/>
                <a:ea typeface="Arial"/>
                <a:cs typeface="Times New Roman" panose="02020603050405020304" pitchFamily="18" charset="0"/>
              </a:rPr>
              <a:t>MEM</a:t>
            </a:r>
          </a:p>
        </p:txBody>
      </p:sp>
      <p:sp>
        <p:nvSpPr>
          <p:cNvPr id="34" name="Future 2 heading">
            <a:extLst>
              <a:ext uri="{FF2B5EF4-FFF2-40B4-BE49-F238E27FC236}">
                <a16:creationId xmlns:a16="http://schemas.microsoft.com/office/drawing/2014/main" id="{1FF33F20-B18F-4F21-9ED0-962A2AE2DEF7}"/>
              </a:ext>
            </a:extLst>
          </p:cNvPr>
          <p:cNvSpPr>
            <a:spLocks noGrp="1"/>
          </p:cNvSpPr>
          <p:nvPr/>
        </p:nvSpPr>
        <p:spPr>
          <a:xfrm>
            <a:off x="3238500" y="4438650"/>
            <a:ext cx="2571750" cy="361950"/>
          </a:xfrm>
          <a:prstGeom prst="rect">
            <a:avLst/>
          </a:prstGeom>
          <a:noFill/>
          <a:ln w="0">
            <a:noFill/>
            <a:prstDash val="solid"/>
          </a:ln>
        </p:spPr>
        <p:txBody>
          <a:bodyPr lIns="0" tIns="0" rIns="0" bIns="0" anchor="ctr">
            <a:noAutofit/>
          </a:bodyPr>
          <a:lstStyle/>
          <a:p>
            <a:pPr algn="ctr">
              <a:buNone/>
              <a:defRPr sz="1163" b="1">
                <a:solidFill>
                  <a:srgbClr val="7C3AED"/>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SMARTER LOCAL</a:t>
            </a:r>
          </a:p>
          <a:p>
            <a:pPr algn="ctr">
              <a:buNone/>
              <a:defRPr sz="1163" b="1">
                <a:solidFill>
                  <a:srgbClr val="7C3AED"/>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PERSONALIZATION</a:t>
            </a:r>
          </a:p>
        </p:txBody>
      </p:sp>
      <p:sp>
        <p:nvSpPr>
          <p:cNvPr id="35" name="Future 2 description">
            <a:extLst>
              <a:ext uri="{FF2B5EF4-FFF2-40B4-BE49-F238E27FC236}">
                <a16:creationId xmlns:a16="http://schemas.microsoft.com/office/drawing/2014/main" id="{9DE95181-EBB8-41D3-B65A-82D721EF7764}"/>
              </a:ext>
            </a:extLst>
          </p:cNvPr>
          <p:cNvSpPr>
            <a:spLocks noGrp="1"/>
          </p:cNvSpPr>
          <p:nvPr/>
        </p:nvSpPr>
        <p:spPr>
          <a:xfrm>
            <a:off x="3238500" y="4829175"/>
            <a:ext cx="2571750" cy="552450"/>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r>
              <a:rPr sz="1200" dirty="0">
                <a:solidFill>
                  <a:srgbClr val="374151"/>
                </a:solidFill>
                <a:latin typeface="Times New Roman" panose="02020603050405020304" pitchFamily="18" charset="0"/>
                <a:ea typeface="Arial"/>
                <a:cs typeface="Times New Roman" panose="02020603050405020304" pitchFamily="18" charset="0"/>
              </a:rPr>
              <a:t>Add persistent local memory and user-specific context.</a:t>
            </a:r>
          </a:p>
        </p:txBody>
      </p:sp>
      <p:sp>
        <p:nvSpPr>
          <p:cNvPr id="36" name="Future 3 badge">
            <a:extLst>
              <a:ext uri="{FF2B5EF4-FFF2-40B4-BE49-F238E27FC236}">
                <a16:creationId xmlns:a16="http://schemas.microsoft.com/office/drawing/2014/main" id="{052670CC-37D3-41CA-BE80-3CDD9F237533}"/>
              </a:ext>
            </a:extLst>
          </p:cNvPr>
          <p:cNvSpPr>
            <a:spLocks noGrp="1"/>
          </p:cNvSpPr>
          <p:nvPr/>
        </p:nvSpPr>
        <p:spPr>
          <a:xfrm>
            <a:off x="7172325" y="3857625"/>
            <a:ext cx="514350" cy="514350"/>
          </a:xfrm>
          <a:prstGeom prst="ellipse">
            <a:avLst/>
          </a:prstGeom>
          <a:solidFill>
            <a:srgbClr val="E8F8F4"/>
          </a:solidFill>
          <a:ln w="14288">
            <a:solidFill>
              <a:srgbClr val="008A72"/>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37" name="Future 3 badge text">
            <a:extLst>
              <a:ext uri="{FF2B5EF4-FFF2-40B4-BE49-F238E27FC236}">
                <a16:creationId xmlns:a16="http://schemas.microsoft.com/office/drawing/2014/main" id="{4037CD1B-6C5E-4A75-B8E6-20DD702D06EC}"/>
              </a:ext>
            </a:extLst>
          </p:cNvPr>
          <p:cNvSpPr>
            <a:spLocks noGrp="1"/>
          </p:cNvSpPr>
          <p:nvPr/>
        </p:nvSpPr>
        <p:spPr>
          <a:xfrm>
            <a:off x="7172325" y="3857625"/>
            <a:ext cx="514350" cy="514350"/>
          </a:xfrm>
          <a:prstGeom prst="rect">
            <a:avLst/>
          </a:prstGeom>
          <a:noFill/>
          <a:ln w="0">
            <a:noFill/>
            <a:prstDash val="solid"/>
          </a:ln>
        </p:spPr>
        <p:txBody>
          <a:bodyPr lIns="0" tIns="0" rIns="0" bIns="0" anchor="ctr">
            <a:noAutofit/>
          </a:bodyPr>
          <a:lstStyle/>
          <a:p>
            <a:pPr algn="ctr">
              <a:buNone/>
              <a:defRPr sz="975" b="1">
                <a:solidFill>
                  <a:srgbClr val="008A72"/>
                </a:solidFill>
                <a:latin typeface="Arial"/>
                <a:ea typeface="Arial"/>
                <a:cs typeface="Arial"/>
              </a:defRPr>
            </a:pPr>
            <a:r>
              <a:rPr sz="975" b="1">
                <a:solidFill>
                  <a:srgbClr val="008A72"/>
                </a:solidFill>
                <a:latin typeface="Times New Roman" panose="02020603050405020304" pitchFamily="18" charset="0"/>
                <a:ea typeface="Arial"/>
                <a:cs typeface="Times New Roman" panose="02020603050405020304" pitchFamily="18" charset="0"/>
              </a:rPr>
              <a:t>SLM</a:t>
            </a:r>
          </a:p>
        </p:txBody>
      </p:sp>
      <p:sp>
        <p:nvSpPr>
          <p:cNvPr id="38" name="Future 3 heading">
            <a:extLst>
              <a:ext uri="{FF2B5EF4-FFF2-40B4-BE49-F238E27FC236}">
                <a16:creationId xmlns:a16="http://schemas.microsoft.com/office/drawing/2014/main" id="{898A0CF5-399B-4CD8-923E-0D59989E9AEE}"/>
              </a:ext>
            </a:extLst>
          </p:cNvPr>
          <p:cNvSpPr>
            <a:spLocks noGrp="1"/>
          </p:cNvSpPr>
          <p:nvPr/>
        </p:nvSpPr>
        <p:spPr>
          <a:xfrm>
            <a:off x="6143625" y="4438650"/>
            <a:ext cx="2571750" cy="361950"/>
          </a:xfrm>
          <a:prstGeom prst="rect">
            <a:avLst/>
          </a:prstGeom>
          <a:noFill/>
          <a:ln w="0">
            <a:noFill/>
            <a:prstDash val="solid"/>
          </a:ln>
        </p:spPr>
        <p:txBody>
          <a:bodyPr lIns="0" tIns="0" rIns="0" bIns="0" anchor="ctr">
            <a:noAutofit/>
          </a:bodyPr>
          <a:lstStyle/>
          <a:p>
            <a:pPr algn="ctr">
              <a:buNone/>
              <a:defRPr sz="1163" b="1">
                <a:solidFill>
                  <a:srgbClr val="008A72"/>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BROADER MODEL</a:t>
            </a:r>
          </a:p>
          <a:p>
            <a:pPr algn="ctr">
              <a:buNone/>
              <a:defRPr sz="1163" b="1">
                <a:solidFill>
                  <a:srgbClr val="008A72"/>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SUPPORT</a:t>
            </a:r>
          </a:p>
        </p:txBody>
      </p:sp>
      <p:sp>
        <p:nvSpPr>
          <p:cNvPr id="39" name="Future 3 description">
            <a:extLst>
              <a:ext uri="{FF2B5EF4-FFF2-40B4-BE49-F238E27FC236}">
                <a16:creationId xmlns:a16="http://schemas.microsoft.com/office/drawing/2014/main" id="{316778AC-D157-4E56-BC73-FAA10576E7CE}"/>
              </a:ext>
            </a:extLst>
          </p:cNvPr>
          <p:cNvSpPr>
            <a:spLocks noGrp="1"/>
          </p:cNvSpPr>
          <p:nvPr/>
        </p:nvSpPr>
        <p:spPr>
          <a:xfrm>
            <a:off x="6143625" y="4829175"/>
            <a:ext cx="2571750" cy="552450"/>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r>
              <a:rPr sz="1200" dirty="0">
                <a:solidFill>
                  <a:srgbClr val="374151"/>
                </a:solidFill>
                <a:latin typeface="Times New Roman" panose="02020603050405020304" pitchFamily="18" charset="0"/>
                <a:ea typeface="Arial"/>
                <a:cs typeface="Times New Roman" panose="02020603050405020304" pitchFamily="18" charset="0"/>
              </a:rPr>
              <a:t>Support more efficient small language models and future quantization options.</a:t>
            </a:r>
          </a:p>
        </p:txBody>
      </p:sp>
      <p:sp>
        <p:nvSpPr>
          <p:cNvPr id="40" name="Future 4 badge">
            <a:extLst>
              <a:ext uri="{FF2B5EF4-FFF2-40B4-BE49-F238E27FC236}">
                <a16:creationId xmlns:a16="http://schemas.microsoft.com/office/drawing/2014/main" id="{71B5161D-8D0C-42D0-86FB-3372A4293E40}"/>
              </a:ext>
            </a:extLst>
          </p:cNvPr>
          <p:cNvSpPr>
            <a:spLocks noGrp="1"/>
          </p:cNvSpPr>
          <p:nvPr/>
        </p:nvSpPr>
        <p:spPr>
          <a:xfrm>
            <a:off x="10077450" y="3857625"/>
            <a:ext cx="514350" cy="514350"/>
          </a:xfrm>
          <a:prstGeom prst="ellipse">
            <a:avLst/>
          </a:prstGeom>
          <a:solidFill>
            <a:srgbClr val="FFF7ED"/>
          </a:solidFill>
          <a:ln w="14288">
            <a:solidFill>
              <a:srgbClr val="D97706"/>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1" name="Future 4 badge text">
            <a:extLst>
              <a:ext uri="{FF2B5EF4-FFF2-40B4-BE49-F238E27FC236}">
                <a16:creationId xmlns:a16="http://schemas.microsoft.com/office/drawing/2014/main" id="{F4645755-94F1-4192-ACAC-8E1CF28A4CB4}"/>
              </a:ext>
            </a:extLst>
          </p:cNvPr>
          <p:cNvSpPr>
            <a:spLocks noGrp="1"/>
          </p:cNvSpPr>
          <p:nvPr/>
        </p:nvSpPr>
        <p:spPr>
          <a:xfrm>
            <a:off x="10077450" y="3857625"/>
            <a:ext cx="514350" cy="514350"/>
          </a:xfrm>
          <a:prstGeom prst="rect">
            <a:avLst/>
          </a:prstGeom>
          <a:noFill/>
          <a:ln w="0">
            <a:noFill/>
            <a:prstDash val="solid"/>
          </a:ln>
        </p:spPr>
        <p:txBody>
          <a:bodyPr lIns="0" tIns="0" rIns="0" bIns="0" anchor="ctr">
            <a:noAutofit/>
          </a:bodyPr>
          <a:lstStyle/>
          <a:p>
            <a:pPr algn="ctr">
              <a:buNone/>
              <a:defRPr sz="975" b="1">
                <a:solidFill>
                  <a:srgbClr val="D97706"/>
                </a:solidFill>
                <a:latin typeface="Arial"/>
                <a:ea typeface="Arial"/>
                <a:cs typeface="Arial"/>
              </a:defRPr>
            </a:pPr>
            <a:r>
              <a:rPr sz="975" b="1">
                <a:solidFill>
                  <a:srgbClr val="D97706"/>
                </a:solidFill>
                <a:latin typeface="Times New Roman" panose="02020603050405020304" pitchFamily="18" charset="0"/>
                <a:ea typeface="Arial"/>
                <a:cs typeface="Times New Roman" panose="02020603050405020304" pitchFamily="18" charset="0"/>
              </a:rPr>
              <a:t>AI+</a:t>
            </a:r>
          </a:p>
        </p:txBody>
      </p:sp>
      <p:sp>
        <p:nvSpPr>
          <p:cNvPr id="42" name="Future 4 heading">
            <a:extLst>
              <a:ext uri="{FF2B5EF4-FFF2-40B4-BE49-F238E27FC236}">
                <a16:creationId xmlns:a16="http://schemas.microsoft.com/office/drawing/2014/main" id="{66E69204-0DDA-4681-978C-80B356392880}"/>
              </a:ext>
            </a:extLst>
          </p:cNvPr>
          <p:cNvSpPr>
            <a:spLocks noGrp="1"/>
          </p:cNvSpPr>
          <p:nvPr/>
        </p:nvSpPr>
        <p:spPr>
          <a:xfrm>
            <a:off x="9048750" y="4438650"/>
            <a:ext cx="2571750" cy="361950"/>
          </a:xfrm>
          <a:prstGeom prst="rect">
            <a:avLst/>
          </a:prstGeom>
          <a:noFill/>
          <a:ln w="0">
            <a:noFill/>
            <a:prstDash val="solid"/>
          </a:ln>
        </p:spPr>
        <p:txBody>
          <a:bodyPr lIns="0" tIns="0" rIns="0" bIns="0" anchor="ctr">
            <a:noAutofit/>
          </a:bodyPr>
          <a:lstStyle/>
          <a:p>
            <a:pPr algn="ctr">
              <a:buNone/>
              <a:defRPr sz="1163" b="1">
                <a:solidFill>
                  <a:srgbClr val="D97706"/>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TOWARDS A PERSONAL</a:t>
            </a:r>
          </a:p>
          <a:p>
            <a:pPr algn="ctr">
              <a:buNone/>
              <a:defRPr sz="1163" b="1">
                <a:solidFill>
                  <a:srgbClr val="D97706"/>
                </a:solidFill>
                <a:latin typeface="Arial"/>
                <a:ea typeface="Arial"/>
                <a:cs typeface="Arial"/>
              </a:defRPr>
            </a:pPr>
            <a:r>
              <a:rPr sz="1200" b="1" dirty="0">
                <a:solidFill>
                  <a:schemeClr val="tx1">
                    <a:lumMod val="95000"/>
                    <a:lumOff val="5000"/>
                  </a:schemeClr>
                </a:solidFill>
                <a:latin typeface="Times New Roman" panose="02020603050405020304" pitchFamily="18" charset="0"/>
                <a:ea typeface="Arial"/>
                <a:cs typeface="Times New Roman" panose="02020603050405020304" pitchFamily="18" charset="0"/>
              </a:rPr>
              <a:t>AI SYSTEM</a:t>
            </a:r>
          </a:p>
        </p:txBody>
      </p:sp>
      <p:sp>
        <p:nvSpPr>
          <p:cNvPr id="43" name="Future 4 description">
            <a:extLst>
              <a:ext uri="{FF2B5EF4-FFF2-40B4-BE49-F238E27FC236}">
                <a16:creationId xmlns:a16="http://schemas.microsoft.com/office/drawing/2014/main" id="{41A3B641-287C-4F9C-A534-751250B242B5}"/>
              </a:ext>
            </a:extLst>
          </p:cNvPr>
          <p:cNvSpPr>
            <a:spLocks noGrp="1"/>
          </p:cNvSpPr>
          <p:nvPr/>
        </p:nvSpPr>
        <p:spPr>
          <a:xfrm>
            <a:off x="9048750" y="4829175"/>
            <a:ext cx="2571750" cy="552450"/>
          </a:xfrm>
          <a:prstGeom prst="rect">
            <a:avLst/>
          </a:prstGeom>
          <a:noFill/>
          <a:ln w="0">
            <a:noFill/>
            <a:prstDash val="solid"/>
          </a:ln>
        </p:spPr>
        <p:txBody>
          <a:bodyPr lIns="0" tIns="0" rIns="0" bIns="0" anchor="t">
            <a:noAutofit/>
          </a:bodyPr>
          <a:lstStyle/>
          <a:p>
            <a:pPr algn="ctr">
              <a:buNone/>
              <a:defRPr sz="1050">
                <a:solidFill>
                  <a:srgbClr val="374151"/>
                </a:solidFill>
                <a:latin typeface="Arial"/>
                <a:ea typeface="Arial"/>
                <a:cs typeface="Arial"/>
              </a:defRPr>
            </a:pPr>
            <a:r>
              <a:rPr sz="1200" dirty="0">
                <a:solidFill>
                  <a:srgbClr val="374151"/>
                </a:solidFill>
                <a:latin typeface="Times New Roman" panose="02020603050405020304" pitchFamily="18" charset="0"/>
                <a:ea typeface="Arial"/>
                <a:cs typeface="Times New Roman" panose="02020603050405020304" pitchFamily="18" charset="0"/>
              </a:rPr>
              <a:t>Keep normal inference and personal context local while allowing controlled access to external tools when fresh information is needed.</a:t>
            </a:r>
          </a:p>
        </p:txBody>
      </p:sp>
      <p:sp>
        <p:nvSpPr>
          <p:cNvPr id="44" name="Closing message band">
            <a:extLst>
              <a:ext uri="{FF2B5EF4-FFF2-40B4-BE49-F238E27FC236}">
                <a16:creationId xmlns:a16="http://schemas.microsoft.com/office/drawing/2014/main" id="{7BE2EEBC-F205-40C6-8B93-AD76CCD1C16F}"/>
              </a:ext>
            </a:extLst>
          </p:cNvPr>
          <p:cNvSpPr>
            <a:spLocks noGrp="1"/>
          </p:cNvSpPr>
          <p:nvPr/>
        </p:nvSpPr>
        <p:spPr>
          <a:xfrm>
            <a:off x="476250" y="5734050"/>
            <a:ext cx="11239500" cy="590550"/>
          </a:xfrm>
          <a:prstGeom prst="roundRect">
            <a:avLst>
              <a:gd name="adj" fmla="val 12903"/>
            </a:avLst>
          </a:prstGeom>
          <a:noFill/>
          <a:ln w="10478">
            <a:solidFill>
              <a:srgbClr val="C9D9EC"/>
            </a:solidFill>
            <a:prstDash val="solid"/>
          </a:ln>
        </p:spPr>
        <p:txBody>
          <a:bodyPr/>
          <a:lstStyle/>
          <a:p>
            <a:endParaRPr lang="en-DE">
              <a:latin typeface="Times New Roman" panose="02020603050405020304" pitchFamily="18" charset="0"/>
              <a:cs typeface="Times New Roman" panose="02020603050405020304" pitchFamily="18" charset="0"/>
            </a:endParaRPr>
          </a:p>
        </p:txBody>
      </p:sp>
      <p:sp>
        <p:nvSpPr>
          <p:cNvPr id="46" name="Closing message">
            <a:extLst>
              <a:ext uri="{FF2B5EF4-FFF2-40B4-BE49-F238E27FC236}">
                <a16:creationId xmlns:a16="http://schemas.microsoft.com/office/drawing/2014/main" id="{1768F5BA-02AF-4280-BC33-D53B0A69F1AC}"/>
              </a:ext>
            </a:extLst>
          </p:cNvPr>
          <p:cNvSpPr>
            <a:spLocks noGrp="1"/>
          </p:cNvSpPr>
          <p:nvPr/>
        </p:nvSpPr>
        <p:spPr>
          <a:xfrm>
            <a:off x="762000" y="5810250"/>
            <a:ext cx="10668000" cy="438150"/>
          </a:xfrm>
          <a:prstGeom prst="rect">
            <a:avLst/>
          </a:prstGeom>
          <a:noFill/>
          <a:ln w="0">
            <a:noFill/>
            <a:prstDash val="solid"/>
          </a:ln>
        </p:spPr>
        <p:txBody>
          <a:bodyPr lIns="0" tIns="0" rIns="0" bIns="0" anchor="ctr">
            <a:noAutofit/>
          </a:bodyPr>
          <a:lstStyle/>
          <a:p>
            <a:pPr algn="ctr">
              <a:buNone/>
              <a:defRPr sz="1425" b="1">
                <a:solidFill>
                  <a:srgbClr val="111827"/>
                </a:solidFill>
                <a:latin typeface="Arial"/>
                <a:ea typeface="Arial"/>
                <a:cs typeface="Arial"/>
              </a:defRPr>
            </a:pPr>
            <a:r>
              <a:rPr lang="de-DE" sz="1400" b="1" i="1" dirty="0">
                <a:solidFill>
                  <a:srgbClr val="111827"/>
                </a:solidFill>
                <a:latin typeface="Times New Roman" panose="02020603050405020304" pitchFamily="18" charset="0"/>
                <a:ea typeface="Arial"/>
                <a:cs typeface="Times New Roman" panose="02020603050405020304" pitchFamily="18" charset="0"/>
              </a:rPr>
              <a:t>“From a </a:t>
            </a:r>
            <a:r>
              <a:rPr lang="de-DE" sz="1400" b="1" i="1" dirty="0" err="1">
                <a:solidFill>
                  <a:srgbClr val="111827"/>
                </a:solidFill>
                <a:latin typeface="Times New Roman" panose="02020603050405020304" pitchFamily="18" charset="0"/>
                <a:ea typeface="Arial"/>
                <a:cs typeface="Times New Roman" panose="02020603050405020304" pitchFamily="18" charset="0"/>
              </a:rPr>
              <a:t>local</a:t>
            </a:r>
            <a:r>
              <a:rPr lang="de-DE" sz="1400" b="1" i="1" dirty="0">
                <a:solidFill>
                  <a:srgbClr val="111827"/>
                </a:solidFill>
                <a:latin typeface="Times New Roman" panose="02020603050405020304" pitchFamily="18" charset="0"/>
                <a:ea typeface="Arial"/>
                <a:cs typeface="Times New Roman" panose="02020603050405020304" pitchFamily="18" charset="0"/>
              </a:rPr>
              <a:t> Chatbot prototype </a:t>
            </a:r>
            <a:r>
              <a:rPr lang="de-DE" sz="1400" b="1" i="1" dirty="0" err="1">
                <a:solidFill>
                  <a:srgbClr val="111827"/>
                </a:solidFill>
                <a:latin typeface="Times New Roman" panose="02020603050405020304" pitchFamily="18" charset="0"/>
                <a:ea typeface="Arial"/>
                <a:cs typeface="Times New Roman" panose="02020603050405020304" pitchFamily="18" charset="0"/>
              </a:rPr>
              <a:t>toward</a:t>
            </a:r>
            <a:r>
              <a:rPr lang="de-DE" sz="1400" b="1" i="1" dirty="0">
                <a:solidFill>
                  <a:srgbClr val="111827"/>
                </a:solidFill>
                <a:latin typeface="Times New Roman" panose="02020603050405020304" pitchFamily="18" charset="0"/>
                <a:ea typeface="Arial"/>
                <a:cs typeface="Times New Roman" panose="02020603050405020304" pitchFamily="18" charset="0"/>
              </a:rPr>
              <a:t> a </a:t>
            </a:r>
            <a:r>
              <a:rPr lang="de-DE" sz="1400" b="1" i="1" dirty="0" err="1">
                <a:solidFill>
                  <a:srgbClr val="111827"/>
                </a:solidFill>
                <a:latin typeface="Times New Roman" panose="02020603050405020304" pitchFamily="18" charset="0"/>
                <a:ea typeface="Arial"/>
                <a:cs typeface="Times New Roman" panose="02020603050405020304" pitchFamily="18" charset="0"/>
              </a:rPr>
              <a:t>more</a:t>
            </a:r>
            <a:r>
              <a:rPr lang="de-DE" sz="1400" b="1" i="1" dirty="0">
                <a:solidFill>
                  <a:srgbClr val="111827"/>
                </a:solidFill>
                <a:latin typeface="Times New Roman" panose="02020603050405020304" pitchFamily="18" charset="0"/>
                <a:ea typeface="Arial"/>
                <a:cs typeface="Times New Roman" panose="02020603050405020304" pitchFamily="18" charset="0"/>
              </a:rPr>
              <a:t> </a:t>
            </a:r>
            <a:r>
              <a:rPr lang="de-DE" sz="1400" b="1" i="1" dirty="0" err="1">
                <a:solidFill>
                  <a:srgbClr val="111827"/>
                </a:solidFill>
                <a:latin typeface="Times New Roman" panose="02020603050405020304" pitchFamily="18" charset="0"/>
                <a:ea typeface="Arial"/>
                <a:cs typeface="Times New Roman" panose="02020603050405020304" pitchFamily="18" charset="0"/>
              </a:rPr>
              <a:t>capable</a:t>
            </a:r>
            <a:r>
              <a:rPr lang="de-DE" sz="1400" b="1" i="1" dirty="0">
                <a:solidFill>
                  <a:srgbClr val="111827"/>
                </a:solidFill>
                <a:latin typeface="Times New Roman" panose="02020603050405020304" pitchFamily="18" charset="0"/>
                <a:ea typeface="Arial"/>
                <a:cs typeface="Times New Roman" panose="02020603050405020304" pitchFamily="18" charset="0"/>
              </a:rPr>
              <a:t>, user-</a:t>
            </a:r>
            <a:r>
              <a:rPr lang="de-DE" sz="1400" b="1" i="1" dirty="0" err="1">
                <a:solidFill>
                  <a:srgbClr val="111827"/>
                </a:solidFill>
                <a:latin typeface="Times New Roman" panose="02020603050405020304" pitchFamily="18" charset="0"/>
                <a:ea typeface="Arial"/>
                <a:cs typeface="Times New Roman" panose="02020603050405020304" pitchFamily="18" charset="0"/>
              </a:rPr>
              <a:t>controlled</a:t>
            </a:r>
            <a:r>
              <a:rPr lang="de-DE" sz="1400" b="1" i="1" dirty="0">
                <a:solidFill>
                  <a:srgbClr val="111827"/>
                </a:solidFill>
                <a:latin typeface="Times New Roman" panose="02020603050405020304" pitchFamily="18" charset="0"/>
                <a:ea typeface="Arial"/>
                <a:cs typeface="Times New Roman" panose="02020603050405020304" pitchFamily="18" charset="0"/>
              </a:rPr>
              <a:t> personal AI System.” </a:t>
            </a:r>
          </a:p>
        </p:txBody>
      </p:sp>
    </p:spTree>
    <p:extLst>
      <p:ext uri="{BB962C8B-B14F-4D97-AF65-F5344CB8AC3E}">
        <p14:creationId xmlns:p14="http://schemas.microsoft.com/office/powerpoint/2010/main" val="901800485"/>
      </p:ext>
    </p:extLst>
  </p:cSld>
  <p:clrMapOvr>
    <a:masterClrMapping/>
  </p:clrMapOvr>
</p:sld>
</file>

<file path=ppt/theme/theme1.xml><?xml version="1.0" encoding="utf-8"?>
<a:theme xmlns:a="http://schemas.openxmlformats.org/drawingml/2006/main" name="Template">
  <a:themeElements>
    <a:clrScheme name="TUDa">
      <a:dk1>
        <a:sysClr val="windowText" lastClr="000000"/>
      </a:dk1>
      <a:lt1>
        <a:sysClr val="window" lastClr="FFFFFF"/>
      </a:lt1>
      <a:dk2>
        <a:srgbClr val="44546A"/>
      </a:dk2>
      <a:lt2>
        <a:srgbClr val="E7E6E6"/>
      </a:lt2>
      <a:accent1>
        <a:srgbClr val="E6001A"/>
      </a:accent1>
      <a:accent2>
        <a:srgbClr val="004E8A"/>
      </a:accent2>
      <a:accent3>
        <a:srgbClr val="009CDA"/>
      </a:accent3>
      <a:accent4>
        <a:srgbClr val="00689D"/>
      </a:accent4>
      <a:accent5>
        <a:srgbClr val="B5B5B5"/>
      </a:accent5>
      <a:accent6>
        <a:srgbClr val="535353"/>
      </a:accent6>
      <a:hlink>
        <a:srgbClr val="243572"/>
      </a:hlink>
      <a:folHlink>
        <a:srgbClr val="611C73"/>
      </a:folHlink>
    </a:clrScheme>
    <a:fontScheme name="TU Darmstadt 2023">
      <a:majorFont>
        <a:latin typeface="Arial Black"/>
        <a:ea typeface=""/>
        <a:cs typeface=""/>
      </a:majorFont>
      <a:minorFont>
        <a:latin typeface="Arial"/>
        <a:ea typeface=""/>
        <a:cs typeface=""/>
      </a:minorFont>
    </a:fontScheme>
    <a:fmtScheme name="TUD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plate">
  <a:themeElements>
    <a:clrScheme name="TUDa">
      <a:dk1>
        <a:sysClr val="windowText" lastClr="000000"/>
      </a:dk1>
      <a:lt1>
        <a:sysClr val="window" lastClr="FFFFFF"/>
      </a:lt1>
      <a:dk2>
        <a:srgbClr val="44546A"/>
      </a:dk2>
      <a:lt2>
        <a:srgbClr val="E7E6E6"/>
      </a:lt2>
      <a:accent1>
        <a:srgbClr val="E6001A"/>
      </a:accent1>
      <a:accent2>
        <a:srgbClr val="004E8A"/>
      </a:accent2>
      <a:accent3>
        <a:srgbClr val="009CDA"/>
      </a:accent3>
      <a:accent4>
        <a:srgbClr val="00689D"/>
      </a:accent4>
      <a:accent5>
        <a:srgbClr val="B5B5B5"/>
      </a:accent5>
      <a:accent6>
        <a:srgbClr val="535353"/>
      </a:accent6>
      <a:hlink>
        <a:srgbClr val="243572"/>
      </a:hlink>
      <a:folHlink>
        <a:srgbClr val="611C73"/>
      </a:folHlink>
    </a:clrScheme>
    <a:fontScheme name="TU Darmstadt 2023">
      <a:majorFont>
        <a:latin typeface="Arial Black"/>
        <a:ea typeface=""/>
        <a:cs typeface=""/>
      </a:majorFont>
      <a:minorFont>
        <a:latin typeface="Arial"/>
        <a:ea typeface=""/>
        <a:cs typeface=""/>
      </a:minorFont>
    </a:fontScheme>
    <a:fmtScheme name="TUD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3783</TotalTime>
  <Words>2543</Words>
  <Application>Microsoft Macintosh PowerPoint</Application>
  <DocSecurity>0</DocSecurity>
  <PresentationFormat>Widescreen</PresentationFormat>
  <Paragraphs>363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Times New Roman</vt:lpstr>
      <vt:lpstr>Wingdings</vt:lpstr>
      <vt:lpstr>Template</vt:lpstr>
      <vt:lpstr>SANZI: LOCAL DEPLOYMENT OF TINY
LANGUAGE MODELS ON AN APPLE M1</vt:lpstr>
      <vt:lpstr>PRESENTATION ROADMAP</vt:lpstr>
      <vt:lpstr>WHY running the model locally?</vt:lpstr>
      <vt:lpstr>WHAT SANZI DELIVERS</vt:lpstr>
      <vt:lpstr>SANZI SYSTEM ARCHITECTURE</vt:lpstr>
      <vt:lpstr>QUANTIZATION FOR MEMORY-EFFICIENT LOCAL INFERENCE</vt:lpstr>
      <vt:lpstr>MAKING LOCAL INFERENCE WORK ON 8 GB</vt:lpstr>
      <vt:lpstr>LIVE GUI DEMO</vt:lpstr>
      <vt:lpstr>EXPERIMENTAL RESULTS</vt:lpstr>
      <vt:lpstr>KEY TAKEAWAYS &amp;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Muhammad Hasan Al Banna</cp:lastModifiedBy>
  <cp:revision>16</cp:revision>
  <dcterms:created xsi:type="dcterms:W3CDTF">2026-08-27T01:43:10Z</dcterms:created>
  <dcterms:modified xsi:type="dcterms:W3CDTF">2026-08-31T13:43:15Z</dcterms:modified>
</cp:coreProperties>
</file>